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4"/>
    <p:sldMasterId id="2147483663" r:id="rId5"/>
  </p:sldMasterIdLst>
  <p:notesMasterIdLst>
    <p:notesMasterId r:id="rId41"/>
  </p:notesMasterIdLst>
  <p:handoutMasterIdLst>
    <p:handoutMasterId r:id="rId42"/>
  </p:handoutMasterIdLst>
  <p:sldIdLst>
    <p:sldId id="266" r:id="rId6"/>
    <p:sldId id="282" r:id="rId7"/>
    <p:sldId id="330" r:id="rId8"/>
    <p:sldId id="331" r:id="rId9"/>
    <p:sldId id="332" r:id="rId10"/>
    <p:sldId id="333" r:id="rId11"/>
    <p:sldId id="334" r:id="rId12"/>
    <p:sldId id="335" r:id="rId13"/>
    <p:sldId id="336" r:id="rId14"/>
    <p:sldId id="337" r:id="rId15"/>
    <p:sldId id="338" r:id="rId16"/>
    <p:sldId id="339" r:id="rId17"/>
    <p:sldId id="340" r:id="rId18"/>
    <p:sldId id="341" r:id="rId19"/>
    <p:sldId id="342" r:id="rId20"/>
    <p:sldId id="352" r:id="rId21"/>
    <p:sldId id="353" r:id="rId22"/>
    <p:sldId id="343" r:id="rId23"/>
    <p:sldId id="344" r:id="rId24"/>
    <p:sldId id="345" r:id="rId25"/>
    <p:sldId id="346" r:id="rId26"/>
    <p:sldId id="347" r:id="rId27"/>
    <p:sldId id="348" r:id="rId28"/>
    <p:sldId id="349" r:id="rId29"/>
    <p:sldId id="350" r:id="rId30"/>
    <p:sldId id="351" r:id="rId31"/>
    <p:sldId id="329" r:id="rId32"/>
    <p:sldId id="355" r:id="rId33"/>
    <p:sldId id="356" r:id="rId34"/>
    <p:sldId id="354" r:id="rId35"/>
    <p:sldId id="357" r:id="rId36"/>
    <p:sldId id="358" r:id="rId37"/>
    <p:sldId id="359" r:id="rId38"/>
    <p:sldId id="360" r:id="rId39"/>
    <p:sldId id="361" r:id="rId4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1C1"/>
    <a:srgbClr val="FF8B8B"/>
    <a:srgbClr val="CCECFF"/>
    <a:srgbClr val="009900"/>
    <a:srgbClr val="FF0000"/>
    <a:srgbClr val="C0C0C0"/>
    <a:srgbClr val="5F5F5F"/>
    <a:srgbClr val="CC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5089" autoAdjust="0"/>
    <p:restoredTop sz="94660" autoAdjust="0"/>
  </p:normalViewPr>
  <p:slideViewPr>
    <p:cSldViewPr>
      <p:cViewPr varScale="1">
        <p:scale>
          <a:sx n="107" d="100"/>
          <a:sy n="107" d="100"/>
        </p:scale>
        <p:origin x="1254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</p:sldLst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0" d="100"/>
          <a:sy n="60" d="100"/>
        </p:scale>
        <p:origin x="-1764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presProps" Target="presProp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tableStyles" Target="tableStyles.xml"/><Relationship Id="rId20" Type="http://schemas.openxmlformats.org/officeDocument/2006/relationships/slide" Target="slides/slide15.xml"/><Relationship Id="rId41" Type="http://schemas.openxmlformats.org/officeDocument/2006/relationships/notesMaster" Target="notesMasters/notesMaster1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34.xml"/><Relationship Id="rId3" Type="http://schemas.openxmlformats.org/officeDocument/2006/relationships/slide" Target="slides/slide26.xml"/><Relationship Id="rId7" Type="http://schemas.openxmlformats.org/officeDocument/2006/relationships/slide" Target="slides/slide33.xml"/><Relationship Id="rId2" Type="http://schemas.openxmlformats.org/officeDocument/2006/relationships/slide" Target="slides/slide25.xml"/><Relationship Id="rId1" Type="http://schemas.openxmlformats.org/officeDocument/2006/relationships/slide" Target="slides/slide8.xml"/><Relationship Id="rId6" Type="http://schemas.openxmlformats.org/officeDocument/2006/relationships/slide" Target="slides/slide32.xml"/><Relationship Id="rId5" Type="http://schemas.openxmlformats.org/officeDocument/2006/relationships/slide" Target="slides/slide31.xml"/><Relationship Id="rId4" Type="http://schemas.openxmlformats.org/officeDocument/2006/relationships/slide" Target="slides/slide28.xml"/><Relationship Id="rId9" Type="http://schemas.openxmlformats.org/officeDocument/2006/relationships/slide" Target="slides/slide3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890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890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70BD3C5-87BE-4F9D-9113-ABCA4FB7FB8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8420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880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880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80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880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7308AAB4-E6E4-428C-A9AE-2D22ABA900B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87750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37" name="Rectangle 65"/>
          <p:cNvSpPr>
            <a:spLocks noChangeArrowheads="1"/>
          </p:cNvSpPr>
          <p:nvPr/>
        </p:nvSpPr>
        <p:spPr bwMode="auto">
          <a:xfrm>
            <a:off x="381000" y="1143000"/>
            <a:ext cx="6721475" cy="76200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kumimoji="1" lang="bg-BG"/>
          </a:p>
        </p:txBody>
      </p:sp>
      <p:sp>
        <p:nvSpPr>
          <p:cNvPr id="54339" name="Rectangle 6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886200" y="2743200"/>
            <a:ext cx="4437063" cy="3114675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914400" y="6286500"/>
            <a:ext cx="5562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Database Management Systems 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7019925" y="62865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AB90261-93B0-4A20-9F85-F414BA7C45D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914400" y="6286500"/>
            <a:ext cx="5562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Database Management Systems 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7019925" y="62865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73E1DE72-B673-4811-A4C5-919466042D7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2813" y="1905000"/>
            <a:ext cx="3978275" cy="4191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43488" y="1905000"/>
            <a:ext cx="3979862" cy="4191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914400" y="6286500"/>
            <a:ext cx="5562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Database Management Systems 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7019925" y="62865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117B9664-AB3E-4906-B803-F1A3166C06D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>
          <a:xfrm>
            <a:off x="914400" y="6286500"/>
            <a:ext cx="5562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Database Management Systems 2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7019925" y="62865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9FCE4ABE-E333-47A0-9E90-344A4121CD3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914400" y="6286500"/>
            <a:ext cx="5562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Database Management Systems 2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7019925" y="62865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843607-6F28-43E0-8BC7-377EF50B0A1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914400" y="6286500"/>
            <a:ext cx="5562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Database Management Systems 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7019925" y="62865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4D711AE7-94B3-490B-AC4B-4635075B245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914400" y="6286500"/>
            <a:ext cx="5562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Database Management Systems 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7019925" y="62865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41FF523A-370D-4942-8AE7-54287C2546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914400" y="6286500"/>
            <a:ext cx="5562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Database Management Systems 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7019925" y="62865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F86A95BD-5AC9-4440-B88A-5B1CFCAD5F8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9913" y="381000"/>
            <a:ext cx="2103437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81000"/>
            <a:ext cx="6157913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914400" y="6286500"/>
            <a:ext cx="5562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Database Management Systems 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7019925" y="62865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CBE0CD19-74E9-4B4C-8921-4372EACDBFA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36E11-8833-4D20-A6AC-028168ED5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E32C17-70C2-4B42-8362-5BC277B8EF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05031-880F-4428-A3CC-887024375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39E7E-064B-4F99-BAB3-C1A40EE5B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8B9459-80B0-4F40-9FE1-8BA302FA6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35649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5EDE7-DCF4-4A3B-BA78-4E1B3BD9B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BFA03-7025-48D7-BCD2-A73874926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6CF087-1995-4961-8301-64C7784D3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CB9A4-53A6-443E-BDFF-5B5E92380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8F7DBD-95B4-4524-8694-5130FBC78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45315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ECCFE-3906-49E3-B7E6-1846BCF55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986BA-DDC1-4FC0-8669-BF3CA20EE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22125-9073-4318-9270-33A5F136C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0DDB12-B6FF-4AE6-9541-6F67585E7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E596AE-0D87-4FA0-9820-EBB3D5C68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82904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DECE2-FF57-4DD8-95AE-8AD38F781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0CFB6-8C93-4276-A4DE-A8A25F387B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B69046-8A73-4249-AC69-3015F3A0E0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5AC89D-FFBD-46F1-939C-C1FAAC2C6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7CC363-5E54-4826-A9FB-227503E33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9BF2BF-FE2F-4EDA-B15D-B73886C7F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32591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6098A-164A-45B4-8F0B-CA28A555D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6521CD-261C-4EA3-96D9-D52A9DCEB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29D499-7A2B-444B-B055-ACF441D1C8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9E9E5A-95A3-4DE5-B193-7D9DEFBAF3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FB3C6B-1DE6-43D0-9F4D-3D64C4263C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CF8348-6AC6-42B7-B289-D5EEBB20F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D15690-510F-4916-B4F1-9B0973CA8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E66726-B856-45E9-B189-F9E67689E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82545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D3AF9-81B6-46AD-80FF-04416E5E4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1A61AA-5BD7-47CC-9BC3-AE12FBD0D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8306B4-3AF6-4146-ADBD-DE23D3A99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616024-76DB-4B9C-95BE-1373A214E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97368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1ADA66-207B-4081-952D-443295920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56D72E-7B7F-497B-874E-9B1DCF75C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3C4780-B36A-49E1-B5CD-5AE26E756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13925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9A5B-F83B-42FA-B185-33D953655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E3BC6-8D9D-43CF-A054-9414EC41D0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154035-081C-4FBE-AA94-758B664CDB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B5136C-48C9-4BE2-8343-E785DA24A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9D04C1-889A-4BC2-821B-857DEA73B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60022C-7483-40DF-84E1-A3A14405E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82263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2132E-CB88-473F-82DC-F946C72CD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D2A2D0-8410-45FC-B89A-884E311D42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F3AF36-4D92-4303-A9BC-3B350767D0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6D23A3-D3DE-4AC8-8AED-15F38B442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106685-E202-476D-81F8-B42CDD17B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4D594A-9180-4A59-A5E1-4883A44D3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94503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5C2CA-3139-4BF4-B00F-4704A18C8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C27C25-3D92-4861-BAAB-A23F20B053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C1FA5-B35C-47B7-B47C-EEF7FFDF0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178D4-686C-4635-A7A9-2600B2388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E3AF52-C6DC-492E-B7BF-17728DEFF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97308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A9F65B-A2E4-4ECC-BB76-78E2802060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2F8270-6DDC-4EE0-A24A-5F06C7AB2F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358FE3-2E99-4192-8611-E18D0F8C4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F283A-DD9A-44F2-AD3E-5A778CC05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CB6EBD-9BB9-4C2B-82C5-94CD1D0B6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4073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13" name="Rectangle 6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81000"/>
            <a:ext cx="816292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3314" name="Rectangle 66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2813" y="1905000"/>
            <a:ext cx="8110537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hf hdr="0" dt="0"/>
  <p:txStyles>
    <p:titleStyle>
      <a:lvl1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75000"/>
        <a:buFont typeface="Wingdings" pitchFamily="2" charset="2"/>
        <a:buChar char="n"/>
        <a:defRPr sz="3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sz="2800">
          <a:solidFill>
            <a:schemeClr val="tx2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•"/>
        <a:defRPr sz="2400">
          <a:solidFill>
            <a:schemeClr val="tx2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2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5000"/>
        <a:buChar char="•"/>
        <a:defRPr sz="2000">
          <a:solidFill>
            <a:schemeClr val="tx2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5000"/>
        <a:buChar char="•"/>
        <a:defRPr sz="2000">
          <a:solidFill>
            <a:schemeClr val="tx2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5000"/>
        <a:buChar char="•"/>
        <a:defRPr sz="2000">
          <a:solidFill>
            <a:schemeClr val="tx2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5000"/>
        <a:buChar char="•"/>
        <a:defRPr sz="2000">
          <a:solidFill>
            <a:schemeClr val="tx2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5000"/>
        <a:buChar char="•"/>
        <a:defRPr sz="2000">
          <a:solidFill>
            <a:schemeClr val="tx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7B50ED-2207-4F35-ACE2-88087C35B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2B7822-E7EA-478F-BE8A-CEE55DDDB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D76E81-C46D-4339-AA26-D7E0FE0DA4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ABF56A-1CFE-4786-B7AC-70B02FDA6E56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AC3B5-906B-4FB2-B150-691A57A912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21AD2-BA4D-4A9A-B0DA-4047217FF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6991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B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2">
            <a:extLst>
              <a:ext uri="{FF2B5EF4-FFF2-40B4-BE49-F238E27FC236}">
                <a16:creationId xmlns:a16="http://schemas.microsoft.com/office/drawing/2014/main" id="{84FEBB7C-E1C8-4DAD-8087-87548D9D335E}"/>
              </a:ext>
            </a:extLst>
          </p:cNvPr>
          <p:cNvSpPr txBox="1">
            <a:spLocks noChangeArrowheads="1"/>
          </p:cNvSpPr>
          <p:nvPr/>
        </p:nvSpPr>
        <p:spPr>
          <a:xfrm>
            <a:off x="8093901" y="4870691"/>
            <a:ext cx="865553" cy="1177528"/>
          </a:xfrm>
          <a:prstGeom prst="rect">
            <a:avLst/>
          </a:prstGeom>
          <a:noFill/>
        </p:spPr>
        <p:txBody>
          <a:bodyPr vert="horz" lIns="68580" tIns="34290" rIns="68580" bIns="3429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85800" fontAlgn="auto">
              <a:spcAft>
                <a:spcPts val="0"/>
              </a:spcAft>
              <a:defRPr/>
            </a:pPr>
            <a:r>
              <a:rPr lang="en-US" altLang="en-US" sz="7200" dirty="0">
                <a:solidFill>
                  <a:srgbClr val="4472C4"/>
                </a:solidFill>
                <a:latin typeface="Calibri Light" panose="020F0302020204030204"/>
              </a:rPr>
              <a:t>12</a:t>
            </a: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9161D560-1E63-4EB8-8911-97118B5AFB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889" y="2228851"/>
            <a:ext cx="5714111" cy="752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algn="ctr" defTabSz="685800">
              <a:spcBef>
                <a:spcPct val="0"/>
              </a:spcBef>
              <a:buClrTx/>
              <a:buSzTx/>
              <a:buNone/>
              <a:defRPr/>
            </a:pPr>
            <a:r>
              <a:rPr lang="ro-RO" altLang="en-US" sz="3300" dirty="0" err="1">
                <a:solidFill>
                  <a:srgbClr val="4472C4"/>
                </a:solidFill>
                <a:cs typeface="Arial" panose="020B0604020202020204" pitchFamily="34" charset="0"/>
              </a:rPr>
              <a:t>Spatial</a:t>
            </a:r>
            <a:r>
              <a:rPr lang="ro-RO" altLang="en-US" sz="3300" dirty="0">
                <a:solidFill>
                  <a:srgbClr val="4472C4"/>
                </a:solidFill>
                <a:cs typeface="Arial" panose="020B0604020202020204" pitchFamily="34" charset="0"/>
              </a:rPr>
              <a:t> </a:t>
            </a:r>
            <a:r>
              <a:rPr lang="ro-RO" altLang="en-US" sz="3300">
                <a:solidFill>
                  <a:srgbClr val="4472C4"/>
                </a:solidFill>
                <a:cs typeface="Arial" panose="020B0604020202020204" pitchFamily="34" charset="0"/>
              </a:rPr>
              <a:t>Data Management</a:t>
            </a:r>
            <a:endParaRPr lang="ro-RO" altLang="en-US" sz="3300" dirty="0">
              <a:solidFill>
                <a:srgbClr val="4472C4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2693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609600" y="533400"/>
            <a:ext cx="8534400" cy="762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Relational Representation of Spatial Data</a:t>
            </a:r>
          </a:p>
        </p:txBody>
      </p:sp>
      <p:sp>
        <p:nvSpPr>
          <p:cNvPr id="2734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9600" y="1143000"/>
            <a:ext cx="8458200" cy="5181600"/>
          </a:xfrm>
          <a:noFill/>
          <a:ln/>
        </p:spPr>
        <p:txBody>
          <a:bodyPr/>
          <a:lstStyle/>
          <a:p>
            <a:pPr marL="228600" indent="-228600">
              <a:buFont typeface="Wingdings" pitchFamily="2" charset="2"/>
              <a:buChar char="n"/>
            </a:pPr>
            <a:r>
              <a:rPr lang="en-US" sz="2400" i="1" dirty="0"/>
              <a:t> Example</a:t>
            </a:r>
            <a:r>
              <a:rPr lang="en-US" sz="2400" dirty="0"/>
              <a:t>: Representation of geometric objects (here: fields of land) in normalized relations. </a:t>
            </a:r>
            <a:r>
              <a:rPr lang="en-US" sz="2400" dirty="0">
                <a:latin typeface="Times New Roman" pitchFamily="18" charset="0"/>
              </a:rPr>
              <a:t>Redundancy free representation requires distribution of information over 3 tables!</a:t>
            </a:r>
            <a:endParaRPr lang="en-US" sz="2400" dirty="0"/>
          </a:p>
        </p:txBody>
      </p:sp>
      <p:graphicFrame>
        <p:nvGraphicFramePr>
          <p:cNvPr id="273952" name="Group 544"/>
          <p:cNvGraphicFramePr>
            <a:graphicFrameLocks noGrp="1"/>
          </p:cNvGraphicFramePr>
          <p:nvPr/>
        </p:nvGraphicFramePr>
        <p:xfrm>
          <a:off x="3352800" y="2273300"/>
          <a:ext cx="1231900" cy="4600893"/>
        </p:xfrm>
        <a:graphic>
          <a:graphicData uri="http://schemas.openxmlformats.org/drawingml/2006/table">
            <a:tbl>
              <a:tblPr/>
              <a:tblGrid>
                <a:gridCol w="622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288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Book Antiqua" pitchFamily="18" charset="0"/>
                        </a:rPr>
                        <a:t>Fields</a:t>
                      </a:r>
                      <a:endParaRPr kumimoji="0" lang="en-GB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Book Antiqua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FID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BID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10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11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12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...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...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273867" name="Group 459"/>
          <p:cNvGraphicFramePr>
            <a:graphicFrameLocks noGrp="1"/>
          </p:cNvGraphicFramePr>
          <p:nvPr/>
        </p:nvGraphicFramePr>
        <p:xfrm>
          <a:off x="4800600" y="2273300"/>
          <a:ext cx="1828800" cy="4052253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5288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Book Antiqua" pitchFamily="18" charset="0"/>
                        </a:rPr>
                        <a:t>Borders</a:t>
                      </a:r>
                      <a:endParaRPr kumimoji="0" lang="en-GB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Book Antiqua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BID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PID</a:t>
                      </a:r>
                      <a:r>
                        <a:rPr kumimoji="0" lang="en-GB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PID</a:t>
                      </a:r>
                      <a:r>
                        <a:rPr kumimoji="0" lang="en-GB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10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11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12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10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273782" name="Group 374"/>
          <p:cNvGraphicFramePr>
            <a:graphicFrameLocks noGrp="1"/>
          </p:cNvGraphicFramePr>
          <p:nvPr/>
        </p:nvGraphicFramePr>
        <p:xfrm>
          <a:off x="6705600" y="2273300"/>
          <a:ext cx="2286000" cy="3473768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5288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Book Antiqua" pitchFamily="18" charset="0"/>
                        </a:rPr>
                        <a:t>Points</a:t>
                      </a:r>
                      <a:endParaRPr kumimoji="0" lang="en-GB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Book Antiqua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XCoord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YCoord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X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P1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Y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P1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X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P2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Y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P2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X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P3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Y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P3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X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P4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Y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P4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X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P5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Y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P5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X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P6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Y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P6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X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P7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Y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P7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X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P8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Y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P8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X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P9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Y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P9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10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X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P10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Y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P10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pic>
        <p:nvPicPr>
          <p:cNvPr id="273711" name="Picture 303" descr="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2425700"/>
            <a:ext cx="2941638" cy="3429000"/>
          </a:xfrm>
          <a:prstGeom prst="rect">
            <a:avLst/>
          </a:prstGeom>
          <a:noFill/>
        </p:spPr>
      </p:pic>
      <p:grpSp>
        <p:nvGrpSpPr>
          <p:cNvPr id="273966" name="Group 558"/>
          <p:cNvGrpSpPr>
            <a:grpSpLocks/>
          </p:cNvGrpSpPr>
          <p:nvPr/>
        </p:nvGrpSpPr>
        <p:grpSpPr bwMode="auto">
          <a:xfrm>
            <a:off x="749300" y="3175000"/>
            <a:ext cx="8166100" cy="1612900"/>
            <a:chOff x="472" y="1912"/>
            <a:chExt cx="5144" cy="1016"/>
          </a:xfrm>
        </p:grpSpPr>
        <p:sp>
          <p:nvSpPr>
            <p:cNvPr id="273953" name="Text Box 545"/>
            <p:cNvSpPr txBox="1">
              <a:spLocks noChangeArrowheads="1"/>
            </p:cNvSpPr>
            <p:nvPr/>
          </p:nvSpPr>
          <p:spPr bwMode="auto">
            <a:xfrm>
              <a:off x="528" y="2678"/>
              <a:ext cx="26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>
                  <a:solidFill>
                    <a:schemeClr val="folHlink"/>
                  </a:solidFill>
                  <a:latin typeface="Book Antiqua" pitchFamily="18" charset="0"/>
                </a:rPr>
                <a:t>P</a:t>
              </a:r>
              <a:r>
                <a:rPr lang="en-US" sz="2000" baseline="-25000">
                  <a:solidFill>
                    <a:schemeClr val="folHlink"/>
                  </a:solidFill>
                  <a:latin typeface="Book Antiqua" pitchFamily="18" charset="0"/>
                </a:rPr>
                <a:t>2</a:t>
              </a:r>
            </a:p>
          </p:txBody>
        </p:sp>
        <p:sp>
          <p:nvSpPr>
            <p:cNvPr id="273954" name="Oval 546"/>
            <p:cNvSpPr>
              <a:spLocks noChangeArrowheads="1"/>
            </p:cNvSpPr>
            <p:nvPr/>
          </p:nvSpPr>
          <p:spPr bwMode="auto">
            <a:xfrm>
              <a:off x="472" y="2792"/>
              <a:ext cx="96" cy="96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3955" name="Oval 547"/>
            <p:cNvSpPr>
              <a:spLocks noChangeArrowheads="1"/>
            </p:cNvSpPr>
            <p:nvPr/>
          </p:nvSpPr>
          <p:spPr bwMode="auto">
            <a:xfrm>
              <a:off x="728" y="2216"/>
              <a:ext cx="96" cy="96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3956" name="Text Box 548"/>
            <p:cNvSpPr txBox="1">
              <a:spLocks noChangeArrowheads="1"/>
            </p:cNvSpPr>
            <p:nvPr/>
          </p:nvSpPr>
          <p:spPr bwMode="auto">
            <a:xfrm>
              <a:off x="624" y="1968"/>
              <a:ext cx="26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>
                  <a:solidFill>
                    <a:schemeClr val="folHlink"/>
                  </a:solidFill>
                  <a:latin typeface="Book Antiqua" pitchFamily="18" charset="0"/>
                </a:rPr>
                <a:t>P</a:t>
              </a:r>
              <a:r>
                <a:rPr lang="en-US" sz="2000" baseline="-25000">
                  <a:solidFill>
                    <a:schemeClr val="folHlink"/>
                  </a:solidFill>
                  <a:latin typeface="Book Antiqua" pitchFamily="18" charset="0"/>
                </a:rPr>
                <a:t>3</a:t>
              </a:r>
            </a:p>
          </p:txBody>
        </p:sp>
        <p:sp>
          <p:nvSpPr>
            <p:cNvPr id="273965" name="Oval 557"/>
            <p:cNvSpPr>
              <a:spLocks noChangeArrowheads="1"/>
            </p:cNvSpPr>
            <p:nvPr/>
          </p:nvSpPr>
          <p:spPr bwMode="auto">
            <a:xfrm>
              <a:off x="4224" y="1912"/>
              <a:ext cx="1392" cy="480"/>
            </a:xfrm>
            <a:prstGeom prst="ellipse">
              <a:avLst/>
            </a:prstGeom>
            <a:noFill/>
            <a:ln w="25400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73968" name="Group 560"/>
          <p:cNvGrpSpPr>
            <a:grpSpLocks/>
          </p:cNvGrpSpPr>
          <p:nvPr/>
        </p:nvGrpSpPr>
        <p:grpSpPr bwMode="auto">
          <a:xfrm>
            <a:off x="838200" y="3263900"/>
            <a:ext cx="5867400" cy="1384300"/>
            <a:chOff x="528" y="1968"/>
            <a:chExt cx="3696" cy="872"/>
          </a:xfrm>
        </p:grpSpPr>
        <p:grpSp>
          <p:nvGrpSpPr>
            <p:cNvPr id="273964" name="Group 556"/>
            <p:cNvGrpSpPr>
              <a:grpSpLocks/>
            </p:cNvGrpSpPr>
            <p:nvPr/>
          </p:nvGrpSpPr>
          <p:grpSpPr bwMode="auto">
            <a:xfrm>
              <a:off x="528" y="2264"/>
              <a:ext cx="393" cy="576"/>
              <a:chOff x="528" y="2264"/>
              <a:chExt cx="393" cy="576"/>
            </a:xfrm>
          </p:grpSpPr>
          <p:sp>
            <p:nvSpPr>
              <p:cNvPr id="273958" name="Line 550"/>
              <p:cNvSpPr>
                <a:spLocks noChangeShapeType="1"/>
              </p:cNvSpPr>
              <p:nvPr/>
            </p:nvSpPr>
            <p:spPr bwMode="auto">
              <a:xfrm rot="180000" flipV="1">
                <a:off x="528" y="2264"/>
                <a:ext cx="240" cy="576"/>
              </a:xfrm>
              <a:prstGeom prst="line">
                <a:avLst/>
              </a:prstGeom>
              <a:noFill/>
              <a:ln w="31750">
                <a:solidFill>
                  <a:schemeClr val="folHlink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73960" name="Text Box 552"/>
              <p:cNvSpPr txBox="1">
                <a:spLocks noChangeArrowheads="1"/>
              </p:cNvSpPr>
              <p:nvPr/>
            </p:nvSpPr>
            <p:spPr bwMode="auto">
              <a:xfrm>
                <a:off x="656" y="2408"/>
                <a:ext cx="26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000">
                    <a:solidFill>
                      <a:schemeClr val="folHlink"/>
                    </a:solidFill>
                    <a:latin typeface="Book Antiqua" pitchFamily="18" charset="0"/>
                  </a:rPr>
                  <a:t>B</a:t>
                </a:r>
                <a:r>
                  <a:rPr lang="en-US" sz="2000" baseline="-25000">
                    <a:solidFill>
                      <a:schemeClr val="folHlink"/>
                    </a:solidFill>
                    <a:latin typeface="Book Antiqua" pitchFamily="18" charset="0"/>
                  </a:rPr>
                  <a:t>2</a:t>
                </a:r>
              </a:p>
            </p:txBody>
          </p:sp>
        </p:grpSp>
        <p:sp>
          <p:nvSpPr>
            <p:cNvPr id="273967" name="Oval 559"/>
            <p:cNvSpPr>
              <a:spLocks noChangeArrowheads="1"/>
            </p:cNvSpPr>
            <p:nvPr/>
          </p:nvSpPr>
          <p:spPr bwMode="auto">
            <a:xfrm>
              <a:off x="3024" y="1968"/>
              <a:ext cx="1200" cy="240"/>
            </a:xfrm>
            <a:prstGeom prst="ellipse">
              <a:avLst/>
            </a:prstGeom>
            <a:noFill/>
            <a:ln w="25400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73973" name="Group 565"/>
          <p:cNvGrpSpPr>
            <a:grpSpLocks/>
          </p:cNvGrpSpPr>
          <p:nvPr/>
        </p:nvGrpSpPr>
        <p:grpSpPr bwMode="auto">
          <a:xfrm>
            <a:off x="800100" y="3098800"/>
            <a:ext cx="3848100" cy="2755900"/>
            <a:chOff x="504" y="1864"/>
            <a:chExt cx="2424" cy="1736"/>
          </a:xfrm>
        </p:grpSpPr>
        <p:sp>
          <p:nvSpPr>
            <p:cNvPr id="273971" name="Freeform 563" descr="Wide downward diagonal"/>
            <p:cNvSpPr>
              <a:spLocks/>
            </p:cNvSpPr>
            <p:nvPr/>
          </p:nvSpPr>
          <p:spPr bwMode="auto">
            <a:xfrm>
              <a:off x="504" y="1864"/>
              <a:ext cx="1152" cy="1400"/>
            </a:xfrm>
            <a:custGeom>
              <a:avLst/>
              <a:gdLst/>
              <a:ahLst/>
              <a:cxnLst>
                <a:cxn ang="0">
                  <a:pos x="240" y="384"/>
                </a:cxn>
                <a:cxn ang="0">
                  <a:pos x="528" y="0"/>
                </a:cxn>
                <a:cxn ang="0">
                  <a:pos x="1104" y="240"/>
                </a:cxn>
                <a:cxn ang="0">
                  <a:pos x="864" y="1152"/>
                </a:cxn>
                <a:cxn ang="0">
                  <a:pos x="624" y="1392"/>
                </a:cxn>
                <a:cxn ang="0">
                  <a:pos x="0" y="960"/>
                </a:cxn>
                <a:cxn ang="0">
                  <a:pos x="240" y="384"/>
                </a:cxn>
              </a:cxnLst>
              <a:rect l="0" t="0" r="r" b="b"/>
              <a:pathLst>
                <a:path w="1104" h="1392">
                  <a:moveTo>
                    <a:pt x="240" y="384"/>
                  </a:moveTo>
                  <a:lnTo>
                    <a:pt x="528" y="0"/>
                  </a:lnTo>
                  <a:lnTo>
                    <a:pt x="1104" y="240"/>
                  </a:lnTo>
                  <a:lnTo>
                    <a:pt x="864" y="1152"/>
                  </a:lnTo>
                  <a:lnTo>
                    <a:pt x="624" y="1392"/>
                  </a:lnTo>
                  <a:lnTo>
                    <a:pt x="0" y="960"/>
                  </a:lnTo>
                  <a:lnTo>
                    <a:pt x="240" y="384"/>
                  </a:lnTo>
                  <a:close/>
                </a:path>
              </a:pathLst>
            </a:custGeom>
            <a:pattFill prst="wdDnDiag">
              <a:fgClr>
                <a:schemeClr val="folHlink"/>
              </a:fgClr>
              <a:bgClr>
                <a:schemeClr val="bg1"/>
              </a:bgClr>
            </a:pattFill>
            <a:ln w="25400" cap="flat" cmpd="sng">
              <a:solidFill>
                <a:schemeClr val="folHlink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73972" name="Oval 564"/>
            <p:cNvSpPr>
              <a:spLocks noChangeArrowheads="1"/>
            </p:cNvSpPr>
            <p:nvPr/>
          </p:nvSpPr>
          <p:spPr bwMode="auto">
            <a:xfrm>
              <a:off x="2064" y="2448"/>
              <a:ext cx="864" cy="1152"/>
            </a:xfrm>
            <a:prstGeom prst="ellipse">
              <a:avLst/>
            </a:prstGeom>
            <a:noFill/>
            <a:ln w="25400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3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3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3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3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3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86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609600" y="533400"/>
            <a:ext cx="8534400" cy="762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Relational Representation of Spatial Data</a:t>
            </a:r>
          </a:p>
        </p:txBody>
      </p:sp>
      <p:sp>
        <p:nvSpPr>
          <p:cNvPr id="3235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9600" y="1143000"/>
            <a:ext cx="8458200" cy="5181600"/>
          </a:xfrm>
          <a:noFill/>
          <a:ln/>
        </p:spPr>
        <p:txBody>
          <a:bodyPr/>
          <a:lstStyle/>
          <a:p>
            <a:pPr marL="228600" indent="-228600">
              <a:buFont typeface="Wingdings" pitchFamily="2" charset="2"/>
              <a:buChar char="n"/>
            </a:pPr>
            <a:r>
              <a:rPr lang="en-US" sz="2400"/>
              <a:t> For (spatial) queries involving fields it is necessary to reconstruct the spatial information from the different tables</a:t>
            </a:r>
          </a:p>
          <a:p>
            <a:pPr marL="228600" indent="-228600">
              <a:buFont typeface="Wingdings" pitchFamily="2" charset="2"/>
              <a:buChar char="n"/>
            </a:pPr>
            <a:r>
              <a:rPr lang="en-US" sz="2400"/>
              <a:t> E.g.: if we want to determine if a given point P is inside field F</a:t>
            </a:r>
            <a:r>
              <a:rPr lang="en-US" sz="2400" baseline="-25000"/>
              <a:t>2</a:t>
            </a:r>
            <a:r>
              <a:rPr lang="en-US" sz="2400"/>
              <a:t>, we have to find all corner-points of parcel F</a:t>
            </a:r>
            <a:r>
              <a:rPr lang="en-US" sz="2400" baseline="-25000"/>
              <a:t>2</a:t>
            </a:r>
            <a:r>
              <a:rPr lang="en-US" sz="2400"/>
              <a:t> first</a:t>
            </a:r>
          </a:p>
          <a:p>
            <a:pPr marL="228600" indent="-228600">
              <a:buFont typeface="Wingdings" pitchFamily="2" charset="2"/>
              <a:buChar char="n"/>
            </a:pPr>
            <a:endParaRPr lang="en-US" sz="1200"/>
          </a:p>
          <a:p>
            <a:pPr marL="228600" indent="-228600"/>
            <a:r>
              <a:rPr lang="en-US" sz="2400" b="1">
                <a:latin typeface="Courier New" pitchFamily="49" charset="0"/>
              </a:rPr>
              <a:t>		SELECT Points.PID, XCoord, YCoord</a:t>
            </a:r>
            <a:br>
              <a:rPr lang="en-US" sz="2400" b="1">
                <a:latin typeface="Courier New" pitchFamily="49" charset="0"/>
              </a:rPr>
            </a:br>
            <a:r>
              <a:rPr lang="en-US" sz="2400" b="1">
                <a:latin typeface="Courier New" pitchFamily="49" charset="0"/>
              </a:rPr>
              <a:t>		FROM Fields, Border, Points</a:t>
            </a:r>
            <a:br>
              <a:rPr lang="en-US" sz="2400" b="1">
                <a:latin typeface="Courier New" pitchFamily="49" charset="0"/>
              </a:rPr>
            </a:br>
            <a:r>
              <a:rPr lang="en-US" sz="2400" b="1">
                <a:latin typeface="Courier New" pitchFamily="49" charset="0"/>
              </a:rPr>
              <a:t>		WHERE FID = ‘F2’ AND</a:t>
            </a:r>
            <a:br>
              <a:rPr lang="en-US" sz="2400" b="1">
                <a:latin typeface="Courier New" pitchFamily="49" charset="0"/>
              </a:rPr>
            </a:br>
            <a:r>
              <a:rPr lang="en-US" sz="2400" b="1">
                <a:latin typeface="Courier New" pitchFamily="49" charset="0"/>
              </a:rPr>
              <a:t>		Fields.BID = Borders.BID AND</a:t>
            </a:r>
            <a:br>
              <a:rPr lang="en-US" sz="2400" b="1">
                <a:latin typeface="Courier New" pitchFamily="49" charset="0"/>
              </a:rPr>
            </a:br>
            <a:r>
              <a:rPr lang="en-US" sz="2400" b="1">
                <a:latin typeface="Courier New" pitchFamily="49" charset="0"/>
              </a:rPr>
              <a:t>		(Borders.PID1 = Points.PID OR</a:t>
            </a:r>
            <a:br>
              <a:rPr lang="en-US" sz="2400" b="1">
                <a:latin typeface="Courier New" pitchFamily="49" charset="0"/>
              </a:rPr>
            </a:br>
            <a:r>
              <a:rPr lang="en-US" sz="2400" b="1">
                <a:latin typeface="Courier New" pitchFamily="49" charset="0"/>
              </a:rPr>
              <a:t>		Borders.PID2 = Points.PID)</a:t>
            </a:r>
          </a:p>
          <a:p>
            <a:pPr marL="228600" indent="-228600">
              <a:buFont typeface="Wingdings" pitchFamily="2" charset="2"/>
              <a:buChar char="n"/>
            </a:pPr>
            <a:endParaRPr lang="en-US" sz="1200"/>
          </a:p>
          <a:p>
            <a:pPr marL="228600" indent="-228600">
              <a:buFont typeface="Wingdings" pitchFamily="2" charset="2"/>
              <a:buChar char="n"/>
            </a:pPr>
            <a:r>
              <a:rPr lang="en-US" sz="2400"/>
              <a:t> Even this simple query requires expensive joins of 3 tables</a:t>
            </a:r>
          </a:p>
          <a:p>
            <a:pPr marL="228600" indent="-228600">
              <a:buFont typeface="Wingdings" pitchFamily="2" charset="2"/>
              <a:buChar char="n"/>
            </a:pPr>
            <a:r>
              <a:rPr lang="en-US" sz="2400"/>
              <a:t> Querying the geometry is not directly supported (P in F</a:t>
            </a:r>
            <a:r>
              <a:rPr lang="en-US" sz="2400" baseline="-25000"/>
              <a:t>2</a:t>
            </a:r>
            <a:r>
              <a:rPr lang="en-US" sz="2400"/>
              <a:t>?)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609600" y="533400"/>
            <a:ext cx="8534400" cy="762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z="3200"/>
              <a:t>Extension of Relational Model for Spatial Data</a:t>
            </a:r>
          </a:p>
        </p:txBody>
      </p:sp>
      <p:sp>
        <p:nvSpPr>
          <p:cNvPr id="3246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9600" y="1143000"/>
            <a:ext cx="8458200" cy="5181600"/>
          </a:xfrm>
          <a:noFill/>
          <a:ln/>
        </p:spPr>
        <p:txBody>
          <a:bodyPr/>
          <a:lstStyle/>
          <a:p>
            <a:pPr marL="228600" indent="-228600">
              <a:buFont typeface="Wingdings" pitchFamily="2" charset="2"/>
              <a:buChar char="n"/>
            </a:pPr>
            <a:r>
              <a:rPr lang="en-US" sz="2400"/>
              <a:t> Integration of spatial data types and operations into the core of a DBMS (</a:t>
            </a:r>
            <a:r>
              <a:rPr lang="en-US" sz="2400">
                <a:sym typeface="Symbol" pitchFamily="18" charset="2"/>
              </a:rPr>
              <a:t> </a:t>
            </a:r>
            <a:r>
              <a:rPr lang="en-US" sz="2400"/>
              <a:t>object-oriented and object-relational databases)</a:t>
            </a:r>
          </a:p>
          <a:p>
            <a:pPr marL="749300" lvl="1" indent="-177800"/>
            <a:r>
              <a:rPr lang="en-US" sz="2000"/>
              <a:t> Data types such as </a:t>
            </a:r>
            <a:r>
              <a:rPr lang="en-US" sz="2000" i="1"/>
              <a:t>Point</a:t>
            </a:r>
            <a:r>
              <a:rPr lang="en-US" sz="2000"/>
              <a:t>, </a:t>
            </a:r>
            <a:r>
              <a:rPr lang="en-US" sz="2000" i="1"/>
              <a:t>Line</a:t>
            </a:r>
            <a:r>
              <a:rPr lang="en-US" sz="2000"/>
              <a:t>, </a:t>
            </a:r>
            <a:r>
              <a:rPr lang="en-US" sz="2000" i="1"/>
              <a:t>Polygon</a:t>
            </a:r>
          </a:p>
          <a:p>
            <a:pPr marL="749300" lvl="1" indent="-177800"/>
            <a:r>
              <a:rPr lang="en-US" sz="2000"/>
              <a:t> Operations such as </a:t>
            </a:r>
            <a:r>
              <a:rPr lang="en-US" sz="2000" i="1"/>
              <a:t>ObjectIntersect</a:t>
            </a:r>
            <a:r>
              <a:rPr lang="en-US" sz="2000"/>
              <a:t>, </a:t>
            </a:r>
            <a:r>
              <a:rPr lang="en-US" sz="2000" i="1"/>
              <a:t>RangeQuery</a:t>
            </a:r>
            <a:r>
              <a:rPr lang="en-US" sz="2000"/>
              <a:t>, etc.</a:t>
            </a:r>
          </a:p>
          <a:p>
            <a:pPr marL="228600" indent="-228600">
              <a:buFont typeface="Wingdings" pitchFamily="2" charset="2"/>
              <a:buChar char="n"/>
            </a:pPr>
            <a:r>
              <a:rPr lang="en-US" sz="2400"/>
              <a:t> Advantages:</a:t>
            </a:r>
          </a:p>
          <a:p>
            <a:pPr marL="749300" lvl="1" indent="-177800"/>
            <a:r>
              <a:rPr lang="en-US" sz="2000"/>
              <a:t> Natural extension of the relational model and query languages</a:t>
            </a:r>
          </a:p>
          <a:p>
            <a:pPr marL="749300" lvl="1" indent="-177800"/>
            <a:r>
              <a:rPr lang="en-US" sz="2000"/>
              <a:t> Facilitates design and querying of spatial databases</a:t>
            </a:r>
          </a:p>
          <a:p>
            <a:pPr marL="749300" lvl="1" indent="-177800"/>
            <a:r>
              <a:rPr lang="en-US" sz="2000"/>
              <a:t> Spatial data types and operations can be supported by spatial index structures and efficient algorithms, implemented in the core of a DBMS</a:t>
            </a:r>
          </a:p>
          <a:p>
            <a:pPr marL="228600" indent="-228600">
              <a:buFont typeface="Wingdings" pitchFamily="2" charset="2"/>
              <a:buChar char="n"/>
            </a:pPr>
            <a:r>
              <a:rPr lang="en-US" sz="2400"/>
              <a:t> All major database vendors today implement support for spatial data and operations in their database systems via object-relational extensions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609600" y="533400"/>
            <a:ext cx="8534400" cy="762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z="3200"/>
              <a:t>Extension of Relational Model for Spatial Data</a:t>
            </a:r>
          </a:p>
        </p:txBody>
      </p:sp>
      <p:sp>
        <p:nvSpPr>
          <p:cNvPr id="32563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9600" y="1117600"/>
            <a:ext cx="8534400" cy="5435600"/>
          </a:xfrm>
          <a:noFill/>
          <a:ln/>
        </p:spPr>
        <p:txBody>
          <a:bodyPr/>
          <a:lstStyle/>
          <a:p>
            <a:pPr marL="228600" indent="-228600">
              <a:buFont typeface="Wingdings" pitchFamily="2" charset="2"/>
              <a:buChar char="n"/>
            </a:pPr>
            <a:r>
              <a:rPr lang="en-US" sz="2400" dirty="0"/>
              <a:t> Example:</a:t>
            </a:r>
          </a:p>
          <a:p>
            <a:pPr marL="228600" indent="-228600"/>
            <a:r>
              <a:rPr lang="en-US" sz="2400" b="1" dirty="0" err="1"/>
              <a:t>ForestZones</a:t>
            </a:r>
            <a:r>
              <a:rPr lang="en-US" sz="2400" dirty="0"/>
              <a:t>(</a:t>
            </a:r>
            <a:r>
              <a:rPr lang="en-US" sz="2400" dirty="0" err="1"/>
              <a:t>Zone:</a:t>
            </a:r>
            <a:r>
              <a:rPr lang="en-US" sz="2400" i="1" dirty="0" err="1"/>
              <a:t>Polygon</a:t>
            </a:r>
            <a:r>
              <a:rPr lang="en-US" sz="2400" dirty="0" err="1"/>
              <a:t>,ForestOfficial:</a:t>
            </a:r>
            <a:r>
              <a:rPr lang="en-US" sz="2400" i="1" dirty="0" err="1"/>
              <a:t>String</a:t>
            </a:r>
            <a:r>
              <a:rPr lang="en-US" sz="2400" dirty="0" err="1"/>
              <a:t>,Area:</a:t>
            </a:r>
            <a:r>
              <a:rPr lang="en-US" sz="2400" i="1" dirty="0" err="1"/>
              <a:t>Cardinal</a:t>
            </a:r>
            <a:r>
              <a:rPr lang="en-US" sz="2400" dirty="0"/>
              <a:t>)</a:t>
            </a:r>
          </a:p>
          <a:p>
            <a:pPr marL="228600" indent="-228600">
              <a:buFont typeface="Wingdings" pitchFamily="2" charset="2"/>
              <a:buChar char="n"/>
            </a:pPr>
            <a:endParaRPr lang="en-US" sz="2400" dirty="0"/>
          </a:p>
          <a:p>
            <a:pPr marL="228600" indent="-228600">
              <a:buFont typeface="Wingdings" pitchFamily="2" charset="2"/>
              <a:buChar char="n"/>
            </a:pPr>
            <a:endParaRPr lang="en-US" sz="2200" dirty="0"/>
          </a:p>
          <a:p>
            <a:pPr marL="228600" indent="-228600">
              <a:buFont typeface="Wingdings" pitchFamily="2" charset="2"/>
              <a:buChar char="n"/>
            </a:pPr>
            <a:endParaRPr lang="en-US" sz="2200" dirty="0"/>
          </a:p>
          <a:p>
            <a:pPr marL="228600" indent="-228600">
              <a:buFont typeface="Wingdings" pitchFamily="2" charset="2"/>
              <a:buChar char="n"/>
            </a:pPr>
            <a:endParaRPr lang="en-US" sz="2400" dirty="0"/>
          </a:p>
          <a:p>
            <a:pPr marL="228600" indent="-228600">
              <a:buFont typeface="Wingdings" pitchFamily="2" charset="2"/>
              <a:buChar char="n"/>
            </a:pPr>
            <a:endParaRPr lang="en-US" dirty="0"/>
          </a:p>
          <a:p>
            <a:pPr marL="228600" indent="-228600">
              <a:buFont typeface="Wingdings" pitchFamily="2" charset="2"/>
              <a:buChar char="n"/>
            </a:pPr>
            <a:r>
              <a:rPr lang="en-US" sz="2400" dirty="0"/>
              <a:t> The province decides that a reforestation is necessary in an area described by a polygon S. Find all forest officials affected by this decision.</a:t>
            </a:r>
          </a:p>
          <a:p>
            <a:pPr marL="228600" indent="-228600"/>
            <a:r>
              <a:rPr lang="en-US" sz="2400" b="1" dirty="0">
                <a:latin typeface="Courier New" pitchFamily="49" charset="0"/>
              </a:rPr>
              <a:t>		SELECT </a:t>
            </a:r>
            <a:r>
              <a:rPr lang="en-US" sz="2400" b="1" dirty="0" err="1">
                <a:latin typeface="Courier New" pitchFamily="49" charset="0"/>
              </a:rPr>
              <a:t>ForestOfficial</a:t>
            </a:r>
            <a:br>
              <a:rPr lang="en-US" sz="2400" b="1" dirty="0">
                <a:latin typeface="Courier New" pitchFamily="49" charset="0"/>
              </a:rPr>
            </a:br>
            <a:r>
              <a:rPr lang="en-US" sz="2400" b="1" dirty="0">
                <a:latin typeface="Courier New" pitchFamily="49" charset="0"/>
              </a:rPr>
              <a:t>		FROM </a:t>
            </a:r>
            <a:r>
              <a:rPr lang="en-US" sz="2400" b="1" dirty="0" err="1">
                <a:latin typeface="Courier New" pitchFamily="49" charset="0"/>
              </a:rPr>
              <a:t>ForestZones</a:t>
            </a:r>
            <a:br>
              <a:rPr lang="en-US" sz="2400" b="1" dirty="0">
                <a:latin typeface="Courier New" pitchFamily="49" charset="0"/>
              </a:rPr>
            </a:br>
            <a:r>
              <a:rPr lang="en-US" sz="2400" b="1" dirty="0">
                <a:latin typeface="Courier New" pitchFamily="49" charset="0"/>
              </a:rPr>
              <a:t>		WHERE </a:t>
            </a:r>
            <a:r>
              <a:rPr lang="en-US" sz="2400" b="1" dirty="0" err="1">
                <a:latin typeface="Courier New" pitchFamily="49" charset="0"/>
              </a:rPr>
              <a:t>ObjectIntersects</a:t>
            </a:r>
            <a:r>
              <a:rPr lang="en-US" sz="2400" b="1" dirty="0">
                <a:latin typeface="Courier New" pitchFamily="49" charset="0"/>
              </a:rPr>
              <a:t> (</a:t>
            </a:r>
            <a:r>
              <a:rPr lang="en-US" sz="2400" b="1" dirty="0" err="1">
                <a:latin typeface="Courier New" pitchFamily="49" charset="0"/>
              </a:rPr>
              <a:t>S,Zone</a:t>
            </a:r>
            <a:r>
              <a:rPr lang="en-US" sz="2400" b="1" dirty="0">
                <a:latin typeface="Courier New" pitchFamily="49" charset="0"/>
              </a:rPr>
              <a:t>)</a:t>
            </a:r>
          </a:p>
        </p:txBody>
      </p:sp>
      <p:sp>
        <p:nvSpPr>
          <p:cNvPr id="325636" name="Rectangle 4"/>
          <p:cNvSpPr>
            <a:spLocks noChangeArrowheads="1"/>
          </p:cNvSpPr>
          <p:nvPr/>
        </p:nvSpPr>
        <p:spPr bwMode="auto">
          <a:xfrm>
            <a:off x="1219200" y="2387600"/>
            <a:ext cx="2514600" cy="160020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5637" name="Line 5"/>
          <p:cNvSpPr>
            <a:spLocks noChangeShapeType="1"/>
          </p:cNvSpPr>
          <p:nvPr/>
        </p:nvSpPr>
        <p:spPr bwMode="auto">
          <a:xfrm flipH="1">
            <a:off x="1828800" y="2387600"/>
            <a:ext cx="228600" cy="762000"/>
          </a:xfrm>
          <a:prstGeom prst="line">
            <a:avLst/>
          </a:prstGeom>
          <a:noFill/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25638" name="Line 6"/>
          <p:cNvSpPr>
            <a:spLocks noChangeShapeType="1"/>
          </p:cNvSpPr>
          <p:nvPr/>
        </p:nvSpPr>
        <p:spPr bwMode="auto">
          <a:xfrm>
            <a:off x="1828800" y="3149600"/>
            <a:ext cx="304800" cy="838200"/>
          </a:xfrm>
          <a:prstGeom prst="line">
            <a:avLst/>
          </a:prstGeom>
          <a:noFill/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25639" name="Line 7"/>
          <p:cNvSpPr>
            <a:spLocks noChangeShapeType="1"/>
          </p:cNvSpPr>
          <p:nvPr/>
        </p:nvSpPr>
        <p:spPr bwMode="auto">
          <a:xfrm flipH="1" flipV="1">
            <a:off x="1219200" y="3302000"/>
            <a:ext cx="685800" cy="76200"/>
          </a:xfrm>
          <a:prstGeom prst="line">
            <a:avLst/>
          </a:prstGeom>
          <a:noFill/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25640" name="Line 8"/>
          <p:cNvSpPr>
            <a:spLocks noChangeShapeType="1"/>
          </p:cNvSpPr>
          <p:nvPr/>
        </p:nvSpPr>
        <p:spPr bwMode="auto">
          <a:xfrm flipH="1">
            <a:off x="2743200" y="2387600"/>
            <a:ext cx="990600" cy="609600"/>
          </a:xfrm>
          <a:prstGeom prst="line">
            <a:avLst/>
          </a:prstGeom>
          <a:noFill/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25641" name="Line 9"/>
          <p:cNvSpPr>
            <a:spLocks noChangeShapeType="1"/>
          </p:cNvSpPr>
          <p:nvPr/>
        </p:nvSpPr>
        <p:spPr bwMode="auto">
          <a:xfrm>
            <a:off x="2743200" y="2997200"/>
            <a:ext cx="381000" cy="685800"/>
          </a:xfrm>
          <a:prstGeom prst="line">
            <a:avLst/>
          </a:prstGeom>
          <a:noFill/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25642" name="Line 10"/>
          <p:cNvSpPr>
            <a:spLocks noChangeShapeType="1"/>
          </p:cNvSpPr>
          <p:nvPr/>
        </p:nvSpPr>
        <p:spPr bwMode="auto">
          <a:xfrm flipV="1">
            <a:off x="3124200" y="3454400"/>
            <a:ext cx="609600" cy="228600"/>
          </a:xfrm>
          <a:prstGeom prst="line">
            <a:avLst/>
          </a:prstGeom>
          <a:noFill/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25643" name="Line 11"/>
          <p:cNvSpPr>
            <a:spLocks noChangeShapeType="1"/>
          </p:cNvSpPr>
          <p:nvPr/>
        </p:nvSpPr>
        <p:spPr bwMode="auto">
          <a:xfrm flipV="1">
            <a:off x="2895600" y="3683000"/>
            <a:ext cx="228600" cy="304800"/>
          </a:xfrm>
          <a:prstGeom prst="line">
            <a:avLst/>
          </a:prstGeom>
          <a:noFill/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25644" name="Line 12"/>
          <p:cNvSpPr>
            <a:spLocks noChangeShapeType="1"/>
          </p:cNvSpPr>
          <p:nvPr/>
        </p:nvSpPr>
        <p:spPr bwMode="auto">
          <a:xfrm flipV="1">
            <a:off x="1828800" y="2997200"/>
            <a:ext cx="914400" cy="152400"/>
          </a:xfrm>
          <a:prstGeom prst="line">
            <a:avLst/>
          </a:prstGeom>
          <a:noFill/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25645" name="Text Box 13"/>
          <p:cNvSpPr txBox="1">
            <a:spLocks noChangeArrowheads="1"/>
          </p:cNvSpPr>
          <p:nvPr/>
        </p:nvSpPr>
        <p:spPr bwMode="auto">
          <a:xfrm>
            <a:off x="1327150" y="2630488"/>
            <a:ext cx="425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sz="1800" b="1" baseline="-25000">
                <a:solidFill>
                  <a:schemeClr val="tx2"/>
                </a:solidFill>
                <a:latin typeface="Book Antiqua" pitchFamily="18" charset="0"/>
              </a:rPr>
              <a:t>2</a:t>
            </a:r>
            <a:endParaRPr lang="en-US" sz="1800" b="1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25646" name="Text Box 14"/>
          <p:cNvSpPr txBox="1">
            <a:spLocks noChangeArrowheads="1"/>
          </p:cNvSpPr>
          <p:nvPr/>
        </p:nvSpPr>
        <p:spPr bwMode="auto">
          <a:xfrm>
            <a:off x="1371600" y="3494088"/>
            <a:ext cx="425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sz="1800" b="1" baseline="-25000">
                <a:solidFill>
                  <a:schemeClr val="tx2"/>
                </a:solidFill>
                <a:latin typeface="Book Antiqua" pitchFamily="18" charset="0"/>
              </a:rPr>
              <a:t>1</a:t>
            </a:r>
            <a:endParaRPr lang="en-US" sz="1800" b="1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25647" name="Text Box 15"/>
          <p:cNvSpPr txBox="1">
            <a:spLocks noChangeArrowheads="1"/>
          </p:cNvSpPr>
          <p:nvPr/>
        </p:nvSpPr>
        <p:spPr bwMode="auto">
          <a:xfrm>
            <a:off x="2286000" y="2540000"/>
            <a:ext cx="425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sz="1800" b="1" baseline="-25000">
                <a:solidFill>
                  <a:schemeClr val="tx2"/>
                </a:solidFill>
                <a:latin typeface="Book Antiqua" pitchFamily="18" charset="0"/>
              </a:rPr>
              <a:t>4</a:t>
            </a:r>
            <a:endParaRPr lang="en-US" sz="1800" b="1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25648" name="Text Box 16"/>
          <p:cNvSpPr txBox="1">
            <a:spLocks noChangeArrowheads="1"/>
          </p:cNvSpPr>
          <p:nvPr/>
        </p:nvSpPr>
        <p:spPr bwMode="auto">
          <a:xfrm>
            <a:off x="2286000" y="3392488"/>
            <a:ext cx="425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sz="1800" b="1" baseline="-25000">
                <a:solidFill>
                  <a:schemeClr val="tx2"/>
                </a:solidFill>
                <a:latin typeface="Book Antiqua" pitchFamily="18" charset="0"/>
              </a:rPr>
              <a:t>3</a:t>
            </a:r>
            <a:endParaRPr lang="en-US" sz="1800" b="1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25649" name="Text Box 17"/>
          <p:cNvSpPr txBox="1">
            <a:spLocks noChangeArrowheads="1"/>
          </p:cNvSpPr>
          <p:nvPr/>
        </p:nvSpPr>
        <p:spPr bwMode="auto">
          <a:xfrm>
            <a:off x="3155950" y="2935288"/>
            <a:ext cx="425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sz="1800" b="1" baseline="-25000">
                <a:solidFill>
                  <a:schemeClr val="tx2"/>
                </a:solidFill>
                <a:latin typeface="Book Antiqua" pitchFamily="18" charset="0"/>
              </a:rPr>
              <a:t>6</a:t>
            </a:r>
            <a:endParaRPr lang="en-US" sz="1800" b="1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25650" name="Text Box 18"/>
          <p:cNvSpPr txBox="1">
            <a:spLocks noChangeArrowheads="1"/>
          </p:cNvSpPr>
          <p:nvPr/>
        </p:nvSpPr>
        <p:spPr bwMode="auto">
          <a:xfrm>
            <a:off x="3276600" y="3608388"/>
            <a:ext cx="425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sz="1800" b="1" baseline="-25000">
                <a:solidFill>
                  <a:schemeClr val="tx2"/>
                </a:solidFill>
                <a:latin typeface="Book Antiqua" pitchFamily="18" charset="0"/>
              </a:rPr>
              <a:t>5</a:t>
            </a:r>
            <a:endParaRPr lang="en-US" sz="1800" b="1">
              <a:solidFill>
                <a:schemeClr val="tx2"/>
              </a:solidFill>
              <a:latin typeface="Book Antiqua" pitchFamily="18" charset="0"/>
            </a:endParaRPr>
          </a:p>
        </p:txBody>
      </p:sp>
      <p:graphicFrame>
        <p:nvGraphicFramePr>
          <p:cNvPr id="325719" name="Group 87"/>
          <p:cNvGraphicFramePr>
            <a:graphicFrameLocks noGrp="1"/>
          </p:cNvGraphicFramePr>
          <p:nvPr/>
        </p:nvGraphicFramePr>
        <p:xfrm>
          <a:off x="4724400" y="1974850"/>
          <a:ext cx="3048000" cy="2376805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4488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Book Antiqua" pitchFamily="18" charset="0"/>
                        </a:rPr>
                        <a:t>ForestZones</a:t>
                      </a:r>
                      <a:endParaRPr kumimoji="0" lang="en-GB" sz="18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Book Antiqua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Zone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ForestOfficial</a:t>
                      </a:r>
                      <a:endParaRPr kumimoji="0" lang="en-GB" sz="1600" b="0" i="0" u="none" strike="noStrike" cap="none" normalizeH="0" baseline="-2500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Area (m</a:t>
                      </a:r>
                      <a:r>
                        <a:rPr kumimoji="0" lang="en-GB" sz="16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  <a:r>
                        <a:rPr kumimoji="0" lang="en-GB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R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Stevens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3900</a:t>
                      </a:r>
                      <a:endParaRPr kumimoji="0" lang="en-GB" sz="1200" b="1" i="0" u="none" strike="noStrike" cap="none" normalizeH="0" baseline="-2500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R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Behrens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4250</a:t>
                      </a:r>
                      <a:endParaRPr kumimoji="0" lang="en-GB" sz="1200" b="1" i="0" u="none" strike="noStrike" cap="none" normalizeH="0" baseline="-2500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R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Lee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6700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R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Goebel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5400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R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Jones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1900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R</a:t>
                      </a:r>
                      <a:r>
                        <a:rPr kumimoji="0" lang="en-GB" sz="1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  <a:endParaRPr kumimoji="0" lang="en-GB" sz="12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Kent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</a:rPr>
                        <a:t>4600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8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609600" y="533400"/>
            <a:ext cx="8534400" cy="762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Data Types for Spatial Objects</a:t>
            </a:r>
          </a:p>
        </p:txBody>
      </p:sp>
      <p:sp>
        <p:nvSpPr>
          <p:cNvPr id="32665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9600" y="1295400"/>
            <a:ext cx="8458200" cy="5181600"/>
          </a:xfrm>
          <a:noFill/>
          <a:ln/>
        </p:spPr>
        <p:txBody>
          <a:bodyPr/>
          <a:lstStyle/>
          <a:p>
            <a:pPr marL="228600" indent="-228600">
              <a:buFont typeface="Wingdings" pitchFamily="2" charset="2"/>
              <a:buChar char="n"/>
            </a:pPr>
            <a:r>
              <a:rPr lang="en-US" sz="2800"/>
              <a:t> Spatial objects are described by</a:t>
            </a:r>
          </a:p>
          <a:p>
            <a:pPr marL="749300" lvl="1" indent="-177800"/>
            <a:r>
              <a:rPr lang="en-US" sz="2400"/>
              <a:t> Spatial Extent</a:t>
            </a:r>
          </a:p>
          <a:p>
            <a:pPr marL="749300" lvl="1" indent="-177800">
              <a:buFont typeface="Wingdings" pitchFamily="2" charset="2"/>
              <a:buNone/>
            </a:pPr>
            <a:r>
              <a:rPr lang="en-US" sz="2400"/>
              <a:t>	• </a:t>
            </a:r>
            <a:r>
              <a:rPr lang="en-US" sz="2400" i="1"/>
              <a:t>location </a:t>
            </a:r>
            <a:r>
              <a:rPr lang="en-US" sz="2400"/>
              <a:t>and/or </a:t>
            </a:r>
            <a:r>
              <a:rPr lang="en-US" sz="2400" i="1"/>
              <a:t>boundary </a:t>
            </a:r>
            <a:r>
              <a:rPr lang="en-US" sz="2400"/>
              <a:t>with respect to a reference point in a coordinate system, which is at least 2-dim.</a:t>
            </a:r>
          </a:p>
          <a:p>
            <a:pPr marL="749300" lvl="1" indent="-177800">
              <a:buFont typeface="Wingdings" pitchFamily="2" charset="2"/>
              <a:buNone/>
            </a:pPr>
            <a:r>
              <a:rPr lang="en-US" sz="2400"/>
              <a:t>   • Basic object types: </a:t>
            </a:r>
            <a:r>
              <a:rPr lang="en-US" sz="2400" i="1"/>
              <a:t>Point</a:t>
            </a:r>
            <a:r>
              <a:rPr lang="en-US" sz="2400"/>
              <a:t>, </a:t>
            </a:r>
            <a:r>
              <a:rPr lang="en-US" sz="2400" i="1"/>
              <a:t>Lines</a:t>
            </a:r>
            <a:r>
              <a:rPr lang="en-US" sz="2400"/>
              <a:t>, </a:t>
            </a:r>
            <a:r>
              <a:rPr lang="en-US" sz="2400" i="1"/>
              <a:t>Polygon</a:t>
            </a:r>
          </a:p>
          <a:p>
            <a:pPr marL="749300" lvl="1" indent="-177800"/>
            <a:r>
              <a:rPr lang="en-US" sz="2400"/>
              <a:t> Other Non-Spatial Attributes</a:t>
            </a:r>
          </a:p>
          <a:p>
            <a:pPr marL="749300" lvl="1" indent="-177800">
              <a:buFont typeface="Wingdings" pitchFamily="2" charset="2"/>
              <a:buNone/>
            </a:pPr>
            <a:r>
              <a:rPr lang="en-US" sz="2400"/>
              <a:t>   • Thematic attributes such as height, area, name, etc.</a:t>
            </a:r>
          </a:p>
          <a:p>
            <a:pPr marL="228600" indent="-228600"/>
            <a:r>
              <a:rPr lang="en-US" sz="2000"/>
              <a:t>       2-dim. points	         2-dim. lines	         2-dim. polygons</a:t>
            </a:r>
          </a:p>
        </p:txBody>
      </p:sp>
      <p:grpSp>
        <p:nvGrpSpPr>
          <p:cNvPr id="326672" name="Group 16"/>
          <p:cNvGrpSpPr>
            <a:grpSpLocks/>
          </p:cNvGrpSpPr>
          <p:nvPr/>
        </p:nvGrpSpPr>
        <p:grpSpPr bwMode="auto">
          <a:xfrm>
            <a:off x="6629400" y="4800600"/>
            <a:ext cx="1752600" cy="1752600"/>
            <a:chOff x="3744" y="3024"/>
            <a:chExt cx="1104" cy="1104"/>
          </a:xfrm>
        </p:grpSpPr>
        <p:sp>
          <p:nvSpPr>
            <p:cNvPr id="326662" name="Freeform 6"/>
            <p:cNvSpPr>
              <a:spLocks/>
            </p:cNvSpPr>
            <p:nvPr/>
          </p:nvSpPr>
          <p:spPr bwMode="auto">
            <a:xfrm>
              <a:off x="3744" y="3024"/>
              <a:ext cx="1104" cy="1104"/>
            </a:xfrm>
            <a:custGeom>
              <a:avLst/>
              <a:gdLst/>
              <a:ahLst/>
              <a:cxnLst>
                <a:cxn ang="0">
                  <a:pos x="1104" y="0"/>
                </a:cxn>
                <a:cxn ang="0">
                  <a:pos x="864" y="672"/>
                </a:cxn>
                <a:cxn ang="0">
                  <a:pos x="1008" y="1056"/>
                </a:cxn>
                <a:cxn ang="0">
                  <a:pos x="480" y="1104"/>
                </a:cxn>
                <a:cxn ang="0">
                  <a:pos x="96" y="672"/>
                </a:cxn>
                <a:cxn ang="0">
                  <a:pos x="0" y="672"/>
                </a:cxn>
                <a:cxn ang="0">
                  <a:pos x="480" y="96"/>
                </a:cxn>
                <a:cxn ang="0">
                  <a:pos x="1104" y="0"/>
                </a:cxn>
              </a:cxnLst>
              <a:rect l="0" t="0" r="r" b="b"/>
              <a:pathLst>
                <a:path w="1104" h="1104">
                  <a:moveTo>
                    <a:pt x="1104" y="0"/>
                  </a:moveTo>
                  <a:lnTo>
                    <a:pt x="864" y="672"/>
                  </a:lnTo>
                  <a:lnTo>
                    <a:pt x="1008" y="1056"/>
                  </a:lnTo>
                  <a:lnTo>
                    <a:pt x="480" y="1104"/>
                  </a:lnTo>
                  <a:lnTo>
                    <a:pt x="96" y="672"/>
                  </a:lnTo>
                  <a:lnTo>
                    <a:pt x="0" y="672"/>
                  </a:lnTo>
                  <a:lnTo>
                    <a:pt x="480" y="96"/>
                  </a:lnTo>
                  <a:lnTo>
                    <a:pt x="1104" y="0"/>
                  </a:lnTo>
                  <a:close/>
                </a:path>
              </a:pathLst>
            </a:custGeom>
            <a:solidFill>
              <a:schemeClr val="accent1"/>
            </a:solidFill>
            <a:ln w="25400" cap="flat" cmpd="sng">
              <a:solidFill>
                <a:schemeClr val="tx2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26664" name="Line 8"/>
            <p:cNvSpPr>
              <a:spLocks noChangeShapeType="1"/>
            </p:cNvSpPr>
            <p:nvPr/>
          </p:nvSpPr>
          <p:spPr bwMode="auto">
            <a:xfrm flipH="1" flipV="1">
              <a:off x="4272" y="3552"/>
              <a:ext cx="336" cy="144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26665" name="Line 9"/>
            <p:cNvSpPr>
              <a:spLocks noChangeShapeType="1"/>
            </p:cNvSpPr>
            <p:nvPr/>
          </p:nvSpPr>
          <p:spPr bwMode="auto">
            <a:xfrm flipH="1">
              <a:off x="4008" y="3536"/>
              <a:ext cx="288" cy="336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26666" name="Line 10"/>
            <p:cNvSpPr>
              <a:spLocks noChangeShapeType="1"/>
            </p:cNvSpPr>
            <p:nvPr/>
          </p:nvSpPr>
          <p:spPr bwMode="auto">
            <a:xfrm flipV="1">
              <a:off x="4280" y="3088"/>
              <a:ext cx="144" cy="48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326669" name="Freeform 13"/>
          <p:cNvSpPr>
            <a:spLocks/>
          </p:cNvSpPr>
          <p:nvPr/>
        </p:nvSpPr>
        <p:spPr bwMode="auto">
          <a:xfrm>
            <a:off x="4114800" y="4876800"/>
            <a:ext cx="1828800" cy="14478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384" y="240"/>
              </a:cxn>
              <a:cxn ang="0">
                <a:pos x="576" y="480"/>
              </a:cxn>
              <a:cxn ang="0">
                <a:pos x="624" y="624"/>
              </a:cxn>
              <a:cxn ang="0">
                <a:pos x="768" y="768"/>
              </a:cxn>
              <a:cxn ang="0">
                <a:pos x="1008" y="912"/>
              </a:cxn>
              <a:cxn ang="0">
                <a:pos x="1152" y="912"/>
              </a:cxn>
            </a:cxnLst>
            <a:rect l="0" t="0" r="r" b="b"/>
            <a:pathLst>
              <a:path w="1152" h="912">
                <a:moveTo>
                  <a:pt x="0" y="0"/>
                </a:moveTo>
                <a:lnTo>
                  <a:pt x="384" y="240"/>
                </a:lnTo>
                <a:lnTo>
                  <a:pt x="576" y="480"/>
                </a:lnTo>
                <a:lnTo>
                  <a:pt x="624" y="624"/>
                </a:lnTo>
                <a:lnTo>
                  <a:pt x="768" y="768"/>
                </a:lnTo>
                <a:lnTo>
                  <a:pt x="1008" y="912"/>
                </a:lnTo>
                <a:lnTo>
                  <a:pt x="1152" y="912"/>
                </a:lnTo>
              </a:path>
            </a:pathLst>
          </a:custGeom>
          <a:noFill/>
          <a:ln w="25400" cap="flat" cmpd="sng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26670" name="Freeform 14"/>
          <p:cNvSpPr>
            <a:spLocks/>
          </p:cNvSpPr>
          <p:nvPr/>
        </p:nvSpPr>
        <p:spPr bwMode="auto">
          <a:xfrm>
            <a:off x="3962400" y="5410200"/>
            <a:ext cx="1841500" cy="5080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480" y="192"/>
              </a:cxn>
              <a:cxn ang="0">
                <a:pos x="768" y="192"/>
              </a:cxn>
              <a:cxn ang="0">
                <a:pos x="1008" y="200"/>
              </a:cxn>
              <a:cxn ang="0">
                <a:pos x="1080" y="248"/>
              </a:cxn>
              <a:cxn ang="0">
                <a:pos x="1104" y="264"/>
              </a:cxn>
              <a:cxn ang="0">
                <a:pos x="1160" y="320"/>
              </a:cxn>
            </a:cxnLst>
            <a:rect l="0" t="0" r="r" b="b"/>
            <a:pathLst>
              <a:path w="1160" h="320">
                <a:moveTo>
                  <a:pt x="0" y="0"/>
                </a:moveTo>
                <a:lnTo>
                  <a:pt x="480" y="192"/>
                </a:lnTo>
                <a:lnTo>
                  <a:pt x="768" y="192"/>
                </a:lnTo>
                <a:cubicBezTo>
                  <a:pt x="848" y="195"/>
                  <a:pt x="929" y="189"/>
                  <a:pt x="1008" y="200"/>
                </a:cubicBezTo>
                <a:cubicBezTo>
                  <a:pt x="1037" y="204"/>
                  <a:pt x="1056" y="232"/>
                  <a:pt x="1080" y="248"/>
                </a:cubicBezTo>
                <a:cubicBezTo>
                  <a:pt x="1088" y="253"/>
                  <a:pt x="1104" y="264"/>
                  <a:pt x="1104" y="264"/>
                </a:cubicBezTo>
                <a:cubicBezTo>
                  <a:pt x="1120" y="288"/>
                  <a:pt x="1134" y="307"/>
                  <a:pt x="1160" y="320"/>
                </a:cubicBezTo>
              </a:path>
            </a:pathLst>
          </a:custGeom>
          <a:noFill/>
          <a:ln w="25400" cap="flat" cmpd="sng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endParaRPr lang="en-US"/>
          </a:p>
        </p:txBody>
      </p:sp>
      <p:pic>
        <p:nvPicPr>
          <p:cNvPr id="326671" name="Picture 15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38200" y="4791075"/>
            <a:ext cx="2057400" cy="160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26673" name="Text Box 17"/>
          <p:cNvSpPr txBox="1">
            <a:spLocks noChangeArrowheads="1"/>
          </p:cNvSpPr>
          <p:nvPr/>
        </p:nvSpPr>
        <p:spPr bwMode="auto">
          <a:xfrm>
            <a:off x="6824663" y="5486400"/>
            <a:ext cx="7048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 b="1">
                <a:solidFill>
                  <a:schemeClr val="tx2"/>
                </a:solidFill>
              </a:rPr>
              <a:t>Water</a:t>
            </a:r>
          </a:p>
        </p:txBody>
      </p:sp>
      <p:sp>
        <p:nvSpPr>
          <p:cNvPr id="326674" name="Text Box 18"/>
          <p:cNvSpPr txBox="1">
            <a:spLocks noChangeArrowheads="1"/>
          </p:cNvSpPr>
          <p:nvPr/>
        </p:nvSpPr>
        <p:spPr bwMode="auto">
          <a:xfrm>
            <a:off x="7239000" y="6019800"/>
            <a:ext cx="81438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 b="1">
                <a:solidFill>
                  <a:schemeClr val="tx2"/>
                </a:solidFill>
              </a:rPr>
              <a:t>Forest</a:t>
            </a:r>
          </a:p>
        </p:txBody>
      </p:sp>
      <p:sp>
        <p:nvSpPr>
          <p:cNvPr id="326675" name="Text Box 19"/>
          <p:cNvSpPr txBox="1">
            <a:spLocks noChangeArrowheads="1"/>
          </p:cNvSpPr>
          <p:nvPr/>
        </p:nvSpPr>
        <p:spPr bwMode="auto">
          <a:xfrm>
            <a:off x="7581900" y="5181600"/>
            <a:ext cx="6477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 b="1">
                <a:solidFill>
                  <a:schemeClr val="tx2"/>
                </a:solidFill>
              </a:rPr>
              <a:t>Crop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82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609600" y="533400"/>
            <a:ext cx="8534400" cy="762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Spatial Query Processing</a:t>
            </a:r>
          </a:p>
        </p:txBody>
      </p:sp>
      <p:sp>
        <p:nvSpPr>
          <p:cNvPr id="32768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9600" y="1295400"/>
            <a:ext cx="8458200" cy="5181600"/>
          </a:xfrm>
          <a:noFill/>
          <a:ln/>
        </p:spPr>
        <p:txBody>
          <a:bodyPr/>
          <a:lstStyle/>
          <a:p>
            <a:pPr marL="228600" indent="-228600">
              <a:buFont typeface="Wingdings" pitchFamily="2" charset="2"/>
              <a:buChar char="n"/>
            </a:pPr>
            <a:r>
              <a:rPr lang="en-US" sz="2800"/>
              <a:t> DBMS has to support two types of operations</a:t>
            </a:r>
          </a:p>
          <a:p>
            <a:pPr marL="749300" lvl="1" indent="-177800"/>
            <a:r>
              <a:rPr lang="en-US" sz="2400"/>
              <a:t> Operations to retrieve certain subsets of spatial object from the database</a:t>
            </a:r>
          </a:p>
          <a:p>
            <a:pPr marL="1790700" lvl="2" indent="-457200"/>
            <a:r>
              <a:rPr lang="en-US" sz="2000"/>
              <a:t>“Spatial Queries/Selections”, e.g., window query, point query, etc.</a:t>
            </a:r>
          </a:p>
          <a:p>
            <a:pPr marL="749300" lvl="1" indent="-177800"/>
            <a:r>
              <a:rPr lang="en-US" sz="2400"/>
              <a:t> Operations that perform basic geometric computations and tests</a:t>
            </a:r>
          </a:p>
          <a:p>
            <a:pPr marL="1790700" lvl="2" indent="-457200"/>
            <a:r>
              <a:rPr lang="en-US" sz="2000"/>
              <a:t>E.g., point in polygon test, intersection of two polygons etc.</a:t>
            </a:r>
          </a:p>
          <a:p>
            <a:pPr marL="228600" indent="-228600">
              <a:buFont typeface="Wingdings" pitchFamily="2" charset="2"/>
              <a:buChar char="n"/>
            </a:pPr>
            <a:r>
              <a:rPr lang="en-US" sz="2800"/>
              <a:t> Spatial selections, e.g. in geographic information systems, are often supported by an interactive graphical user interface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706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609600" y="533400"/>
            <a:ext cx="8534400" cy="762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Basic Spatial Queries</a:t>
            </a:r>
          </a:p>
        </p:txBody>
      </p:sp>
      <p:sp>
        <p:nvSpPr>
          <p:cNvPr id="32870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1181100"/>
            <a:ext cx="4762500" cy="5181600"/>
          </a:xfrm>
          <a:noFill/>
          <a:ln/>
        </p:spPr>
        <p:txBody>
          <a:bodyPr/>
          <a:lstStyle/>
          <a:p>
            <a:pPr marL="228600" indent="-228600">
              <a:buFont typeface="Wingdings" pitchFamily="2" charset="2"/>
              <a:buChar char="n"/>
            </a:pPr>
            <a:r>
              <a:rPr lang="en-US" sz="2200"/>
              <a:t> </a:t>
            </a:r>
            <a:r>
              <a:rPr lang="en-US" sz="2200" b="1" i="1" u="sng"/>
              <a:t>Containment Query</a:t>
            </a:r>
            <a:r>
              <a:rPr lang="en-US" sz="2200"/>
              <a:t>: Given a spatial object R, find all objects that completely contain R. If R is a point: </a:t>
            </a:r>
            <a:r>
              <a:rPr lang="en-US" sz="2200" b="1" i="1" u="sng"/>
              <a:t>Point Query</a:t>
            </a:r>
          </a:p>
          <a:p>
            <a:pPr marL="228600" indent="-228600">
              <a:buFont typeface="Wingdings" pitchFamily="2" charset="2"/>
              <a:buChar char="n"/>
            </a:pPr>
            <a:r>
              <a:rPr lang="en-US" sz="2200"/>
              <a:t> </a:t>
            </a:r>
            <a:r>
              <a:rPr lang="en-US" sz="2200" b="1" i="1" u="sng"/>
              <a:t>Region Query</a:t>
            </a:r>
            <a:r>
              <a:rPr lang="en-US" sz="2200"/>
              <a:t>: Given a region R (polygon or circle), find all spatial objects that intersect with R. If R is a rectangle: </a:t>
            </a:r>
            <a:r>
              <a:rPr lang="en-US" sz="2200" b="1" i="1" u="sng"/>
              <a:t>Window Query</a:t>
            </a:r>
          </a:p>
          <a:p>
            <a:pPr marL="228600" indent="-228600">
              <a:buFont typeface="Wingdings" pitchFamily="2" charset="2"/>
              <a:buChar char="n"/>
            </a:pPr>
            <a:r>
              <a:rPr lang="en-US" sz="2200"/>
              <a:t> </a:t>
            </a:r>
            <a:r>
              <a:rPr lang="en-US" sz="2200" b="1" i="1" u="sng"/>
              <a:t>Enclosure Query</a:t>
            </a:r>
            <a:r>
              <a:rPr lang="en-US" sz="2200"/>
              <a:t>: Given a polygon region R, find all objects that are completely contained in R</a:t>
            </a:r>
          </a:p>
          <a:p>
            <a:pPr marL="228600" indent="-228600">
              <a:buFont typeface="Wingdings" pitchFamily="2" charset="2"/>
              <a:buChar char="n"/>
            </a:pPr>
            <a:r>
              <a:rPr lang="en-US" sz="2200"/>
              <a:t> </a:t>
            </a:r>
            <a:r>
              <a:rPr lang="en-US" sz="2200" b="1" i="1" u="sng"/>
              <a:t>K-Nearest Neighbor Query</a:t>
            </a:r>
            <a:r>
              <a:rPr lang="en-US" sz="2200"/>
              <a:t>: Given an object P, find the k objects that are closest to P (typically for points)</a:t>
            </a:r>
          </a:p>
        </p:txBody>
      </p:sp>
      <p:graphicFrame>
        <p:nvGraphicFramePr>
          <p:cNvPr id="328709" name="Object 5"/>
          <p:cNvGraphicFramePr>
            <a:graphicFrameLocks noChangeAspect="1"/>
          </p:cNvGraphicFramePr>
          <p:nvPr/>
        </p:nvGraphicFramePr>
        <p:xfrm>
          <a:off x="5105400" y="533400"/>
          <a:ext cx="3886200" cy="559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3885714" imgH="5590476" progId="Paint.Picture">
                  <p:embed/>
                </p:oleObj>
              </mc:Choice>
              <mc:Fallback>
                <p:oleObj name="Bitmap Image" r:id="rId2" imgW="3885714" imgH="5590476" progId="Paint.Picture">
                  <p:embed/>
                  <p:pic>
                    <p:nvPicPr>
                      <p:cNvPr id="32870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clrChange>
                          <a:clrFrom>
                            <a:srgbClr val="80FFFF"/>
                          </a:clrFrom>
                          <a:clrTo>
                            <a:srgbClr val="80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533400"/>
                        <a:ext cx="3886200" cy="559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8710" name="Text Box 6"/>
          <p:cNvSpPr txBox="1">
            <a:spLocks noChangeArrowheads="1"/>
          </p:cNvSpPr>
          <p:nvPr/>
        </p:nvSpPr>
        <p:spPr bwMode="auto">
          <a:xfrm>
            <a:off x="4800600" y="2103438"/>
            <a:ext cx="2438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1" i="1">
                <a:solidFill>
                  <a:schemeClr val="hlink"/>
                </a:solidFill>
                <a:latin typeface="Book Antiqua" pitchFamily="18" charset="0"/>
              </a:rPr>
              <a:t>Containment Query</a:t>
            </a:r>
          </a:p>
        </p:txBody>
      </p:sp>
      <p:sp>
        <p:nvSpPr>
          <p:cNvPr id="328712" name="Text Box 8"/>
          <p:cNvSpPr txBox="1">
            <a:spLocks noChangeArrowheads="1"/>
          </p:cNvSpPr>
          <p:nvPr/>
        </p:nvSpPr>
        <p:spPr bwMode="auto">
          <a:xfrm>
            <a:off x="7404100" y="2105025"/>
            <a:ext cx="15875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1" i="1">
                <a:solidFill>
                  <a:schemeClr val="hlink"/>
                </a:solidFill>
                <a:latin typeface="Book Antiqua" pitchFamily="18" charset="0"/>
              </a:rPr>
              <a:t>Point Query</a:t>
            </a:r>
          </a:p>
        </p:txBody>
      </p:sp>
      <p:sp>
        <p:nvSpPr>
          <p:cNvPr id="328713" name="Text Box 9"/>
          <p:cNvSpPr txBox="1">
            <a:spLocks noChangeArrowheads="1"/>
          </p:cNvSpPr>
          <p:nvPr/>
        </p:nvSpPr>
        <p:spPr bwMode="auto">
          <a:xfrm>
            <a:off x="5016500" y="4098925"/>
            <a:ext cx="17430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1" i="1">
                <a:solidFill>
                  <a:schemeClr val="hlink"/>
                </a:solidFill>
                <a:latin typeface="Book Antiqua" pitchFamily="18" charset="0"/>
              </a:rPr>
              <a:t>Region Query</a:t>
            </a:r>
          </a:p>
        </p:txBody>
      </p:sp>
      <p:sp>
        <p:nvSpPr>
          <p:cNvPr id="328714" name="Text Box 10"/>
          <p:cNvSpPr txBox="1">
            <a:spLocks noChangeArrowheads="1"/>
          </p:cNvSpPr>
          <p:nvPr/>
        </p:nvSpPr>
        <p:spPr bwMode="auto">
          <a:xfrm>
            <a:off x="7226300" y="4137025"/>
            <a:ext cx="19256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1" i="1">
                <a:solidFill>
                  <a:schemeClr val="hlink"/>
                </a:solidFill>
                <a:latin typeface="Book Antiqua" pitchFamily="18" charset="0"/>
              </a:rPr>
              <a:t>Window Query</a:t>
            </a:r>
          </a:p>
        </p:txBody>
      </p:sp>
      <p:sp>
        <p:nvSpPr>
          <p:cNvPr id="328715" name="Text Box 11"/>
          <p:cNvSpPr txBox="1">
            <a:spLocks noChangeArrowheads="1"/>
          </p:cNvSpPr>
          <p:nvPr/>
        </p:nvSpPr>
        <p:spPr bwMode="auto">
          <a:xfrm>
            <a:off x="7467600" y="6156325"/>
            <a:ext cx="14605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1" i="1">
                <a:solidFill>
                  <a:schemeClr val="hlink"/>
                </a:solidFill>
                <a:latin typeface="Book Antiqua" pitchFamily="18" charset="0"/>
              </a:rPr>
              <a:t>2-nn Query</a:t>
            </a:r>
          </a:p>
        </p:txBody>
      </p:sp>
      <p:sp>
        <p:nvSpPr>
          <p:cNvPr id="328716" name="Text Box 12"/>
          <p:cNvSpPr txBox="1">
            <a:spLocks noChangeArrowheads="1"/>
          </p:cNvSpPr>
          <p:nvPr/>
        </p:nvSpPr>
        <p:spPr bwMode="auto">
          <a:xfrm>
            <a:off x="4953000" y="6156325"/>
            <a:ext cx="20526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1" i="1">
                <a:solidFill>
                  <a:schemeClr val="hlink"/>
                </a:solidFill>
                <a:latin typeface="Book Antiqua" pitchFamily="18" charset="0"/>
              </a:rPr>
              <a:t>Enclosure Query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730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609600" y="533400"/>
            <a:ext cx="8534400" cy="762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Basic Spatial Queries - Spatial Join</a:t>
            </a:r>
          </a:p>
        </p:txBody>
      </p:sp>
      <p:sp>
        <p:nvSpPr>
          <p:cNvPr id="32973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9600" y="1155700"/>
            <a:ext cx="8458200" cy="5181600"/>
          </a:xfrm>
          <a:noFill/>
          <a:ln/>
        </p:spPr>
        <p:txBody>
          <a:bodyPr/>
          <a:lstStyle/>
          <a:p>
            <a:pPr marL="228600" indent="-228600">
              <a:lnSpc>
                <a:spcPct val="90000"/>
              </a:lnSpc>
              <a:buFont typeface="Wingdings" pitchFamily="2" charset="2"/>
              <a:buChar char="n"/>
            </a:pPr>
            <a:r>
              <a:rPr lang="en-US" sz="2400"/>
              <a:t> </a:t>
            </a:r>
            <a:r>
              <a:rPr lang="bg-BG" sz="2400"/>
              <a:t>Given two sets of spatial objects (typically minimum bounding rectangles)</a:t>
            </a:r>
          </a:p>
          <a:p>
            <a:pPr marL="228600" indent="-228600" algn="ctr">
              <a:lnSpc>
                <a:spcPct val="90000"/>
              </a:lnSpc>
            </a:pPr>
            <a:r>
              <a:rPr lang="bg-BG" sz="2400"/>
              <a:t>S</a:t>
            </a:r>
            <a:r>
              <a:rPr lang="bg-BG" sz="2400" baseline="-25000"/>
              <a:t>1</a:t>
            </a:r>
            <a:r>
              <a:rPr lang="bg-BG" sz="2400"/>
              <a:t> = {R</a:t>
            </a:r>
            <a:r>
              <a:rPr lang="bg-BG" sz="2400" baseline="-25000"/>
              <a:t>1</a:t>
            </a:r>
            <a:r>
              <a:rPr lang="bg-BG" sz="2400"/>
              <a:t>, R</a:t>
            </a:r>
            <a:r>
              <a:rPr lang="bg-BG" sz="2400" baseline="-25000"/>
              <a:t>2</a:t>
            </a:r>
            <a:r>
              <a:rPr lang="bg-BG" sz="2400"/>
              <a:t>, …, R</a:t>
            </a:r>
            <a:r>
              <a:rPr lang="bg-BG" sz="2400" baseline="-25000"/>
              <a:t>m</a:t>
            </a:r>
            <a:r>
              <a:rPr lang="bg-BG" sz="2400"/>
              <a:t>} and S</a:t>
            </a:r>
            <a:r>
              <a:rPr lang="bg-BG" sz="2400" baseline="-25000"/>
              <a:t>2</a:t>
            </a:r>
            <a:r>
              <a:rPr lang="bg-BG" sz="2400"/>
              <a:t> = {R’</a:t>
            </a:r>
            <a:r>
              <a:rPr lang="bg-BG" sz="2400" baseline="-25000"/>
              <a:t>1</a:t>
            </a:r>
            <a:r>
              <a:rPr lang="bg-BG" sz="2400"/>
              <a:t>, R’</a:t>
            </a:r>
            <a:r>
              <a:rPr lang="bg-BG" sz="2400" baseline="-25000"/>
              <a:t>2</a:t>
            </a:r>
            <a:r>
              <a:rPr lang="bg-BG" sz="2400"/>
              <a:t>, …, R’</a:t>
            </a:r>
            <a:r>
              <a:rPr lang="bg-BG" sz="2400" baseline="-25000"/>
              <a:t>n</a:t>
            </a:r>
            <a:r>
              <a:rPr lang="bg-BG" sz="2400"/>
              <a:t>}</a:t>
            </a:r>
          </a:p>
          <a:p>
            <a:pPr marL="228600" indent="-228600">
              <a:lnSpc>
                <a:spcPct val="90000"/>
              </a:lnSpc>
              <a:buFont typeface="Wingdings" pitchFamily="2" charset="2"/>
              <a:buChar char="n"/>
            </a:pPr>
            <a:r>
              <a:rPr lang="en-US" sz="2400"/>
              <a:t> </a:t>
            </a:r>
            <a:r>
              <a:rPr lang="bg-BG" sz="2400"/>
              <a:t>Spatial Join: Compute all pairs of objects (R, R’) such that</a:t>
            </a:r>
          </a:p>
          <a:p>
            <a:pPr marL="228600" indent="-228600" algn="ctr">
              <a:lnSpc>
                <a:spcPct val="90000"/>
              </a:lnSpc>
            </a:pPr>
            <a:r>
              <a:rPr lang="bg-BG" sz="2400"/>
              <a:t>R </a:t>
            </a:r>
            <a:r>
              <a:rPr lang="bg-BG" sz="2400">
                <a:sym typeface="Symbol" pitchFamily="18" charset="2"/>
              </a:rPr>
              <a:t></a:t>
            </a:r>
            <a:r>
              <a:rPr lang="bg-BG" sz="2400"/>
              <a:t> S</a:t>
            </a:r>
            <a:r>
              <a:rPr lang="bg-BG" sz="2400" baseline="-25000"/>
              <a:t>1</a:t>
            </a:r>
            <a:r>
              <a:rPr lang="bg-BG" sz="2400"/>
              <a:t>, R’ </a:t>
            </a:r>
            <a:r>
              <a:rPr lang="bg-BG" sz="2400">
                <a:sym typeface="Symbol" pitchFamily="18" charset="2"/>
              </a:rPr>
              <a:t></a:t>
            </a:r>
            <a:r>
              <a:rPr lang="bg-BG" sz="2400"/>
              <a:t> S</a:t>
            </a:r>
            <a:r>
              <a:rPr lang="bg-BG" sz="2400" baseline="-25000"/>
              <a:t>2</a:t>
            </a:r>
            <a:r>
              <a:rPr lang="en-US" sz="2400" baseline="-25000"/>
              <a:t> </a:t>
            </a:r>
            <a:r>
              <a:rPr lang="bg-BG" sz="2400"/>
              <a:t>and R intersects R’ (R ∩</a:t>
            </a:r>
            <a:r>
              <a:rPr lang="en-US" sz="2400"/>
              <a:t> </a:t>
            </a:r>
            <a:r>
              <a:rPr lang="bg-BG" sz="2400"/>
              <a:t>R’ </a:t>
            </a:r>
            <a:r>
              <a:rPr lang="bg-BG" sz="2400">
                <a:sym typeface="Symbol" pitchFamily="18" charset="2"/>
              </a:rPr>
              <a:t></a:t>
            </a:r>
            <a:r>
              <a:rPr lang="bg-BG" sz="2400"/>
              <a:t> </a:t>
            </a:r>
            <a:r>
              <a:rPr lang="bg-BG" sz="2400">
                <a:sym typeface="Symbol" pitchFamily="18" charset="2"/>
              </a:rPr>
              <a:t></a:t>
            </a:r>
            <a:r>
              <a:rPr lang="bg-BG" sz="2400"/>
              <a:t>)</a:t>
            </a:r>
          </a:p>
          <a:p>
            <a:pPr marL="228600" indent="-228600">
              <a:lnSpc>
                <a:spcPct val="90000"/>
              </a:lnSpc>
              <a:buFont typeface="Wingdings" pitchFamily="2" charset="2"/>
              <a:buChar char="n"/>
            </a:pPr>
            <a:r>
              <a:rPr lang="bg-BG" sz="2400"/>
              <a:t> Spatial predicates other tha</a:t>
            </a:r>
            <a:r>
              <a:rPr lang="en-US" sz="2400"/>
              <a:t>n</a:t>
            </a:r>
            <a:r>
              <a:rPr lang="bg-BG" sz="2400"/>
              <a:t> intersection are also possible, e.g. all pairs of</a:t>
            </a:r>
            <a:r>
              <a:rPr lang="en-US" sz="2400"/>
              <a:t> </a:t>
            </a:r>
            <a:r>
              <a:rPr lang="bg-BG" sz="2400"/>
              <a:t>objects that are within a certain distance from each othe</a:t>
            </a:r>
            <a:r>
              <a:rPr lang="en-US" sz="2400"/>
              <a:t>r</a:t>
            </a:r>
          </a:p>
          <a:p>
            <a:pPr marL="228600" indent="-228600">
              <a:lnSpc>
                <a:spcPct val="90000"/>
              </a:lnSpc>
              <a:buFont typeface="Wingdings" pitchFamily="2" charset="2"/>
              <a:buChar char="n"/>
            </a:pPr>
            <a:endParaRPr lang="en-US" sz="2400"/>
          </a:p>
          <a:p>
            <a:pPr marL="228600" indent="-228600">
              <a:lnSpc>
                <a:spcPct val="90000"/>
              </a:lnSpc>
              <a:buFont typeface="Wingdings" pitchFamily="2" charset="2"/>
              <a:buChar char="n"/>
            </a:pPr>
            <a:endParaRPr lang="en-US" sz="2400"/>
          </a:p>
          <a:p>
            <a:pPr marL="228600" indent="-228600">
              <a:lnSpc>
                <a:spcPct val="90000"/>
              </a:lnSpc>
            </a:pPr>
            <a:r>
              <a:rPr lang="en-US" sz="2400"/>
              <a:t>    {A</a:t>
            </a:r>
            <a:r>
              <a:rPr lang="en-US" sz="2400" baseline="-25000"/>
              <a:t>1</a:t>
            </a:r>
            <a:r>
              <a:rPr lang="en-US" sz="2400"/>
              <a:t>, A</a:t>
            </a:r>
            <a:r>
              <a:rPr lang="en-US" sz="2400" baseline="-25000"/>
              <a:t>2</a:t>
            </a:r>
            <a:r>
              <a:rPr lang="en-US" sz="2400"/>
              <a:t>,.., A</a:t>
            </a:r>
            <a:r>
              <a:rPr lang="en-US" sz="2400" baseline="-25000"/>
              <a:t>6</a:t>
            </a:r>
            <a:r>
              <a:rPr lang="en-US" sz="2400"/>
              <a:t>} </a:t>
            </a:r>
            <a:r>
              <a:rPr lang="en-US" sz="2400">
                <a:sym typeface="Symbol" pitchFamily="18" charset="2"/>
              </a:rPr>
              <a:t> {B</a:t>
            </a:r>
            <a:r>
              <a:rPr lang="en-US" sz="2400" baseline="-25000">
                <a:sym typeface="Symbol" pitchFamily="18" charset="2"/>
              </a:rPr>
              <a:t>1</a:t>
            </a:r>
            <a:r>
              <a:rPr lang="en-US" sz="2400">
                <a:sym typeface="Symbol" pitchFamily="18" charset="2"/>
              </a:rPr>
              <a:t>,…,B</a:t>
            </a:r>
            <a:r>
              <a:rPr lang="en-US" sz="2400" baseline="-25000">
                <a:sym typeface="Symbol" pitchFamily="18" charset="2"/>
              </a:rPr>
              <a:t>3</a:t>
            </a:r>
            <a:r>
              <a:rPr lang="en-US" sz="2400">
                <a:sym typeface="Symbol" pitchFamily="18" charset="2"/>
              </a:rPr>
              <a:t>}</a:t>
            </a:r>
          </a:p>
        </p:txBody>
      </p:sp>
      <p:pic>
        <p:nvPicPr>
          <p:cNvPr id="329732" name="Picture 4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572000" y="3862388"/>
            <a:ext cx="2533650" cy="2538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29733" name="Rectangle 5"/>
          <p:cNvSpPr>
            <a:spLocks noChangeArrowheads="1"/>
          </p:cNvSpPr>
          <p:nvPr/>
        </p:nvSpPr>
        <p:spPr bwMode="auto">
          <a:xfrm>
            <a:off x="5130800" y="6399213"/>
            <a:ext cx="1612900" cy="420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</a:pPr>
            <a:r>
              <a:rPr lang="en-US" i="1" dirty="0">
                <a:solidFill>
                  <a:schemeClr val="tx2"/>
                </a:solidFill>
                <a:latin typeface="Book Antiqua" pitchFamily="18" charset="0"/>
              </a:rPr>
              <a:t>Spatial Join</a:t>
            </a:r>
            <a:endParaRPr lang="en-US" i="1" dirty="0">
              <a:solidFill>
                <a:schemeClr val="tx2"/>
              </a:solidFill>
              <a:latin typeface="Book Antiqua" pitchFamily="18" charset="0"/>
              <a:sym typeface="Symbol" pitchFamily="18" charset="2"/>
            </a:endParaRPr>
          </a:p>
        </p:txBody>
      </p:sp>
      <p:sp>
        <p:nvSpPr>
          <p:cNvPr id="329734" name="Rectangle 6"/>
          <p:cNvSpPr>
            <a:spLocks noChangeArrowheads="1"/>
          </p:cNvSpPr>
          <p:nvPr/>
        </p:nvSpPr>
        <p:spPr bwMode="auto">
          <a:xfrm>
            <a:off x="7340600" y="3971925"/>
            <a:ext cx="1568450" cy="242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</a:pPr>
            <a:r>
              <a:rPr lang="en-US" i="1">
                <a:solidFill>
                  <a:schemeClr val="tx2"/>
                </a:solidFill>
                <a:latin typeface="Book Antiqua" pitchFamily="18" charset="0"/>
              </a:rPr>
              <a:t>Answer set</a:t>
            </a:r>
          </a:p>
          <a:p>
            <a:pPr algn="ctr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</a:pP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(A</a:t>
            </a:r>
            <a:r>
              <a:rPr lang="en-US" baseline="-25000">
                <a:solidFill>
                  <a:schemeClr val="tx2"/>
                </a:solidFill>
                <a:latin typeface="Book Antiqua" pitchFamily="18" charset="0"/>
              </a:rPr>
              <a:t>5</a:t>
            </a: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, B</a:t>
            </a:r>
            <a:r>
              <a:rPr lang="en-US" baseline="-25000">
                <a:solidFill>
                  <a:schemeClr val="tx2"/>
                </a:solidFill>
                <a:latin typeface="Book Antiqua" pitchFamily="18" charset="0"/>
              </a:rPr>
              <a:t>1</a:t>
            </a: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)</a:t>
            </a:r>
          </a:p>
          <a:p>
            <a:pPr algn="ctr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</a:pP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(A</a:t>
            </a:r>
            <a:r>
              <a:rPr lang="en-US" baseline="-25000">
                <a:solidFill>
                  <a:schemeClr val="tx2"/>
                </a:solidFill>
                <a:latin typeface="Book Antiqua" pitchFamily="18" charset="0"/>
              </a:rPr>
              <a:t>4</a:t>
            </a: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, B</a:t>
            </a:r>
            <a:r>
              <a:rPr lang="en-US" baseline="-25000">
                <a:solidFill>
                  <a:schemeClr val="tx2"/>
                </a:solidFill>
                <a:latin typeface="Book Antiqua" pitchFamily="18" charset="0"/>
              </a:rPr>
              <a:t>1</a:t>
            </a: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)</a:t>
            </a:r>
          </a:p>
          <a:p>
            <a:pPr algn="ctr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</a:pP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(A</a:t>
            </a:r>
            <a:r>
              <a:rPr lang="en-US" baseline="-25000">
                <a:solidFill>
                  <a:schemeClr val="tx2"/>
                </a:solidFill>
                <a:latin typeface="Book Antiqua" pitchFamily="18" charset="0"/>
              </a:rPr>
              <a:t>1</a:t>
            </a: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, B</a:t>
            </a:r>
            <a:r>
              <a:rPr lang="en-US" baseline="-25000">
                <a:solidFill>
                  <a:schemeClr val="tx2"/>
                </a:solidFill>
                <a:latin typeface="Book Antiqua" pitchFamily="18" charset="0"/>
              </a:rPr>
              <a:t>2</a:t>
            </a: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)</a:t>
            </a:r>
          </a:p>
          <a:p>
            <a:pPr algn="ctr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</a:pP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(A</a:t>
            </a:r>
            <a:r>
              <a:rPr lang="en-US" baseline="-25000">
                <a:solidFill>
                  <a:schemeClr val="tx2"/>
                </a:solidFill>
                <a:latin typeface="Book Antiqua" pitchFamily="18" charset="0"/>
              </a:rPr>
              <a:t>6</a:t>
            </a: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, B</a:t>
            </a:r>
            <a:r>
              <a:rPr lang="en-US" baseline="-25000">
                <a:solidFill>
                  <a:schemeClr val="tx2"/>
                </a:solidFill>
                <a:latin typeface="Book Antiqua" pitchFamily="18" charset="0"/>
              </a:rPr>
              <a:t>2</a:t>
            </a: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)</a:t>
            </a:r>
          </a:p>
          <a:p>
            <a:pPr algn="ctr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None/>
            </a:pP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(A</a:t>
            </a:r>
            <a:r>
              <a:rPr lang="en-US" baseline="-25000">
                <a:solidFill>
                  <a:schemeClr val="tx2"/>
                </a:solidFill>
                <a:latin typeface="Book Antiqua" pitchFamily="18" charset="0"/>
              </a:rPr>
              <a:t>2</a:t>
            </a: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, B</a:t>
            </a:r>
            <a:r>
              <a:rPr lang="en-US" baseline="-25000">
                <a:solidFill>
                  <a:schemeClr val="tx2"/>
                </a:solidFill>
                <a:latin typeface="Book Antiqua" pitchFamily="18" charset="0"/>
              </a:rPr>
              <a:t>3</a:t>
            </a: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754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609600" y="533400"/>
            <a:ext cx="8534400" cy="762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Index Support for Spatial Queries</a:t>
            </a:r>
            <a:endParaRPr lang="bg-BG"/>
          </a:p>
        </p:txBody>
      </p:sp>
      <p:sp>
        <p:nvSpPr>
          <p:cNvPr id="33075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9600" y="1168400"/>
            <a:ext cx="8458200" cy="5181600"/>
          </a:xfrm>
          <a:noFill/>
          <a:ln/>
        </p:spPr>
        <p:txBody>
          <a:bodyPr/>
          <a:lstStyle/>
          <a:p>
            <a:pPr marL="228600" indent="-228600">
              <a:buFont typeface="Wingdings" pitchFamily="2" charset="2"/>
              <a:buChar char="n"/>
            </a:pPr>
            <a:r>
              <a:rPr lang="en-US" sz="2800"/>
              <a:t> </a:t>
            </a:r>
            <a:r>
              <a:rPr lang="bg-BG" sz="2800"/>
              <a:t>Conventional index structures such as B-trees are not designed</a:t>
            </a:r>
            <a:r>
              <a:rPr lang="en-US" sz="2800"/>
              <a:t> </a:t>
            </a:r>
            <a:r>
              <a:rPr lang="bg-BG" sz="2800"/>
              <a:t>to support spatial queries</a:t>
            </a:r>
          </a:p>
          <a:p>
            <a:pPr marL="749300" lvl="1" indent="-177800"/>
            <a:r>
              <a:rPr lang="bg-BG" sz="2400"/>
              <a:t> Group objects only along one dimension</a:t>
            </a:r>
          </a:p>
          <a:p>
            <a:pPr marL="749300" lvl="1" indent="-177800"/>
            <a:r>
              <a:rPr lang="bg-BG" sz="2400"/>
              <a:t> Do not preserve spatial proximity</a:t>
            </a:r>
          </a:p>
          <a:p>
            <a:pPr marL="228600" indent="-228600">
              <a:buFont typeface="Wingdings" pitchFamily="2" charset="2"/>
              <a:buChar char="n"/>
            </a:pPr>
            <a:r>
              <a:rPr lang="en-US" sz="2800"/>
              <a:t> </a:t>
            </a:r>
            <a:r>
              <a:rPr lang="bg-BG" sz="2800"/>
              <a:t>E.g. nearest neighbor query:</a:t>
            </a:r>
          </a:p>
          <a:p>
            <a:pPr marL="228600" indent="-228600"/>
            <a:r>
              <a:rPr lang="en-US" sz="2800"/>
              <a:t>	</a:t>
            </a:r>
            <a:r>
              <a:rPr lang="bg-BG" sz="2800"/>
              <a:t>Nearest neighbor of Q is typically not the nearest neighbor in any single</a:t>
            </a:r>
            <a:r>
              <a:rPr lang="en-US" sz="2800"/>
              <a:t> </a:t>
            </a:r>
            <a:r>
              <a:rPr lang="bg-BG" sz="2800"/>
              <a:t>dimension</a:t>
            </a:r>
          </a:p>
        </p:txBody>
      </p:sp>
      <p:sp>
        <p:nvSpPr>
          <p:cNvPr id="330756" name="Line 4"/>
          <p:cNvSpPr>
            <a:spLocks noChangeShapeType="1"/>
          </p:cNvSpPr>
          <p:nvPr/>
        </p:nvSpPr>
        <p:spPr bwMode="auto">
          <a:xfrm flipV="1">
            <a:off x="1371600" y="4572000"/>
            <a:ext cx="0" cy="1828800"/>
          </a:xfrm>
          <a:prstGeom prst="line">
            <a:avLst/>
          </a:prstGeom>
          <a:noFill/>
          <a:ln w="25400">
            <a:solidFill>
              <a:schemeClr val="tx2"/>
            </a:solidFill>
            <a:miter lim="800000"/>
            <a:headEnd/>
            <a:tailEnd type="triangle" w="lg" len="lg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0757" name="Line 5"/>
          <p:cNvSpPr>
            <a:spLocks noChangeShapeType="1"/>
          </p:cNvSpPr>
          <p:nvPr/>
        </p:nvSpPr>
        <p:spPr bwMode="auto">
          <a:xfrm>
            <a:off x="1219200" y="6248400"/>
            <a:ext cx="3429000" cy="0"/>
          </a:xfrm>
          <a:prstGeom prst="line">
            <a:avLst/>
          </a:prstGeom>
          <a:noFill/>
          <a:ln w="25400">
            <a:solidFill>
              <a:schemeClr val="tx2"/>
            </a:solidFill>
            <a:miter lim="800000"/>
            <a:headEnd/>
            <a:tailEnd type="triangle" w="lg" len="lg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0758" name="Oval 6"/>
          <p:cNvSpPr>
            <a:spLocks noChangeArrowheads="1"/>
          </p:cNvSpPr>
          <p:nvPr/>
        </p:nvSpPr>
        <p:spPr bwMode="auto">
          <a:xfrm>
            <a:off x="1752600" y="5130800"/>
            <a:ext cx="76200" cy="76200"/>
          </a:xfrm>
          <a:prstGeom prst="ellipse">
            <a:avLst/>
          </a:prstGeom>
          <a:solidFill>
            <a:schemeClr val="hlink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0759" name="Text Box 7"/>
          <p:cNvSpPr txBox="1">
            <a:spLocks noChangeArrowheads="1"/>
          </p:cNvSpPr>
          <p:nvPr/>
        </p:nvSpPr>
        <p:spPr bwMode="auto">
          <a:xfrm>
            <a:off x="4419600" y="6172200"/>
            <a:ext cx="3159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>
                <a:solidFill>
                  <a:schemeClr val="tx2"/>
                </a:solidFill>
                <a:latin typeface="Book Antiqua" pitchFamily="18" charset="0"/>
              </a:rPr>
              <a:t>x</a:t>
            </a:r>
            <a:endParaRPr lang="bg-BG" sz="200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30760" name="Text Box 8"/>
          <p:cNvSpPr txBox="1">
            <a:spLocks noChangeArrowheads="1"/>
          </p:cNvSpPr>
          <p:nvPr/>
        </p:nvSpPr>
        <p:spPr bwMode="auto">
          <a:xfrm>
            <a:off x="1066800" y="4419600"/>
            <a:ext cx="3254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>
                <a:solidFill>
                  <a:schemeClr val="tx2"/>
                </a:solidFill>
                <a:latin typeface="Book Antiqua" pitchFamily="18" charset="0"/>
              </a:rPr>
              <a:t>y</a:t>
            </a:r>
            <a:endParaRPr lang="bg-BG" sz="200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30761" name="Text Box 9"/>
          <p:cNvSpPr txBox="1">
            <a:spLocks noChangeArrowheads="1"/>
          </p:cNvSpPr>
          <p:nvPr/>
        </p:nvSpPr>
        <p:spPr bwMode="auto">
          <a:xfrm>
            <a:off x="2514600" y="5486400"/>
            <a:ext cx="381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>
                <a:solidFill>
                  <a:schemeClr val="tx2"/>
                </a:solidFill>
                <a:latin typeface="Book Antiqua" pitchFamily="18" charset="0"/>
              </a:rPr>
              <a:t>A</a:t>
            </a:r>
            <a:endParaRPr lang="bg-BG" sz="200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30762" name="Text Box 10"/>
          <p:cNvSpPr txBox="1">
            <a:spLocks noChangeArrowheads="1"/>
          </p:cNvSpPr>
          <p:nvPr/>
        </p:nvSpPr>
        <p:spPr bwMode="auto">
          <a:xfrm>
            <a:off x="2841625" y="5813425"/>
            <a:ext cx="3397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>
                <a:solidFill>
                  <a:schemeClr val="tx2"/>
                </a:solidFill>
                <a:latin typeface="Book Antiqua" pitchFamily="18" charset="0"/>
              </a:rPr>
              <a:t>B</a:t>
            </a:r>
            <a:endParaRPr lang="bg-BG" sz="200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30763" name="Text Box 11"/>
          <p:cNvSpPr txBox="1">
            <a:spLocks noChangeArrowheads="1"/>
          </p:cNvSpPr>
          <p:nvPr/>
        </p:nvSpPr>
        <p:spPr bwMode="auto">
          <a:xfrm>
            <a:off x="2752725" y="4991100"/>
            <a:ext cx="3841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>
                <a:solidFill>
                  <a:schemeClr val="tx2"/>
                </a:solidFill>
                <a:latin typeface="Book Antiqua" pitchFamily="18" charset="0"/>
              </a:rPr>
              <a:t>Q</a:t>
            </a:r>
            <a:endParaRPr lang="bg-BG" sz="200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30764" name="Text Box 12"/>
          <p:cNvSpPr txBox="1">
            <a:spLocks noChangeArrowheads="1"/>
          </p:cNvSpPr>
          <p:nvPr/>
        </p:nvSpPr>
        <p:spPr bwMode="auto">
          <a:xfrm>
            <a:off x="1752600" y="4905375"/>
            <a:ext cx="3635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>
                <a:solidFill>
                  <a:schemeClr val="tx2"/>
                </a:solidFill>
                <a:latin typeface="Book Antiqua" pitchFamily="18" charset="0"/>
              </a:rPr>
              <a:t>C</a:t>
            </a:r>
            <a:endParaRPr lang="bg-BG" sz="200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30765" name="Text Box 13"/>
          <p:cNvSpPr txBox="1">
            <a:spLocks noChangeArrowheads="1"/>
          </p:cNvSpPr>
          <p:nvPr/>
        </p:nvSpPr>
        <p:spPr bwMode="auto">
          <a:xfrm>
            <a:off x="1828800" y="5229225"/>
            <a:ext cx="381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>
                <a:solidFill>
                  <a:schemeClr val="tx2"/>
                </a:solidFill>
                <a:latin typeface="Book Antiqua" pitchFamily="18" charset="0"/>
              </a:rPr>
              <a:t>D</a:t>
            </a:r>
            <a:endParaRPr lang="bg-BG" sz="200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30766" name="Text Box 14"/>
          <p:cNvSpPr txBox="1">
            <a:spLocks noChangeArrowheads="1"/>
          </p:cNvSpPr>
          <p:nvPr/>
        </p:nvSpPr>
        <p:spPr bwMode="auto">
          <a:xfrm>
            <a:off x="2171700" y="4581525"/>
            <a:ext cx="8477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>
                <a:solidFill>
                  <a:schemeClr val="tx2"/>
                </a:solidFill>
                <a:latin typeface="Book Antiqua" pitchFamily="18" charset="0"/>
              </a:rPr>
              <a:t>nn(Q)</a:t>
            </a:r>
            <a:endParaRPr lang="bg-BG" sz="200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30767" name="Oval 15"/>
          <p:cNvSpPr>
            <a:spLocks noChangeArrowheads="1"/>
          </p:cNvSpPr>
          <p:nvPr/>
        </p:nvSpPr>
        <p:spPr bwMode="auto">
          <a:xfrm>
            <a:off x="2844800" y="6019800"/>
            <a:ext cx="76200" cy="76200"/>
          </a:xfrm>
          <a:prstGeom prst="ellipse">
            <a:avLst/>
          </a:prstGeom>
          <a:solidFill>
            <a:schemeClr val="hlink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0768" name="Oval 16"/>
          <p:cNvSpPr>
            <a:spLocks noChangeArrowheads="1"/>
          </p:cNvSpPr>
          <p:nvPr/>
        </p:nvSpPr>
        <p:spPr bwMode="auto">
          <a:xfrm>
            <a:off x="2692400" y="5791200"/>
            <a:ext cx="76200" cy="76200"/>
          </a:xfrm>
          <a:prstGeom prst="ellipse">
            <a:avLst/>
          </a:prstGeom>
          <a:solidFill>
            <a:schemeClr val="hlink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0769" name="Oval 17"/>
          <p:cNvSpPr>
            <a:spLocks noChangeArrowheads="1"/>
          </p:cNvSpPr>
          <p:nvPr/>
        </p:nvSpPr>
        <p:spPr bwMode="auto">
          <a:xfrm>
            <a:off x="2057400" y="5943600"/>
            <a:ext cx="76200" cy="76200"/>
          </a:xfrm>
          <a:prstGeom prst="ellipse">
            <a:avLst/>
          </a:prstGeom>
          <a:solidFill>
            <a:schemeClr val="hlink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0770" name="Oval 18"/>
          <p:cNvSpPr>
            <a:spLocks noChangeArrowheads="1"/>
          </p:cNvSpPr>
          <p:nvPr/>
        </p:nvSpPr>
        <p:spPr bwMode="auto">
          <a:xfrm>
            <a:off x="1828800" y="5283200"/>
            <a:ext cx="76200" cy="76200"/>
          </a:xfrm>
          <a:prstGeom prst="ellipse">
            <a:avLst/>
          </a:prstGeom>
          <a:solidFill>
            <a:schemeClr val="hlink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0771" name="Oval 19"/>
          <p:cNvSpPr>
            <a:spLocks noChangeArrowheads="1"/>
          </p:cNvSpPr>
          <p:nvPr/>
        </p:nvSpPr>
        <p:spPr bwMode="auto">
          <a:xfrm>
            <a:off x="4038600" y="5486400"/>
            <a:ext cx="76200" cy="76200"/>
          </a:xfrm>
          <a:prstGeom prst="ellipse">
            <a:avLst/>
          </a:prstGeom>
          <a:solidFill>
            <a:schemeClr val="hlink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0772" name="Oval 20"/>
          <p:cNvSpPr>
            <a:spLocks noChangeArrowheads="1"/>
          </p:cNvSpPr>
          <p:nvPr/>
        </p:nvSpPr>
        <p:spPr bwMode="auto">
          <a:xfrm>
            <a:off x="3429000" y="4572000"/>
            <a:ext cx="76200" cy="76200"/>
          </a:xfrm>
          <a:prstGeom prst="ellipse">
            <a:avLst/>
          </a:prstGeom>
          <a:solidFill>
            <a:schemeClr val="hlink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0775" name="Oval 23"/>
          <p:cNvSpPr>
            <a:spLocks noChangeArrowheads="1"/>
          </p:cNvSpPr>
          <p:nvPr/>
        </p:nvSpPr>
        <p:spPr bwMode="auto">
          <a:xfrm>
            <a:off x="2743200" y="5181600"/>
            <a:ext cx="76200" cy="76200"/>
          </a:xfrm>
          <a:prstGeom prst="ellipse">
            <a:avLst/>
          </a:prstGeom>
          <a:solidFill>
            <a:schemeClr val="hlink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0776" name="Oval 24"/>
          <p:cNvSpPr>
            <a:spLocks noChangeArrowheads="1"/>
          </p:cNvSpPr>
          <p:nvPr/>
        </p:nvSpPr>
        <p:spPr bwMode="auto">
          <a:xfrm>
            <a:off x="2514600" y="4953000"/>
            <a:ext cx="76200" cy="76200"/>
          </a:xfrm>
          <a:prstGeom prst="ellipse">
            <a:avLst/>
          </a:prstGeom>
          <a:solidFill>
            <a:schemeClr val="hlink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0777" name="Line 25"/>
          <p:cNvSpPr>
            <a:spLocks noChangeShapeType="1"/>
          </p:cNvSpPr>
          <p:nvPr/>
        </p:nvSpPr>
        <p:spPr bwMode="auto">
          <a:xfrm>
            <a:off x="2781300" y="5257800"/>
            <a:ext cx="0" cy="990600"/>
          </a:xfrm>
          <a:prstGeom prst="line">
            <a:avLst/>
          </a:prstGeom>
          <a:noFill/>
          <a:ln w="9525">
            <a:solidFill>
              <a:schemeClr val="hlink"/>
            </a:solidFill>
            <a:prstDash val="sysDot"/>
            <a:miter lim="800000"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0781" name="Line 29"/>
          <p:cNvSpPr>
            <a:spLocks noChangeShapeType="1"/>
          </p:cNvSpPr>
          <p:nvPr/>
        </p:nvSpPr>
        <p:spPr bwMode="auto">
          <a:xfrm flipH="1">
            <a:off x="2552700" y="5029200"/>
            <a:ext cx="0" cy="1219200"/>
          </a:xfrm>
          <a:prstGeom prst="line">
            <a:avLst/>
          </a:prstGeom>
          <a:noFill/>
          <a:ln w="9525">
            <a:solidFill>
              <a:schemeClr val="hlink"/>
            </a:solidFill>
            <a:prstDash val="sysDot"/>
            <a:miter lim="800000"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0782" name="Line 30"/>
          <p:cNvSpPr>
            <a:spLocks noChangeShapeType="1"/>
          </p:cNvSpPr>
          <p:nvPr/>
        </p:nvSpPr>
        <p:spPr bwMode="auto">
          <a:xfrm rot="5400000" flipH="1">
            <a:off x="2057400" y="4543425"/>
            <a:ext cx="0" cy="1371600"/>
          </a:xfrm>
          <a:prstGeom prst="line">
            <a:avLst/>
          </a:prstGeom>
          <a:noFill/>
          <a:ln w="9525">
            <a:solidFill>
              <a:schemeClr val="hlink"/>
            </a:solidFill>
            <a:prstDash val="sysDot"/>
            <a:miter lim="800000"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0783" name="Line 31"/>
          <p:cNvSpPr>
            <a:spLocks noChangeShapeType="1"/>
          </p:cNvSpPr>
          <p:nvPr/>
        </p:nvSpPr>
        <p:spPr bwMode="auto">
          <a:xfrm rot="-5400000" flipH="1" flipV="1">
            <a:off x="1943100" y="4410075"/>
            <a:ext cx="0" cy="1143000"/>
          </a:xfrm>
          <a:prstGeom prst="line">
            <a:avLst/>
          </a:prstGeom>
          <a:noFill/>
          <a:ln w="9525">
            <a:solidFill>
              <a:schemeClr val="hlink"/>
            </a:solidFill>
            <a:prstDash val="sysDot"/>
            <a:miter lim="800000"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0784" name="Rectangle 32"/>
          <p:cNvSpPr>
            <a:spLocks noChangeArrowheads="1"/>
          </p:cNvSpPr>
          <p:nvPr/>
        </p:nvSpPr>
        <p:spPr bwMode="auto">
          <a:xfrm>
            <a:off x="4876800" y="5013325"/>
            <a:ext cx="42672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bg-BG" sz="2000">
                <a:solidFill>
                  <a:schemeClr val="tx2"/>
                </a:solidFill>
                <a:latin typeface="Book Antiqua" pitchFamily="18" charset="0"/>
              </a:rPr>
              <a:t>A and B closer in the X dimension;</a:t>
            </a:r>
          </a:p>
          <a:p>
            <a:r>
              <a:rPr lang="bg-BG" sz="2000">
                <a:solidFill>
                  <a:schemeClr val="tx2"/>
                </a:solidFill>
                <a:latin typeface="Book Antiqua" pitchFamily="18" charset="0"/>
              </a:rPr>
              <a:t>C and D closer in the Y dimension.</a:t>
            </a:r>
          </a:p>
        </p:txBody>
      </p:sp>
      <p:sp>
        <p:nvSpPr>
          <p:cNvPr id="330785" name="Line 33"/>
          <p:cNvSpPr>
            <a:spLocks noChangeShapeType="1"/>
          </p:cNvSpPr>
          <p:nvPr/>
        </p:nvSpPr>
        <p:spPr bwMode="auto">
          <a:xfrm flipH="1" flipV="1">
            <a:off x="2590800" y="5029200"/>
            <a:ext cx="152400" cy="152400"/>
          </a:xfrm>
          <a:prstGeom prst="line">
            <a:avLst/>
          </a:prstGeom>
          <a:noFill/>
          <a:ln w="19050">
            <a:solidFill>
              <a:schemeClr val="folHlink"/>
            </a:solidFill>
            <a:miter lim="800000"/>
            <a:headEnd/>
            <a:tailEnd type="triangle" w="med" len="lg"/>
          </a:ln>
          <a:effectLst/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78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609600" y="533400"/>
            <a:ext cx="8534400" cy="762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Index Support for Spatial Queries (cont)</a:t>
            </a:r>
            <a:endParaRPr lang="bg-BG"/>
          </a:p>
        </p:txBody>
      </p:sp>
      <p:sp>
        <p:nvSpPr>
          <p:cNvPr id="33177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9600" y="1171575"/>
            <a:ext cx="8458200" cy="5181600"/>
          </a:xfrm>
          <a:noFill/>
          <a:ln/>
        </p:spPr>
        <p:txBody>
          <a:bodyPr/>
          <a:lstStyle/>
          <a:p>
            <a:pPr marL="228600" indent="-228600">
              <a:lnSpc>
                <a:spcPct val="90000"/>
              </a:lnSpc>
              <a:buFont typeface="Wingdings" pitchFamily="2" charset="2"/>
              <a:buChar char="n"/>
            </a:pPr>
            <a:r>
              <a:rPr lang="en-US" sz="2400"/>
              <a:t> </a:t>
            </a:r>
            <a:r>
              <a:rPr lang="bg-BG" sz="2400"/>
              <a:t>Spatial index structures try to preserve spatial proximity</a:t>
            </a:r>
          </a:p>
          <a:p>
            <a:pPr marL="749300" lvl="1" indent="-177800">
              <a:lnSpc>
                <a:spcPct val="90000"/>
              </a:lnSpc>
            </a:pPr>
            <a:r>
              <a:rPr lang="bg-BG" sz="2400"/>
              <a:t> Group objects that are close to each other on the same data page</a:t>
            </a:r>
          </a:p>
          <a:p>
            <a:pPr marL="749300" lvl="1" indent="-177800">
              <a:lnSpc>
                <a:spcPct val="90000"/>
              </a:lnSpc>
            </a:pPr>
            <a:r>
              <a:rPr lang="bg-BG" sz="2400"/>
              <a:t> Problem: the number of bytes to store extended spatial objects</a:t>
            </a:r>
            <a:r>
              <a:rPr lang="en-US" sz="2400"/>
              <a:t> </a:t>
            </a:r>
            <a:r>
              <a:rPr lang="bg-BG" sz="2400"/>
              <a:t>(lines, polygons) varies</a:t>
            </a:r>
          </a:p>
          <a:p>
            <a:pPr marL="228600" indent="-228600">
              <a:lnSpc>
                <a:spcPct val="90000"/>
              </a:lnSpc>
              <a:buFont typeface="Wingdings" pitchFamily="2" charset="2"/>
              <a:buChar char="n"/>
            </a:pPr>
            <a:r>
              <a:rPr lang="en-US" sz="2400"/>
              <a:t> </a:t>
            </a:r>
            <a:r>
              <a:rPr lang="bg-BG" sz="2400"/>
              <a:t>Solution:</a:t>
            </a:r>
          </a:p>
          <a:p>
            <a:pPr marL="749300" lvl="1" indent="-177800">
              <a:lnSpc>
                <a:spcPct val="90000"/>
              </a:lnSpc>
            </a:pPr>
            <a:r>
              <a:rPr lang="en-US" sz="2400"/>
              <a:t> </a:t>
            </a:r>
            <a:r>
              <a:rPr lang="bg-BG" sz="2400"/>
              <a:t>Store </a:t>
            </a:r>
            <a:r>
              <a:rPr lang="bg-BG" sz="2400" b="1" i="1"/>
              <a:t>Approximations </a:t>
            </a:r>
            <a:r>
              <a:rPr lang="bg-BG" sz="2400"/>
              <a:t>of spatial objects in the index structure,</a:t>
            </a:r>
            <a:r>
              <a:rPr lang="en-US" sz="2400"/>
              <a:t> </a:t>
            </a:r>
            <a:r>
              <a:rPr lang="bg-BG" sz="2400"/>
              <a:t>typically axis-parallel minimum bounding rectangles (MBR)</a:t>
            </a:r>
          </a:p>
          <a:p>
            <a:pPr marL="749300" lvl="1" indent="-177800">
              <a:lnSpc>
                <a:spcPct val="90000"/>
              </a:lnSpc>
            </a:pPr>
            <a:r>
              <a:rPr lang="en-US" sz="2400"/>
              <a:t> </a:t>
            </a:r>
            <a:r>
              <a:rPr lang="bg-BG" sz="2400"/>
              <a:t>Exact object representation (ER) stored separately; pointers to ER in the index</a:t>
            </a:r>
          </a:p>
        </p:txBody>
      </p:sp>
      <p:sp>
        <p:nvSpPr>
          <p:cNvPr id="331781" name="AutoShape 5"/>
          <p:cNvSpPr>
            <a:spLocks noChangeArrowheads="1"/>
          </p:cNvSpPr>
          <p:nvPr/>
        </p:nvSpPr>
        <p:spPr bwMode="auto">
          <a:xfrm>
            <a:off x="5181600" y="4953000"/>
            <a:ext cx="2819400" cy="12192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1782" name="Rectangle 6"/>
          <p:cNvSpPr>
            <a:spLocks noChangeArrowheads="1"/>
          </p:cNvSpPr>
          <p:nvPr/>
        </p:nvSpPr>
        <p:spPr bwMode="auto">
          <a:xfrm>
            <a:off x="5181600" y="6400800"/>
            <a:ext cx="2743200" cy="22860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1783" name="Text Box 7"/>
          <p:cNvSpPr txBox="1">
            <a:spLocks noChangeArrowheads="1"/>
          </p:cNvSpPr>
          <p:nvPr/>
        </p:nvSpPr>
        <p:spPr bwMode="auto">
          <a:xfrm>
            <a:off x="5181600" y="5886450"/>
            <a:ext cx="2971800" cy="3048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1400">
                <a:solidFill>
                  <a:schemeClr val="tx2"/>
                </a:solidFill>
                <a:latin typeface="Book Antiqua" pitchFamily="18" charset="0"/>
              </a:rPr>
              <a:t>…(</a:t>
            </a:r>
            <a:r>
              <a:rPr lang="en-US" sz="1400" b="1">
                <a:solidFill>
                  <a:srgbClr val="FF0000"/>
                </a:solidFill>
                <a:latin typeface="Book Antiqua" pitchFamily="18" charset="0"/>
              </a:rPr>
              <a:t>MBR</a:t>
            </a:r>
            <a:r>
              <a:rPr lang="en-US" sz="1400">
                <a:solidFill>
                  <a:schemeClr val="tx2"/>
                </a:solidFill>
                <a:latin typeface="Book Antiqua" pitchFamily="18" charset="0"/>
              </a:rPr>
              <a:t>, ,…) (MBR, ,…)…</a:t>
            </a:r>
            <a:endParaRPr lang="bg-BG" sz="1400">
              <a:solidFill>
                <a:schemeClr val="tx2"/>
              </a:solidFill>
              <a:latin typeface="Book Antiqua" pitchFamily="18" charset="0"/>
            </a:endParaRPr>
          </a:p>
        </p:txBody>
      </p:sp>
      <p:pic>
        <p:nvPicPr>
          <p:cNvPr id="331784" name="Picture 8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C0C0C0"/>
              </a:clrFrom>
              <a:clrTo>
                <a:srgbClr val="C0C0C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381250" y="5238750"/>
            <a:ext cx="1657350" cy="1524000"/>
          </a:xfrm>
          <a:prstGeom prst="rect">
            <a:avLst/>
          </a:prstGeom>
          <a:noFill/>
        </p:spPr>
      </p:pic>
      <p:sp>
        <p:nvSpPr>
          <p:cNvPr id="331785" name="Line 9"/>
          <p:cNvSpPr>
            <a:spLocks noChangeShapeType="1"/>
          </p:cNvSpPr>
          <p:nvPr/>
        </p:nvSpPr>
        <p:spPr bwMode="auto">
          <a:xfrm>
            <a:off x="5715000" y="6400800"/>
            <a:ext cx="0" cy="228600"/>
          </a:xfrm>
          <a:prstGeom prst="line">
            <a:avLst/>
          </a:prstGeom>
          <a:noFill/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1786" name="Line 10"/>
          <p:cNvSpPr>
            <a:spLocks noChangeShapeType="1"/>
          </p:cNvSpPr>
          <p:nvPr/>
        </p:nvSpPr>
        <p:spPr bwMode="auto">
          <a:xfrm>
            <a:off x="6286500" y="6400800"/>
            <a:ext cx="0" cy="228600"/>
          </a:xfrm>
          <a:prstGeom prst="line">
            <a:avLst/>
          </a:prstGeom>
          <a:noFill/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1787" name="Text Box 11"/>
          <p:cNvSpPr txBox="1">
            <a:spLocks noChangeArrowheads="1"/>
          </p:cNvSpPr>
          <p:nvPr/>
        </p:nvSpPr>
        <p:spPr bwMode="auto">
          <a:xfrm>
            <a:off x="5699125" y="6362700"/>
            <a:ext cx="625475" cy="3048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1400">
                <a:solidFill>
                  <a:schemeClr val="tx2"/>
                </a:solidFill>
                <a:latin typeface="Book Antiqua" pitchFamily="18" charset="0"/>
              </a:rPr>
              <a:t>(</a:t>
            </a:r>
            <a:r>
              <a:rPr lang="en-US" sz="1400" b="1">
                <a:solidFill>
                  <a:schemeClr val="tx2"/>
                </a:solidFill>
                <a:latin typeface="Book Antiqua" pitchFamily="18" charset="0"/>
              </a:rPr>
              <a:t>ER</a:t>
            </a:r>
            <a:r>
              <a:rPr lang="en-US" sz="1400">
                <a:solidFill>
                  <a:schemeClr val="tx2"/>
                </a:solidFill>
                <a:latin typeface="Book Antiqua" pitchFamily="18" charset="0"/>
              </a:rPr>
              <a:t>)</a:t>
            </a:r>
            <a:endParaRPr lang="bg-BG" sz="140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31788" name="Line 12"/>
          <p:cNvSpPr>
            <a:spLocks noChangeShapeType="1"/>
          </p:cNvSpPr>
          <p:nvPr/>
        </p:nvSpPr>
        <p:spPr bwMode="auto">
          <a:xfrm flipH="1">
            <a:off x="6019800" y="6096000"/>
            <a:ext cx="76200" cy="30480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1789" name="Line 13"/>
          <p:cNvSpPr>
            <a:spLocks noChangeShapeType="1"/>
          </p:cNvSpPr>
          <p:nvPr/>
        </p:nvSpPr>
        <p:spPr bwMode="auto">
          <a:xfrm>
            <a:off x="6858000" y="6096000"/>
            <a:ext cx="228600" cy="38100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1790" name="Text Box 14"/>
          <p:cNvSpPr txBox="1">
            <a:spLocks noChangeArrowheads="1"/>
          </p:cNvSpPr>
          <p:nvPr/>
        </p:nvSpPr>
        <p:spPr bwMode="auto">
          <a:xfrm>
            <a:off x="8077200" y="5334000"/>
            <a:ext cx="762000" cy="51752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1400">
                <a:solidFill>
                  <a:schemeClr val="tx2"/>
                </a:solidFill>
                <a:latin typeface="Book Antiqua" pitchFamily="18" charset="0"/>
              </a:rPr>
              <a:t>Spatial Index</a:t>
            </a:r>
            <a:endParaRPr lang="bg-BG" sz="1400">
              <a:solidFill>
                <a:schemeClr val="tx2"/>
              </a:solidFill>
              <a:latin typeface="Book Antiqua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802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609600" y="533400"/>
            <a:ext cx="8534400" cy="762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Query Processing Using Approximations</a:t>
            </a:r>
            <a:endParaRPr lang="bg-BG"/>
          </a:p>
        </p:txBody>
      </p:sp>
      <p:sp>
        <p:nvSpPr>
          <p:cNvPr id="33280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9600" y="1447800"/>
            <a:ext cx="8458200" cy="5029200"/>
          </a:xfrm>
          <a:noFill/>
          <a:ln/>
        </p:spPr>
        <p:txBody>
          <a:bodyPr/>
          <a:lstStyle/>
          <a:p>
            <a:pPr marL="228600" indent="-228600">
              <a:buFont typeface="Wingdings" pitchFamily="2" charset="2"/>
              <a:buChar char="n"/>
            </a:pPr>
            <a:r>
              <a:rPr lang="en-US"/>
              <a:t> Two-step procedure:</a:t>
            </a:r>
          </a:p>
          <a:p>
            <a:pPr marL="749300" lvl="1" indent="-177800">
              <a:buFont typeface="Wingdings" pitchFamily="2" charset="2"/>
              <a:buNone/>
            </a:pPr>
            <a:r>
              <a:rPr lang="bg-BG"/>
              <a:t>1. Filter Step:</a:t>
            </a:r>
          </a:p>
          <a:p>
            <a:pPr marL="1790700" lvl="2" indent="-457200">
              <a:buFontTx/>
              <a:buNone/>
            </a:pPr>
            <a:r>
              <a:rPr lang="bg-BG"/>
              <a:t>– Use the index to find all approximations that satisfy the query</a:t>
            </a:r>
          </a:p>
          <a:p>
            <a:pPr marL="1790700" lvl="2" indent="-457200">
              <a:buFontTx/>
              <a:buNone/>
            </a:pPr>
            <a:r>
              <a:rPr lang="bg-BG"/>
              <a:t>– Some objects already satisfy the query based on the approximation, others have to be checked in the refinement step </a:t>
            </a:r>
            <a:r>
              <a:rPr lang="bg-BG">
                <a:sym typeface="Symbol" pitchFamily="18" charset="2"/>
              </a:rPr>
              <a:t></a:t>
            </a:r>
            <a:r>
              <a:rPr lang="bg-BG"/>
              <a:t> </a:t>
            </a:r>
            <a:r>
              <a:rPr lang="bg-BG" i="1"/>
              <a:t>Candidate Set</a:t>
            </a:r>
          </a:p>
          <a:p>
            <a:pPr marL="749300" lvl="1" indent="-177800">
              <a:buFont typeface="Wingdings" pitchFamily="2" charset="2"/>
              <a:buNone/>
            </a:pPr>
            <a:r>
              <a:rPr lang="bg-BG"/>
              <a:t>2. Refinement Step:</a:t>
            </a:r>
          </a:p>
          <a:p>
            <a:pPr marL="1790700" lvl="2" indent="-457200">
              <a:buFontTx/>
              <a:buNone/>
            </a:pPr>
            <a:r>
              <a:rPr lang="bg-BG"/>
              <a:t>– Load the exact object representations for candidates left after the filter</a:t>
            </a:r>
            <a:r>
              <a:rPr lang="en-US"/>
              <a:t> </a:t>
            </a:r>
            <a:r>
              <a:rPr lang="bg-BG"/>
              <a:t>step and test whether they satisfies the query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46" name="Rectangle 22"/>
          <p:cNvSpPr>
            <a:spLocks noChangeArrowheads="1"/>
          </p:cNvSpPr>
          <p:nvPr/>
        </p:nvSpPr>
        <p:spPr bwMode="auto">
          <a:xfrm>
            <a:off x="2209800" y="1609725"/>
            <a:ext cx="1371600" cy="1066800"/>
          </a:xfrm>
          <a:prstGeom prst="rect">
            <a:avLst/>
          </a:prstGeom>
          <a:solidFill>
            <a:srgbClr val="FFC1C1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3826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609600" y="533400"/>
            <a:ext cx="8534400" cy="762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Query Processing Using Approximations</a:t>
            </a:r>
            <a:endParaRPr lang="bg-BG"/>
          </a:p>
        </p:txBody>
      </p:sp>
      <p:sp>
        <p:nvSpPr>
          <p:cNvPr id="33382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343400" y="1524000"/>
            <a:ext cx="4724400" cy="2590800"/>
          </a:xfrm>
          <a:noFill/>
          <a:ln/>
        </p:spPr>
        <p:txBody>
          <a:bodyPr/>
          <a:lstStyle/>
          <a:p>
            <a:pPr marL="228600" indent="-228600">
              <a:buFontTx/>
              <a:buChar char="-"/>
            </a:pPr>
            <a:r>
              <a:rPr lang="en-US" sz="2800" i="1"/>
              <a:t>a</a:t>
            </a:r>
            <a:r>
              <a:rPr lang="en-US" sz="2800"/>
              <a:t> and </a:t>
            </a:r>
            <a:r>
              <a:rPr lang="en-US" sz="2800" i="1"/>
              <a:t>b</a:t>
            </a:r>
            <a:r>
              <a:rPr lang="en-US" sz="2800"/>
              <a:t> are certain answers</a:t>
            </a:r>
          </a:p>
          <a:p>
            <a:pPr marL="228600" indent="-228600">
              <a:buFontTx/>
              <a:buChar char="-"/>
            </a:pPr>
            <a:r>
              <a:rPr lang="en-US" sz="2800" i="1"/>
              <a:t>f</a:t>
            </a:r>
            <a:r>
              <a:rPr lang="en-US" sz="2800"/>
              <a:t>, </a:t>
            </a:r>
            <a:r>
              <a:rPr lang="en-US" sz="2800" i="1"/>
              <a:t>d</a:t>
            </a:r>
            <a:r>
              <a:rPr lang="en-US" sz="2800"/>
              <a:t>, </a:t>
            </a:r>
            <a:r>
              <a:rPr lang="en-US" sz="2800" i="1"/>
              <a:t>g</a:t>
            </a:r>
            <a:r>
              <a:rPr lang="en-US" sz="2800"/>
              <a:t> are certainly not answers</a:t>
            </a:r>
          </a:p>
          <a:p>
            <a:pPr marL="228600" indent="-228600">
              <a:buFontTx/>
              <a:buChar char="-"/>
            </a:pPr>
            <a:r>
              <a:rPr lang="en-US" sz="2800" i="1"/>
              <a:t>c</a:t>
            </a:r>
            <a:r>
              <a:rPr lang="en-US" sz="2800"/>
              <a:t> and </a:t>
            </a:r>
            <a:r>
              <a:rPr lang="en-US" sz="2800" i="1"/>
              <a:t>e</a:t>
            </a:r>
            <a:r>
              <a:rPr lang="en-US" sz="2800"/>
              <a:t> are candidates</a:t>
            </a:r>
          </a:p>
          <a:p>
            <a:pPr marL="228600" indent="-228600">
              <a:buFontTx/>
              <a:buChar char="-"/>
            </a:pPr>
            <a:r>
              <a:rPr lang="en-US" sz="2800" i="1"/>
              <a:t>c</a:t>
            </a:r>
            <a:r>
              <a:rPr lang="en-US" sz="2800"/>
              <a:t> is a false hit</a:t>
            </a:r>
            <a:endParaRPr lang="bg-BG" sz="2800"/>
          </a:p>
        </p:txBody>
      </p:sp>
      <p:sp>
        <p:nvSpPr>
          <p:cNvPr id="333835" name="Text Box 11"/>
          <p:cNvSpPr txBox="1">
            <a:spLocks noChangeArrowheads="1"/>
          </p:cNvSpPr>
          <p:nvPr/>
        </p:nvSpPr>
        <p:spPr bwMode="auto">
          <a:xfrm>
            <a:off x="762000" y="5181600"/>
            <a:ext cx="1063625" cy="4762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Query</a:t>
            </a:r>
            <a:endParaRPr lang="bg-BG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33836" name="Rectangle 12"/>
          <p:cNvSpPr>
            <a:spLocks noChangeArrowheads="1"/>
          </p:cNvSpPr>
          <p:nvPr/>
        </p:nvSpPr>
        <p:spPr bwMode="auto">
          <a:xfrm>
            <a:off x="1447800" y="1914525"/>
            <a:ext cx="990600" cy="381000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3837" name="Rectangle 13"/>
          <p:cNvSpPr>
            <a:spLocks noChangeArrowheads="1"/>
          </p:cNvSpPr>
          <p:nvPr/>
        </p:nvSpPr>
        <p:spPr bwMode="auto">
          <a:xfrm>
            <a:off x="914400" y="2981325"/>
            <a:ext cx="533400" cy="914400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3838" name="Rectangle 14"/>
          <p:cNvSpPr>
            <a:spLocks noChangeArrowheads="1"/>
          </p:cNvSpPr>
          <p:nvPr/>
        </p:nvSpPr>
        <p:spPr bwMode="auto">
          <a:xfrm>
            <a:off x="1600200" y="2600325"/>
            <a:ext cx="838200" cy="685800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3839" name="Rectangle 15"/>
          <p:cNvSpPr>
            <a:spLocks noChangeArrowheads="1"/>
          </p:cNvSpPr>
          <p:nvPr/>
        </p:nvSpPr>
        <p:spPr bwMode="auto">
          <a:xfrm>
            <a:off x="2895600" y="2600325"/>
            <a:ext cx="838200" cy="609600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3840" name="Rectangle 16"/>
          <p:cNvSpPr>
            <a:spLocks noChangeArrowheads="1"/>
          </p:cNvSpPr>
          <p:nvPr/>
        </p:nvSpPr>
        <p:spPr bwMode="auto">
          <a:xfrm>
            <a:off x="2667000" y="1762125"/>
            <a:ext cx="762000" cy="685800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3841" name="Rectangle 17"/>
          <p:cNvSpPr>
            <a:spLocks noChangeArrowheads="1"/>
          </p:cNvSpPr>
          <p:nvPr/>
        </p:nvSpPr>
        <p:spPr bwMode="auto">
          <a:xfrm rot="5400000">
            <a:off x="1943100" y="3324225"/>
            <a:ext cx="533400" cy="762000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3842" name="Rectangle 18"/>
          <p:cNvSpPr>
            <a:spLocks noChangeArrowheads="1"/>
          </p:cNvSpPr>
          <p:nvPr/>
        </p:nvSpPr>
        <p:spPr bwMode="auto">
          <a:xfrm>
            <a:off x="3048000" y="3590925"/>
            <a:ext cx="304800" cy="228600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3844" name="Line 20"/>
          <p:cNvSpPr>
            <a:spLocks noChangeShapeType="1"/>
          </p:cNvSpPr>
          <p:nvPr/>
        </p:nvSpPr>
        <p:spPr bwMode="auto">
          <a:xfrm flipV="1">
            <a:off x="762000" y="1609725"/>
            <a:ext cx="0" cy="2514600"/>
          </a:xfrm>
          <a:prstGeom prst="line">
            <a:avLst/>
          </a:prstGeom>
          <a:noFill/>
          <a:ln w="25400">
            <a:solidFill>
              <a:schemeClr val="tx2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3845" name="Line 21"/>
          <p:cNvSpPr>
            <a:spLocks noChangeShapeType="1"/>
          </p:cNvSpPr>
          <p:nvPr/>
        </p:nvSpPr>
        <p:spPr bwMode="auto">
          <a:xfrm>
            <a:off x="762000" y="4124325"/>
            <a:ext cx="3124200" cy="0"/>
          </a:xfrm>
          <a:prstGeom prst="line">
            <a:avLst/>
          </a:prstGeom>
          <a:noFill/>
          <a:ln w="25400">
            <a:solidFill>
              <a:schemeClr val="tx2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3828" name="Freeform 4" descr="5%"/>
          <p:cNvSpPr>
            <a:spLocks/>
          </p:cNvSpPr>
          <p:nvPr/>
        </p:nvSpPr>
        <p:spPr bwMode="auto">
          <a:xfrm>
            <a:off x="914400" y="2981325"/>
            <a:ext cx="533400" cy="914400"/>
          </a:xfrm>
          <a:custGeom>
            <a:avLst/>
            <a:gdLst/>
            <a:ahLst/>
            <a:cxnLst>
              <a:cxn ang="0">
                <a:pos x="0" y="192"/>
              </a:cxn>
              <a:cxn ang="0">
                <a:pos x="144" y="0"/>
              </a:cxn>
              <a:cxn ang="0">
                <a:pos x="336" y="144"/>
              </a:cxn>
              <a:cxn ang="0">
                <a:pos x="192" y="288"/>
              </a:cxn>
              <a:cxn ang="0">
                <a:pos x="336" y="480"/>
              </a:cxn>
              <a:cxn ang="0">
                <a:pos x="48" y="576"/>
              </a:cxn>
              <a:cxn ang="0">
                <a:pos x="0" y="192"/>
              </a:cxn>
            </a:cxnLst>
            <a:rect l="0" t="0" r="r" b="b"/>
            <a:pathLst>
              <a:path w="336" h="576">
                <a:moveTo>
                  <a:pt x="0" y="192"/>
                </a:moveTo>
                <a:lnTo>
                  <a:pt x="144" y="0"/>
                </a:lnTo>
                <a:lnTo>
                  <a:pt x="336" y="144"/>
                </a:lnTo>
                <a:lnTo>
                  <a:pt x="192" y="288"/>
                </a:lnTo>
                <a:lnTo>
                  <a:pt x="336" y="480"/>
                </a:lnTo>
                <a:lnTo>
                  <a:pt x="48" y="576"/>
                </a:lnTo>
                <a:lnTo>
                  <a:pt x="0" y="192"/>
                </a:lnTo>
                <a:close/>
              </a:path>
            </a:pathLst>
          </a:custGeom>
          <a:pattFill prst="pct5">
            <a:fgClr>
              <a:schemeClr val="hlink"/>
            </a:fgClr>
            <a:bgClr>
              <a:schemeClr val="bg1"/>
            </a:bgClr>
          </a:pattFill>
          <a:ln w="19050" cap="flat" cmpd="sng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3829" name="Freeform 5" descr="Small grid"/>
          <p:cNvSpPr>
            <a:spLocks/>
          </p:cNvSpPr>
          <p:nvPr/>
        </p:nvSpPr>
        <p:spPr bwMode="auto">
          <a:xfrm>
            <a:off x="1447800" y="1914525"/>
            <a:ext cx="990600" cy="381000"/>
          </a:xfrm>
          <a:custGeom>
            <a:avLst/>
            <a:gdLst/>
            <a:ahLst/>
            <a:cxnLst>
              <a:cxn ang="0">
                <a:pos x="0" y="192"/>
              </a:cxn>
              <a:cxn ang="0">
                <a:pos x="240" y="192"/>
              </a:cxn>
              <a:cxn ang="0">
                <a:pos x="384" y="0"/>
              </a:cxn>
              <a:cxn ang="0">
                <a:pos x="624" y="192"/>
              </a:cxn>
              <a:cxn ang="0">
                <a:pos x="144" y="384"/>
              </a:cxn>
              <a:cxn ang="0">
                <a:pos x="0" y="192"/>
              </a:cxn>
            </a:cxnLst>
            <a:rect l="0" t="0" r="r" b="b"/>
            <a:pathLst>
              <a:path w="624" h="384">
                <a:moveTo>
                  <a:pt x="0" y="192"/>
                </a:moveTo>
                <a:lnTo>
                  <a:pt x="240" y="192"/>
                </a:lnTo>
                <a:lnTo>
                  <a:pt x="384" y="0"/>
                </a:lnTo>
                <a:lnTo>
                  <a:pt x="624" y="192"/>
                </a:lnTo>
                <a:lnTo>
                  <a:pt x="144" y="384"/>
                </a:lnTo>
                <a:lnTo>
                  <a:pt x="0" y="192"/>
                </a:lnTo>
                <a:close/>
              </a:path>
            </a:pathLst>
          </a:custGeom>
          <a:pattFill prst="smGrid">
            <a:fgClr>
              <a:srgbClr val="FFC1C1"/>
            </a:fgClr>
            <a:bgClr>
              <a:schemeClr val="bg1"/>
            </a:bgClr>
          </a:pattFill>
          <a:ln w="19050" cap="flat" cmpd="sng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3830" name="Freeform 6" descr="5%"/>
          <p:cNvSpPr>
            <a:spLocks/>
          </p:cNvSpPr>
          <p:nvPr/>
        </p:nvSpPr>
        <p:spPr bwMode="auto">
          <a:xfrm>
            <a:off x="3048000" y="3590925"/>
            <a:ext cx="304800" cy="228600"/>
          </a:xfrm>
          <a:custGeom>
            <a:avLst/>
            <a:gdLst/>
            <a:ahLst/>
            <a:cxnLst>
              <a:cxn ang="0">
                <a:pos x="96" y="0"/>
              </a:cxn>
              <a:cxn ang="0">
                <a:pos x="192" y="96"/>
              </a:cxn>
              <a:cxn ang="0">
                <a:pos x="48" y="144"/>
              </a:cxn>
              <a:cxn ang="0">
                <a:pos x="0" y="96"/>
              </a:cxn>
              <a:cxn ang="0">
                <a:pos x="48" y="96"/>
              </a:cxn>
              <a:cxn ang="0">
                <a:pos x="48" y="0"/>
              </a:cxn>
              <a:cxn ang="0">
                <a:pos x="96" y="0"/>
              </a:cxn>
            </a:cxnLst>
            <a:rect l="0" t="0" r="r" b="b"/>
            <a:pathLst>
              <a:path w="192" h="144">
                <a:moveTo>
                  <a:pt x="96" y="0"/>
                </a:moveTo>
                <a:lnTo>
                  <a:pt x="192" y="96"/>
                </a:lnTo>
                <a:lnTo>
                  <a:pt x="48" y="144"/>
                </a:lnTo>
                <a:lnTo>
                  <a:pt x="0" y="96"/>
                </a:lnTo>
                <a:lnTo>
                  <a:pt x="48" y="96"/>
                </a:lnTo>
                <a:lnTo>
                  <a:pt x="48" y="0"/>
                </a:lnTo>
                <a:lnTo>
                  <a:pt x="96" y="0"/>
                </a:lnTo>
                <a:close/>
              </a:path>
            </a:pathLst>
          </a:custGeom>
          <a:pattFill prst="pct5">
            <a:fgClr>
              <a:schemeClr val="hlink"/>
            </a:fgClr>
            <a:bgClr>
              <a:schemeClr val="bg1"/>
            </a:bgClr>
          </a:pattFill>
          <a:ln w="19050" cap="flat" cmpd="sng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3831" name="Freeform 7" descr="5%"/>
          <p:cNvSpPr>
            <a:spLocks/>
          </p:cNvSpPr>
          <p:nvPr/>
        </p:nvSpPr>
        <p:spPr bwMode="auto">
          <a:xfrm>
            <a:off x="1600200" y="2600325"/>
            <a:ext cx="838200" cy="685800"/>
          </a:xfrm>
          <a:custGeom>
            <a:avLst/>
            <a:gdLst/>
            <a:ahLst/>
            <a:cxnLst>
              <a:cxn ang="0">
                <a:pos x="240" y="192"/>
              </a:cxn>
              <a:cxn ang="0">
                <a:pos x="528" y="96"/>
              </a:cxn>
              <a:cxn ang="0">
                <a:pos x="528" y="192"/>
              </a:cxn>
              <a:cxn ang="0">
                <a:pos x="0" y="432"/>
              </a:cxn>
              <a:cxn ang="0">
                <a:pos x="0" y="240"/>
              </a:cxn>
              <a:cxn ang="0">
                <a:pos x="96" y="240"/>
              </a:cxn>
              <a:cxn ang="0">
                <a:pos x="96" y="0"/>
              </a:cxn>
              <a:cxn ang="0">
                <a:pos x="240" y="192"/>
              </a:cxn>
            </a:cxnLst>
            <a:rect l="0" t="0" r="r" b="b"/>
            <a:pathLst>
              <a:path w="528" h="432">
                <a:moveTo>
                  <a:pt x="240" y="192"/>
                </a:moveTo>
                <a:lnTo>
                  <a:pt x="528" y="96"/>
                </a:lnTo>
                <a:lnTo>
                  <a:pt x="528" y="192"/>
                </a:lnTo>
                <a:lnTo>
                  <a:pt x="0" y="432"/>
                </a:lnTo>
                <a:lnTo>
                  <a:pt x="0" y="240"/>
                </a:lnTo>
                <a:lnTo>
                  <a:pt x="96" y="240"/>
                </a:lnTo>
                <a:lnTo>
                  <a:pt x="96" y="0"/>
                </a:lnTo>
                <a:lnTo>
                  <a:pt x="240" y="192"/>
                </a:lnTo>
                <a:close/>
              </a:path>
            </a:pathLst>
          </a:custGeom>
          <a:pattFill prst="pct5">
            <a:fgClr>
              <a:srgbClr val="FFC1C1"/>
            </a:fgClr>
            <a:bgClr>
              <a:schemeClr val="bg1"/>
            </a:bgClr>
          </a:pattFill>
          <a:ln w="19050" cap="flat" cmpd="sng">
            <a:solidFill>
              <a:srgbClr val="FF8B8B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3832" name="Freeform 8" descr="5%"/>
          <p:cNvSpPr>
            <a:spLocks/>
          </p:cNvSpPr>
          <p:nvPr/>
        </p:nvSpPr>
        <p:spPr bwMode="auto">
          <a:xfrm rot="5400000">
            <a:off x="1943100" y="3324225"/>
            <a:ext cx="533400" cy="762000"/>
          </a:xfrm>
          <a:custGeom>
            <a:avLst/>
            <a:gdLst/>
            <a:ahLst/>
            <a:cxnLst>
              <a:cxn ang="0">
                <a:pos x="48" y="192"/>
              </a:cxn>
              <a:cxn ang="0">
                <a:pos x="96" y="0"/>
              </a:cxn>
              <a:cxn ang="0">
                <a:pos x="336" y="96"/>
              </a:cxn>
              <a:cxn ang="0">
                <a:pos x="0" y="480"/>
              </a:cxn>
              <a:cxn ang="0">
                <a:pos x="48" y="192"/>
              </a:cxn>
            </a:cxnLst>
            <a:rect l="0" t="0" r="r" b="b"/>
            <a:pathLst>
              <a:path w="336" h="480">
                <a:moveTo>
                  <a:pt x="48" y="192"/>
                </a:moveTo>
                <a:lnTo>
                  <a:pt x="96" y="0"/>
                </a:lnTo>
                <a:lnTo>
                  <a:pt x="336" y="96"/>
                </a:lnTo>
                <a:lnTo>
                  <a:pt x="0" y="480"/>
                </a:lnTo>
                <a:lnTo>
                  <a:pt x="48" y="192"/>
                </a:lnTo>
                <a:close/>
              </a:path>
            </a:pathLst>
          </a:custGeom>
          <a:pattFill prst="pct5">
            <a:fgClr>
              <a:schemeClr val="hlink"/>
            </a:fgClr>
            <a:bgClr>
              <a:schemeClr val="bg1"/>
            </a:bgClr>
          </a:pattFill>
          <a:ln w="19050" cap="flat" cmpd="sng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3833" name="Freeform 9" descr="Small grid"/>
          <p:cNvSpPr>
            <a:spLocks/>
          </p:cNvSpPr>
          <p:nvPr/>
        </p:nvSpPr>
        <p:spPr bwMode="auto">
          <a:xfrm>
            <a:off x="2667000" y="1762125"/>
            <a:ext cx="762000" cy="685800"/>
          </a:xfrm>
          <a:custGeom>
            <a:avLst/>
            <a:gdLst/>
            <a:ahLst/>
            <a:cxnLst>
              <a:cxn ang="0">
                <a:pos x="144" y="240"/>
              </a:cxn>
              <a:cxn ang="0">
                <a:pos x="96" y="48"/>
              </a:cxn>
              <a:cxn ang="0">
                <a:pos x="240" y="0"/>
              </a:cxn>
              <a:cxn ang="0">
                <a:pos x="288" y="144"/>
              </a:cxn>
              <a:cxn ang="0">
                <a:pos x="432" y="96"/>
              </a:cxn>
              <a:cxn ang="0">
                <a:pos x="480" y="192"/>
              </a:cxn>
              <a:cxn ang="0">
                <a:pos x="384" y="240"/>
              </a:cxn>
              <a:cxn ang="0">
                <a:pos x="384" y="432"/>
              </a:cxn>
              <a:cxn ang="0">
                <a:pos x="240" y="432"/>
              </a:cxn>
              <a:cxn ang="0">
                <a:pos x="240" y="288"/>
              </a:cxn>
              <a:cxn ang="0">
                <a:pos x="96" y="432"/>
              </a:cxn>
              <a:cxn ang="0">
                <a:pos x="0" y="336"/>
              </a:cxn>
              <a:cxn ang="0">
                <a:pos x="48" y="240"/>
              </a:cxn>
              <a:cxn ang="0">
                <a:pos x="144" y="240"/>
              </a:cxn>
            </a:cxnLst>
            <a:rect l="0" t="0" r="r" b="b"/>
            <a:pathLst>
              <a:path w="480" h="432">
                <a:moveTo>
                  <a:pt x="144" y="240"/>
                </a:moveTo>
                <a:lnTo>
                  <a:pt x="96" y="48"/>
                </a:lnTo>
                <a:lnTo>
                  <a:pt x="240" y="0"/>
                </a:lnTo>
                <a:lnTo>
                  <a:pt x="288" y="144"/>
                </a:lnTo>
                <a:lnTo>
                  <a:pt x="432" y="96"/>
                </a:lnTo>
                <a:lnTo>
                  <a:pt x="480" y="192"/>
                </a:lnTo>
                <a:lnTo>
                  <a:pt x="384" y="240"/>
                </a:lnTo>
                <a:lnTo>
                  <a:pt x="384" y="432"/>
                </a:lnTo>
                <a:lnTo>
                  <a:pt x="240" y="432"/>
                </a:lnTo>
                <a:lnTo>
                  <a:pt x="240" y="288"/>
                </a:lnTo>
                <a:lnTo>
                  <a:pt x="96" y="432"/>
                </a:lnTo>
                <a:lnTo>
                  <a:pt x="0" y="336"/>
                </a:lnTo>
                <a:lnTo>
                  <a:pt x="48" y="240"/>
                </a:lnTo>
                <a:lnTo>
                  <a:pt x="144" y="240"/>
                </a:lnTo>
                <a:close/>
              </a:path>
            </a:pathLst>
          </a:custGeom>
          <a:pattFill prst="smGrid">
            <a:fgClr>
              <a:srgbClr val="FFC1C1"/>
            </a:fgClr>
            <a:bgClr>
              <a:schemeClr val="bg1"/>
            </a:bgClr>
          </a:pattFill>
          <a:ln w="19050" cap="flat" cmpd="sng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3834" name="Freeform 10" descr="Small grid"/>
          <p:cNvSpPr>
            <a:spLocks/>
          </p:cNvSpPr>
          <p:nvPr/>
        </p:nvSpPr>
        <p:spPr bwMode="auto">
          <a:xfrm>
            <a:off x="2895600" y="2600325"/>
            <a:ext cx="838200" cy="609600"/>
          </a:xfrm>
          <a:custGeom>
            <a:avLst/>
            <a:gdLst/>
            <a:ahLst/>
            <a:cxnLst>
              <a:cxn ang="0">
                <a:pos x="102" y="276"/>
              </a:cxn>
              <a:cxn ang="0">
                <a:pos x="102" y="234"/>
              </a:cxn>
              <a:cxn ang="0">
                <a:pos x="144" y="0"/>
              </a:cxn>
              <a:cxn ang="0">
                <a:pos x="240" y="144"/>
              </a:cxn>
              <a:cxn ang="0">
                <a:pos x="336" y="96"/>
              </a:cxn>
              <a:cxn ang="0">
                <a:pos x="528" y="240"/>
              </a:cxn>
              <a:cxn ang="0">
                <a:pos x="144" y="384"/>
              </a:cxn>
              <a:cxn ang="0">
                <a:pos x="0" y="336"/>
              </a:cxn>
              <a:cxn ang="0">
                <a:pos x="0" y="192"/>
              </a:cxn>
              <a:cxn ang="0">
                <a:pos x="102" y="276"/>
              </a:cxn>
            </a:cxnLst>
            <a:rect l="0" t="0" r="r" b="b"/>
            <a:pathLst>
              <a:path w="528" h="384">
                <a:moveTo>
                  <a:pt x="102" y="276"/>
                </a:moveTo>
                <a:cubicBezTo>
                  <a:pt x="102" y="262"/>
                  <a:pt x="102" y="248"/>
                  <a:pt x="102" y="234"/>
                </a:cubicBezTo>
                <a:lnTo>
                  <a:pt x="144" y="0"/>
                </a:lnTo>
                <a:lnTo>
                  <a:pt x="240" y="144"/>
                </a:lnTo>
                <a:lnTo>
                  <a:pt x="336" y="96"/>
                </a:lnTo>
                <a:lnTo>
                  <a:pt x="528" y="240"/>
                </a:lnTo>
                <a:lnTo>
                  <a:pt x="144" y="384"/>
                </a:lnTo>
                <a:lnTo>
                  <a:pt x="0" y="336"/>
                </a:lnTo>
                <a:lnTo>
                  <a:pt x="0" y="192"/>
                </a:lnTo>
                <a:lnTo>
                  <a:pt x="102" y="276"/>
                </a:lnTo>
                <a:close/>
              </a:path>
            </a:pathLst>
          </a:custGeom>
          <a:pattFill prst="smGrid">
            <a:fgClr>
              <a:srgbClr val="FFC1C1"/>
            </a:fgClr>
            <a:bgClr>
              <a:schemeClr val="bg1"/>
            </a:bgClr>
          </a:pattFill>
          <a:ln w="19050" cap="flat" cmpd="sng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3847" name="Text Box 23"/>
          <p:cNvSpPr txBox="1">
            <a:spLocks noChangeArrowheads="1"/>
          </p:cNvSpPr>
          <p:nvPr/>
        </p:nvSpPr>
        <p:spPr bwMode="auto">
          <a:xfrm>
            <a:off x="457200" y="1209675"/>
            <a:ext cx="19018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>
                <a:solidFill>
                  <a:schemeClr val="tx2"/>
                </a:solidFill>
                <a:latin typeface="Book Antiqua" pitchFamily="18" charset="0"/>
              </a:rPr>
              <a:t>Query window</a:t>
            </a:r>
            <a:endParaRPr lang="bg-BG" sz="200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33848" name="Line 24"/>
          <p:cNvSpPr>
            <a:spLocks noChangeShapeType="1"/>
          </p:cNvSpPr>
          <p:nvPr/>
        </p:nvSpPr>
        <p:spPr bwMode="auto">
          <a:xfrm>
            <a:off x="1752600" y="1524000"/>
            <a:ext cx="609600" cy="22860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3849" name="Text Box 25"/>
          <p:cNvSpPr txBox="1">
            <a:spLocks noChangeArrowheads="1"/>
          </p:cNvSpPr>
          <p:nvPr/>
        </p:nvSpPr>
        <p:spPr bwMode="auto">
          <a:xfrm>
            <a:off x="1905000" y="1838325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>
                <a:solidFill>
                  <a:schemeClr val="tx2"/>
                </a:solidFill>
                <a:latin typeface="Book Antiqua" pitchFamily="18" charset="0"/>
              </a:rPr>
              <a:t>a</a:t>
            </a:r>
            <a:endParaRPr lang="bg-BG" sz="200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33850" name="Text Box 26"/>
          <p:cNvSpPr txBox="1">
            <a:spLocks noChangeArrowheads="1"/>
          </p:cNvSpPr>
          <p:nvPr/>
        </p:nvSpPr>
        <p:spPr bwMode="auto">
          <a:xfrm>
            <a:off x="2847975" y="1857375"/>
            <a:ext cx="3254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>
                <a:solidFill>
                  <a:schemeClr val="tx2"/>
                </a:solidFill>
                <a:latin typeface="Book Antiqua" pitchFamily="18" charset="0"/>
              </a:rPr>
              <a:t>b</a:t>
            </a:r>
            <a:endParaRPr lang="bg-BG" sz="200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33851" name="Text Box 27"/>
          <p:cNvSpPr txBox="1">
            <a:spLocks noChangeArrowheads="1"/>
          </p:cNvSpPr>
          <p:nvPr/>
        </p:nvSpPr>
        <p:spPr bwMode="auto">
          <a:xfrm>
            <a:off x="1714500" y="2771775"/>
            <a:ext cx="2968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>
                <a:solidFill>
                  <a:schemeClr val="tx2"/>
                </a:solidFill>
                <a:latin typeface="Book Antiqua" pitchFamily="18" charset="0"/>
              </a:rPr>
              <a:t>c</a:t>
            </a:r>
            <a:endParaRPr lang="bg-BG" sz="200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33852" name="Text Box 28"/>
          <p:cNvSpPr txBox="1">
            <a:spLocks noChangeArrowheads="1"/>
          </p:cNvSpPr>
          <p:nvPr/>
        </p:nvSpPr>
        <p:spPr bwMode="auto">
          <a:xfrm>
            <a:off x="2174875" y="3489325"/>
            <a:ext cx="3397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>
                <a:solidFill>
                  <a:schemeClr val="tx2"/>
                </a:solidFill>
                <a:latin typeface="Book Antiqua" pitchFamily="18" charset="0"/>
              </a:rPr>
              <a:t>d</a:t>
            </a:r>
            <a:endParaRPr lang="bg-BG" sz="200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33853" name="Text Box 29"/>
          <p:cNvSpPr txBox="1">
            <a:spLocks noChangeArrowheads="1"/>
          </p:cNvSpPr>
          <p:nvPr/>
        </p:nvSpPr>
        <p:spPr bwMode="auto">
          <a:xfrm>
            <a:off x="3057525" y="2762250"/>
            <a:ext cx="3063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>
                <a:solidFill>
                  <a:schemeClr val="tx2"/>
                </a:solidFill>
                <a:latin typeface="Book Antiqua" pitchFamily="18" charset="0"/>
              </a:rPr>
              <a:t>e</a:t>
            </a:r>
            <a:endParaRPr lang="bg-BG" sz="200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33854" name="Text Box 30"/>
          <p:cNvSpPr txBox="1">
            <a:spLocks noChangeArrowheads="1"/>
          </p:cNvSpPr>
          <p:nvPr/>
        </p:nvSpPr>
        <p:spPr bwMode="auto">
          <a:xfrm>
            <a:off x="950913" y="3200400"/>
            <a:ext cx="2682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>
                <a:solidFill>
                  <a:schemeClr val="tx2"/>
                </a:solidFill>
                <a:latin typeface="Book Antiqua" pitchFamily="18" charset="0"/>
              </a:rPr>
              <a:t>f</a:t>
            </a:r>
            <a:endParaRPr lang="bg-BG" sz="200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33855" name="Text Box 31"/>
          <p:cNvSpPr txBox="1">
            <a:spLocks noChangeArrowheads="1"/>
          </p:cNvSpPr>
          <p:nvPr/>
        </p:nvSpPr>
        <p:spPr bwMode="auto">
          <a:xfrm>
            <a:off x="3048000" y="3657600"/>
            <a:ext cx="3254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>
                <a:solidFill>
                  <a:schemeClr val="tx2"/>
                </a:solidFill>
                <a:latin typeface="Book Antiqua" pitchFamily="18" charset="0"/>
              </a:rPr>
              <a:t>g</a:t>
            </a:r>
            <a:endParaRPr lang="bg-BG" sz="200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33856" name="Text Box 32" descr="Small grid"/>
          <p:cNvSpPr txBox="1">
            <a:spLocks noChangeArrowheads="1"/>
          </p:cNvSpPr>
          <p:nvPr/>
        </p:nvSpPr>
        <p:spPr bwMode="auto">
          <a:xfrm>
            <a:off x="7620000" y="4343400"/>
            <a:ext cx="971550" cy="2301875"/>
          </a:xfrm>
          <a:prstGeom prst="rect">
            <a:avLst/>
          </a:prstGeom>
          <a:pattFill prst="smGrid">
            <a:fgClr>
              <a:srgbClr val="FFC1C1"/>
            </a:fgClr>
            <a:bgClr>
              <a:schemeClr val="bg1"/>
            </a:bgClr>
          </a:patt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endParaRPr lang="en-US">
              <a:solidFill>
                <a:schemeClr val="tx2"/>
              </a:solidFill>
              <a:latin typeface="Book Antiqua" pitchFamily="18" charset="0"/>
            </a:endParaRPr>
          </a:p>
          <a:p>
            <a:pPr algn="ctr"/>
            <a:endParaRPr lang="en-US">
              <a:solidFill>
                <a:schemeClr val="tx2"/>
              </a:solidFill>
              <a:latin typeface="Book Antiqua" pitchFamily="18" charset="0"/>
            </a:endParaRPr>
          </a:p>
          <a:p>
            <a:pPr algn="ctr"/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Final </a:t>
            </a:r>
            <a:br>
              <a:rPr lang="en-US">
                <a:solidFill>
                  <a:schemeClr val="tx2"/>
                </a:solidFill>
                <a:latin typeface="Book Antiqua" pitchFamily="18" charset="0"/>
              </a:rPr>
            </a:b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result</a:t>
            </a:r>
          </a:p>
          <a:p>
            <a:pPr algn="ctr"/>
            <a:endParaRPr lang="en-US">
              <a:solidFill>
                <a:schemeClr val="tx2"/>
              </a:solidFill>
              <a:latin typeface="Book Antiqua" pitchFamily="18" charset="0"/>
            </a:endParaRPr>
          </a:p>
          <a:p>
            <a:pPr algn="ctr"/>
            <a:endParaRPr lang="bg-BG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33857" name="AutoShape 33"/>
          <p:cNvSpPr>
            <a:spLocks noChangeArrowheads="1"/>
          </p:cNvSpPr>
          <p:nvPr/>
        </p:nvSpPr>
        <p:spPr bwMode="auto">
          <a:xfrm rot="16200000">
            <a:off x="2095500" y="4914900"/>
            <a:ext cx="1371600" cy="9906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3858" name="Line 34"/>
          <p:cNvSpPr>
            <a:spLocks noChangeShapeType="1"/>
          </p:cNvSpPr>
          <p:nvPr/>
        </p:nvSpPr>
        <p:spPr bwMode="auto">
          <a:xfrm>
            <a:off x="1828800" y="5410200"/>
            <a:ext cx="457200" cy="0"/>
          </a:xfrm>
          <a:prstGeom prst="line">
            <a:avLst/>
          </a:prstGeom>
          <a:noFill/>
          <a:ln w="25400">
            <a:solidFill>
              <a:schemeClr val="tx2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3859" name="Oval 35"/>
          <p:cNvSpPr>
            <a:spLocks noChangeArrowheads="1"/>
          </p:cNvSpPr>
          <p:nvPr/>
        </p:nvSpPr>
        <p:spPr bwMode="auto">
          <a:xfrm>
            <a:off x="3505200" y="4648200"/>
            <a:ext cx="1447800" cy="60960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3861" name="AutoShape 37"/>
          <p:cNvSpPr>
            <a:spLocks noChangeArrowheads="1"/>
          </p:cNvSpPr>
          <p:nvPr/>
        </p:nvSpPr>
        <p:spPr bwMode="auto">
          <a:xfrm>
            <a:off x="5105400" y="4629150"/>
            <a:ext cx="1447800" cy="6096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3862" name="Text Box 38" descr="5%"/>
          <p:cNvSpPr txBox="1">
            <a:spLocks noChangeArrowheads="1"/>
          </p:cNvSpPr>
          <p:nvPr/>
        </p:nvSpPr>
        <p:spPr bwMode="auto">
          <a:xfrm>
            <a:off x="3733800" y="6248400"/>
            <a:ext cx="1789113" cy="415925"/>
          </a:xfrm>
          <a:prstGeom prst="rect">
            <a:avLst/>
          </a:prstGeom>
          <a:pattFill prst="pct5">
            <a:fgClr>
              <a:schemeClr val="hlink"/>
            </a:fgClr>
            <a:bgClr>
              <a:schemeClr val="bg1"/>
            </a:bgClr>
          </a:patt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>
                <a:solidFill>
                  <a:schemeClr val="tx2"/>
                </a:solidFill>
                <a:latin typeface="Book Antiqua" pitchFamily="18" charset="0"/>
              </a:rPr>
              <a:t>not an answer</a:t>
            </a:r>
            <a:endParaRPr lang="bg-BG" sz="200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33863" name="Text Box 39" descr="5%"/>
          <p:cNvSpPr txBox="1">
            <a:spLocks noChangeArrowheads="1"/>
          </p:cNvSpPr>
          <p:nvPr/>
        </p:nvSpPr>
        <p:spPr bwMode="auto">
          <a:xfrm>
            <a:off x="6629400" y="3962400"/>
            <a:ext cx="782638" cy="720725"/>
          </a:xfrm>
          <a:prstGeom prst="rect">
            <a:avLst/>
          </a:prstGeom>
          <a:pattFill prst="pct5">
            <a:fgClr>
              <a:srgbClr val="FFC1C1"/>
            </a:fgClr>
            <a:bgClr>
              <a:schemeClr val="bg1"/>
            </a:bgClr>
          </a:pattFill>
          <a:ln w="19050">
            <a:solidFill>
              <a:srgbClr val="FF8B8B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2000">
                <a:solidFill>
                  <a:schemeClr val="tx2"/>
                </a:solidFill>
                <a:latin typeface="Book Antiqua" pitchFamily="18" charset="0"/>
              </a:rPr>
              <a:t>false </a:t>
            </a:r>
          </a:p>
          <a:p>
            <a:pPr algn="ctr"/>
            <a:r>
              <a:rPr lang="en-US" sz="2000">
                <a:solidFill>
                  <a:schemeClr val="tx2"/>
                </a:solidFill>
                <a:latin typeface="Book Antiqua" pitchFamily="18" charset="0"/>
              </a:rPr>
              <a:t>hits</a:t>
            </a:r>
            <a:endParaRPr lang="bg-BG" sz="200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33864" name="Text Box 40"/>
          <p:cNvSpPr txBox="1">
            <a:spLocks noChangeArrowheads="1"/>
          </p:cNvSpPr>
          <p:nvPr/>
        </p:nvSpPr>
        <p:spPr bwMode="auto">
          <a:xfrm>
            <a:off x="2514600" y="5229225"/>
            <a:ext cx="722313" cy="3968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>
                <a:solidFill>
                  <a:schemeClr val="tx2"/>
                </a:solidFill>
                <a:latin typeface="Book Antiqua" pitchFamily="18" charset="0"/>
              </a:rPr>
              <a:t>filter</a:t>
            </a:r>
            <a:endParaRPr lang="bg-BG" sz="200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33865" name="Text Box 41"/>
          <p:cNvSpPr txBox="1">
            <a:spLocks noChangeArrowheads="1"/>
          </p:cNvSpPr>
          <p:nvPr/>
        </p:nvSpPr>
        <p:spPr bwMode="auto">
          <a:xfrm>
            <a:off x="3505200" y="4724400"/>
            <a:ext cx="1397000" cy="3968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>
                <a:solidFill>
                  <a:schemeClr val="tx2"/>
                </a:solidFill>
                <a:latin typeface="Book Antiqua" pitchFamily="18" charset="0"/>
              </a:rPr>
              <a:t>candidates</a:t>
            </a:r>
            <a:endParaRPr lang="bg-BG" sz="200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33866" name="Text Box 42"/>
          <p:cNvSpPr txBox="1">
            <a:spLocks noChangeArrowheads="1"/>
          </p:cNvSpPr>
          <p:nvPr/>
        </p:nvSpPr>
        <p:spPr bwMode="auto">
          <a:xfrm>
            <a:off x="5094288" y="4708525"/>
            <a:ext cx="1411287" cy="3968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>
                <a:solidFill>
                  <a:schemeClr val="tx2"/>
                </a:solidFill>
                <a:latin typeface="Book Antiqua" pitchFamily="18" charset="0"/>
              </a:rPr>
              <a:t>refinement</a:t>
            </a:r>
            <a:endParaRPr lang="bg-BG" sz="200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33867" name="Line 43"/>
          <p:cNvSpPr>
            <a:spLocks noChangeShapeType="1"/>
          </p:cNvSpPr>
          <p:nvPr/>
        </p:nvSpPr>
        <p:spPr bwMode="auto">
          <a:xfrm>
            <a:off x="3276600" y="5505450"/>
            <a:ext cx="4343400" cy="0"/>
          </a:xfrm>
          <a:prstGeom prst="line">
            <a:avLst/>
          </a:prstGeom>
          <a:noFill/>
          <a:ln w="25400">
            <a:solidFill>
              <a:schemeClr val="tx2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3868" name="Line 44"/>
          <p:cNvSpPr>
            <a:spLocks noChangeShapeType="1"/>
          </p:cNvSpPr>
          <p:nvPr/>
        </p:nvSpPr>
        <p:spPr bwMode="auto">
          <a:xfrm>
            <a:off x="3276600" y="4953000"/>
            <a:ext cx="228600" cy="0"/>
          </a:xfrm>
          <a:prstGeom prst="line">
            <a:avLst/>
          </a:prstGeom>
          <a:noFill/>
          <a:ln w="25400">
            <a:solidFill>
              <a:schemeClr val="tx2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3869" name="Line 45"/>
          <p:cNvSpPr>
            <a:spLocks noChangeShapeType="1"/>
          </p:cNvSpPr>
          <p:nvPr/>
        </p:nvSpPr>
        <p:spPr bwMode="auto">
          <a:xfrm>
            <a:off x="4953000" y="4953000"/>
            <a:ext cx="152400" cy="0"/>
          </a:xfrm>
          <a:prstGeom prst="line">
            <a:avLst/>
          </a:prstGeom>
          <a:noFill/>
          <a:ln w="25400">
            <a:solidFill>
              <a:schemeClr val="tx2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3870" name="Line 46"/>
          <p:cNvSpPr>
            <a:spLocks noChangeShapeType="1"/>
          </p:cNvSpPr>
          <p:nvPr/>
        </p:nvSpPr>
        <p:spPr bwMode="auto">
          <a:xfrm>
            <a:off x="6553200" y="5029200"/>
            <a:ext cx="1066800" cy="0"/>
          </a:xfrm>
          <a:prstGeom prst="line">
            <a:avLst/>
          </a:prstGeom>
          <a:noFill/>
          <a:ln w="25400">
            <a:solidFill>
              <a:schemeClr val="tx2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3871" name="Freeform 47"/>
          <p:cNvSpPr>
            <a:spLocks/>
          </p:cNvSpPr>
          <p:nvPr/>
        </p:nvSpPr>
        <p:spPr bwMode="auto">
          <a:xfrm>
            <a:off x="3276600" y="5867400"/>
            <a:ext cx="1219200" cy="3810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768" y="0"/>
              </a:cxn>
              <a:cxn ang="0">
                <a:pos x="768" y="240"/>
              </a:cxn>
            </a:cxnLst>
            <a:rect l="0" t="0" r="r" b="b"/>
            <a:pathLst>
              <a:path w="768" h="240">
                <a:moveTo>
                  <a:pt x="0" y="0"/>
                </a:moveTo>
                <a:lnTo>
                  <a:pt x="768" y="0"/>
                </a:lnTo>
                <a:lnTo>
                  <a:pt x="768" y="240"/>
                </a:lnTo>
              </a:path>
            </a:pathLst>
          </a:custGeom>
          <a:noFill/>
          <a:ln w="25400" cap="flat" cmpd="sng">
            <a:solidFill>
              <a:schemeClr val="tx2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3872" name="Freeform 48"/>
          <p:cNvSpPr>
            <a:spLocks/>
          </p:cNvSpPr>
          <p:nvPr/>
        </p:nvSpPr>
        <p:spPr bwMode="auto">
          <a:xfrm>
            <a:off x="6553200" y="4667250"/>
            <a:ext cx="533400" cy="228600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336" y="144"/>
              </a:cxn>
              <a:cxn ang="0">
                <a:pos x="336" y="0"/>
              </a:cxn>
            </a:cxnLst>
            <a:rect l="0" t="0" r="r" b="b"/>
            <a:pathLst>
              <a:path w="336" h="144">
                <a:moveTo>
                  <a:pt x="0" y="144"/>
                </a:moveTo>
                <a:lnTo>
                  <a:pt x="336" y="144"/>
                </a:lnTo>
                <a:lnTo>
                  <a:pt x="336" y="0"/>
                </a:lnTo>
              </a:path>
            </a:pathLst>
          </a:custGeom>
          <a:noFill/>
          <a:ln w="25400" cap="flat" cmpd="sng">
            <a:solidFill>
              <a:schemeClr val="tx2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4878" name="Group 30"/>
          <p:cNvGrpSpPr>
            <a:grpSpLocks/>
          </p:cNvGrpSpPr>
          <p:nvPr/>
        </p:nvGrpSpPr>
        <p:grpSpPr bwMode="auto">
          <a:xfrm>
            <a:off x="6096000" y="2171700"/>
            <a:ext cx="2590800" cy="2609850"/>
            <a:chOff x="1248" y="2304"/>
            <a:chExt cx="1632" cy="1644"/>
          </a:xfrm>
        </p:grpSpPr>
        <p:grpSp>
          <p:nvGrpSpPr>
            <p:cNvPr id="334879" name="Group 31"/>
            <p:cNvGrpSpPr>
              <a:grpSpLocks/>
            </p:cNvGrpSpPr>
            <p:nvPr/>
          </p:nvGrpSpPr>
          <p:grpSpPr bwMode="auto">
            <a:xfrm>
              <a:off x="1248" y="2304"/>
              <a:ext cx="1632" cy="252"/>
              <a:chOff x="3840" y="1370"/>
              <a:chExt cx="1632" cy="252"/>
            </a:xfrm>
          </p:grpSpPr>
          <p:grpSp>
            <p:nvGrpSpPr>
              <p:cNvPr id="334880" name="Group 32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34881" name="Rectangle 3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4882" name="Text Box 3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4883" name="Group 35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34884" name="Rectangle 3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4885" name="Text Box 3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4886" name="Group 38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34887" name="Rectangle 3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4888" name="Text Box 4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4889" name="Group 41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34890" name="Rectangle 4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4891" name="Text Box 4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4892" name="Group 44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34893" name="Rectangle 4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4894" name="Text Box 4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4895" name="Group 47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34896" name="Rectangle 4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4897" name="Text Box 4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4898" name="Group 50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34899" name="Rectangle 5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4900" name="Text Box 5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4901" name="Group 53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34902" name="Rectangle 5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4903" name="Text Box 5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34904" name="Group 56"/>
            <p:cNvGrpSpPr>
              <a:grpSpLocks/>
            </p:cNvGrpSpPr>
            <p:nvPr/>
          </p:nvGrpSpPr>
          <p:grpSpPr bwMode="auto">
            <a:xfrm>
              <a:off x="1248" y="2508"/>
              <a:ext cx="1632" cy="252"/>
              <a:chOff x="3840" y="1370"/>
              <a:chExt cx="1632" cy="252"/>
            </a:xfrm>
          </p:grpSpPr>
          <p:grpSp>
            <p:nvGrpSpPr>
              <p:cNvPr id="334905" name="Group 57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34906" name="Rectangle 5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4907" name="Text Box 5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20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4908" name="Group 60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34909" name="Rectangle 6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4910" name="Text Box 6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22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4911" name="Group 63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34912" name="Rectangle 6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4913" name="Text Box 6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28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4914" name="Group 66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34915" name="Rectangle 6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4916" name="Text Box 6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30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4917" name="Group 69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34918" name="Rectangle 7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4919" name="Text Box 7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52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4920" name="Group 72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34921" name="Rectangle 7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4922" name="Text Box 7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54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4923" name="Group 75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34924" name="Rectangle 7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4925" name="Text Box 7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60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4926" name="Group 78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34927" name="Rectangle 7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4928" name="Text Box 8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62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34929" name="Group 81"/>
            <p:cNvGrpSpPr>
              <a:grpSpLocks/>
            </p:cNvGrpSpPr>
            <p:nvPr/>
          </p:nvGrpSpPr>
          <p:grpSpPr bwMode="auto">
            <a:xfrm>
              <a:off x="1248" y="2706"/>
              <a:ext cx="1632" cy="252"/>
              <a:chOff x="3840" y="1370"/>
              <a:chExt cx="1632" cy="252"/>
            </a:xfrm>
          </p:grpSpPr>
          <p:grpSp>
            <p:nvGrpSpPr>
              <p:cNvPr id="334930" name="Group 82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34931" name="Rectangle 8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4932" name="Text Box 8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17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4933" name="Group 85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34934" name="Rectangle 8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4935" name="Text Box 8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19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4936" name="Group 88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34937" name="Rectangle 8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4938" name="Text Box 9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25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4939" name="Group 91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34940" name="Rectangle 9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4941" name="Text Box 9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27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4942" name="Group 94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34943" name="Rectangle 9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4944" name="Text Box 9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49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4945" name="Group 97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34946" name="Rectangle 9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4947" name="Text Box 9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51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4948" name="Group 100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34949" name="Rectangle 10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4950" name="Text Box 10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57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4951" name="Group 103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34952" name="Rectangle 10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4953" name="Text Box 10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59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34954" name="Group 106"/>
            <p:cNvGrpSpPr>
              <a:grpSpLocks/>
            </p:cNvGrpSpPr>
            <p:nvPr/>
          </p:nvGrpSpPr>
          <p:grpSpPr bwMode="auto">
            <a:xfrm>
              <a:off x="1248" y="2904"/>
              <a:ext cx="1632" cy="252"/>
              <a:chOff x="3840" y="1370"/>
              <a:chExt cx="1632" cy="252"/>
            </a:xfrm>
          </p:grpSpPr>
          <p:grpSp>
            <p:nvGrpSpPr>
              <p:cNvPr id="334955" name="Group 107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34956" name="Rectangle 10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4957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16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4958" name="Group 110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34959" name="Rectangle 11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4960" name="Text Box 11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18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4961" name="Group 113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34962" name="Rectangle 11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4963" name="Text Box 11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24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4964" name="Group 116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34965" name="Rectangle 11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4966" name="Text Box 11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26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4967" name="Group 119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34968" name="Rectangle 12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4969" name="Text Box 12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48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4970" name="Group 122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34971" name="Rectangle 12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4972" name="Text Box 12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50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4973" name="Group 125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34974" name="Rectangle 12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4975" name="Text Box 12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56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4976" name="Group 128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34977" name="Rectangle 12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4978" name="Text Box 13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58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34979" name="Group 131"/>
            <p:cNvGrpSpPr>
              <a:grpSpLocks/>
            </p:cNvGrpSpPr>
            <p:nvPr/>
          </p:nvGrpSpPr>
          <p:grpSpPr bwMode="auto">
            <a:xfrm>
              <a:off x="1248" y="3102"/>
              <a:ext cx="1632" cy="252"/>
              <a:chOff x="3840" y="1370"/>
              <a:chExt cx="1632" cy="252"/>
            </a:xfrm>
          </p:grpSpPr>
          <p:grpSp>
            <p:nvGrpSpPr>
              <p:cNvPr id="334980" name="Group 132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34981" name="Rectangle 13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4982" name="Text Box 13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4983" name="Group 135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34984" name="Rectangle 13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4985" name="Text Box 13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7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4986" name="Group 138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34987" name="Rectangle 13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4988" name="Text Box 14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13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4989" name="Group 141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34990" name="Rectangle 14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4991" name="Text Box 14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15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4992" name="Group 144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34993" name="Rectangle 14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4994" name="Text Box 14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37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4995" name="Group 147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34996" name="Rectangle 14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4997" name="Text Box 14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39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4998" name="Group 150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34999" name="Rectangle 15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000" name="Text Box 15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45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001" name="Group 153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35002" name="Rectangle 15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003" name="Text Box 15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47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35004" name="Group 156"/>
            <p:cNvGrpSpPr>
              <a:grpSpLocks/>
            </p:cNvGrpSpPr>
            <p:nvPr/>
          </p:nvGrpSpPr>
          <p:grpSpPr bwMode="auto">
            <a:xfrm>
              <a:off x="1248" y="3300"/>
              <a:ext cx="1632" cy="252"/>
              <a:chOff x="3840" y="1370"/>
              <a:chExt cx="1632" cy="252"/>
            </a:xfrm>
          </p:grpSpPr>
          <p:grpSp>
            <p:nvGrpSpPr>
              <p:cNvPr id="335005" name="Group 157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35006" name="Rectangle 15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007" name="Text Box 15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008" name="Group 160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35009" name="Rectangle 16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010" name="Text Box 16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6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011" name="Group 163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35012" name="Rectangle 16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013" name="Text Box 16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12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014" name="Group 166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35015" name="Rectangle 16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016" name="Text Box 16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14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017" name="Group 169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35018" name="Rectangle 17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019" name="Text Box 17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36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020" name="Group 172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35021" name="Rectangle 17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022" name="Text Box 17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38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023" name="Group 175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35024" name="Rectangle 17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025" name="Text Box 17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44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026" name="Group 178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35027" name="Rectangle 17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028" name="Text Box 18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46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35029" name="Group 181"/>
            <p:cNvGrpSpPr>
              <a:grpSpLocks/>
            </p:cNvGrpSpPr>
            <p:nvPr/>
          </p:nvGrpSpPr>
          <p:grpSpPr bwMode="auto">
            <a:xfrm>
              <a:off x="1248" y="3498"/>
              <a:ext cx="1632" cy="252"/>
              <a:chOff x="3840" y="1370"/>
              <a:chExt cx="1632" cy="252"/>
            </a:xfrm>
          </p:grpSpPr>
          <p:grpSp>
            <p:nvGrpSpPr>
              <p:cNvPr id="335030" name="Group 182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35031" name="Rectangle 18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032" name="Text Box 18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033" name="Group 185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35034" name="Rectangle 18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035" name="Text Box 18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036" name="Group 188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35037" name="Rectangle 18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038" name="Text Box 19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9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039" name="Group 191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35040" name="Rectangle 19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041" name="Text Box 19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11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042" name="Group 194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35043" name="Rectangle 19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044" name="Text Box 19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33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045" name="Group 197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35046" name="Rectangle 19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047" name="Text Box 19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35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048" name="Group 200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35049" name="Rectangle 20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050" name="Text Box 20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41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051" name="Group 203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35052" name="Rectangle 20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053" name="Text Box 20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43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35054" name="Group 206"/>
            <p:cNvGrpSpPr>
              <a:grpSpLocks/>
            </p:cNvGrpSpPr>
            <p:nvPr/>
          </p:nvGrpSpPr>
          <p:grpSpPr bwMode="auto">
            <a:xfrm>
              <a:off x="1248" y="3696"/>
              <a:ext cx="1632" cy="252"/>
              <a:chOff x="3840" y="1370"/>
              <a:chExt cx="1632" cy="252"/>
            </a:xfrm>
          </p:grpSpPr>
          <p:grpSp>
            <p:nvGrpSpPr>
              <p:cNvPr id="335055" name="Group 207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35056" name="Rectangle 20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057" name="Text Box 20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0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058" name="Group 210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35059" name="Rectangle 21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060" name="Text Box 21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2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061" name="Group 213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35062" name="Rectangle 21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063" name="Text Box 21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8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064" name="Group 216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35065" name="Rectangle 21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066" name="Text Box 21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10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067" name="Group 219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35068" name="Rectangle 22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069" name="Text Box 22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32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070" name="Group 222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35071" name="Rectangle 22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072" name="Text Box 22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34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073" name="Group 225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35074" name="Rectangle 22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075" name="Text Box 22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40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076" name="Group 228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35077" name="Rectangle 22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078" name="Text Box 23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42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</p:grpSp>
      <p:sp>
        <p:nvSpPr>
          <p:cNvPr id="334850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609600" y="533400"/>
            <a:ext cx="8534400" cy="762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z="2900"/>
              <a:t>Embedding of the 2-dim. space into a 1-dim space</a:t>
            </a:r>
            <a:endParaRPr lang="bg-BG" sz="2900"/>
          </a:p>
        </p:txBody>
      </p:sp>
      <p:sp>
        <p:nvSpPr>
          <p:cNvPr id="3348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9600" y="1295400"/>
            <a:ext cx="5410200" cy="5181600"/>
          </a:xfrm>
          <a:noFill/>
          <a:ln/>
        </p:spPr>
        <p:txBody>
          <a:bodyPr/>
          <a:lstStyle/>
          <a:p>
            <a:pPr marL="228600" indent="-228600">
              <a:lnSpc>
                <a:spcPct val="90000"/>
              </a:lnSpc>
            </a:pPr>
            <a:r>
              <a:rPr lang="bg-BG" sz="2400"/>
              <a:t>Basic Idea:</a:t>
            </a:r>
          </a:p>
          <a:p>
            <a:pPr marL="228600" indent="-228600">
              <a:lnSpc>
                <a:spcPct val="90000"/>
              </a:lnSpc>
              <a:buFont typeface="Wingdings" pitchFamily="2" charset="2"/>
              <a:buChar char="n"/>
            </a:pPr>
            <a:r>
              <a:rPr lang="bg-BG" sz="2400"/>
              <a:t> The data space is partitioned into rectangular</a:t>
            </a:r>
            <a:r>
              <a:rPr lang="en-US" sz="2400"/>
              <a:t> </a:t>
            </a:r>
            <a:r>
              <a:rPr lang="bg-BG" sz="2400"/>
              <a:t>cells.</a:t>
            </a:r>
          </a:p>
          <a:p>
            <a:pPr marL="228600" indent="-228600">
              <a:lnSpc>
                <a:spcPct val="90000"/>
              </a:lnSpc>
              <a:buFont typeface="Wingdings" pitchFamily="2" charset="2"/>
              <a:buChar char="n"/>
            </a:pPr>
            <a:r>
              <a:rPr lang="bg-BG" sz="2400"/>
              <a:t> Use a space filling curve to assign cell numbers</a:t>
            </a:r>
            <a:r>
              <a:rPr lang="en-US" sz="2400"/>
              <a:t> </a:t>
            </a:r>
            <a:r>
              <a:rPr lang="bg-BG" sz="2400"/>
              <a:t>to the cells (define a linear order on the cells)</a:t>
            </a:r>
          </a:p>
          <a:p>
            <a:pPr marL="749300" lvl="1" indent="-177800">
              <a:lnSpc>
                <a:spcPct val="90000"/>
              </a:lnSpc>
            </a:pPr>
            <a:r>
              <a:rPr lang="en-US" sz="2200"/>
              <a:t> </a:t>
            </a:r>
            <a:r>
              <a:rPr lang="bg-BG" sz="2200"/>
              <a:t>The curve should preserve spatial proximity as</a:t>
            </a:r>
            <a:r>
              <a:rPr lang="en-US" sz="2200"/>
              <a:t> </a:t>
            </a:r>
            <a:r>
              <a:rPr lang="bg-BG" sz="2200"/>
              <a:t>good as possible</a:t>
            </a:r>
          </a:p>
          <a:p>
            <a:pPr marL="749300" lvl="1" indent="-177800">
              <a:lnSpc>
                <a:spcPct val="90000"/>
              </a:lnSpc>
            </a:pPr>
            <a:r>
              <a:rPr lang="en-US" sz="2200"/>
              <a:t> </a:t>
            </a:r>
            <a:r>
              <a:rPr lang="bg-BG" sz="2200"/>
              <a:t>Cell numbers should be easy to compute</a:t>
            </a:r>
          </a:p>
          <a:p>
            <a:pPr marL="228600" indent="-228600">
              <a:lnSpc>
                <a:spcPct val="90000"/>
              </a:lnSpc>
              <a:buFont typeface="Wingdings" pitchFamily="2" charset="2"/>
              <a:buChar char="n"/>
            </a:pPr>
            <a:r>
              <a:rPr lang="bg-BG" sz="2400"/>
              <a:t> Objects are approximated by cells.</a:t>
            </a:r>
          </a:p>
          <a:p>
            <a:pPr marL="228600" indent="-228600">
              <a:lnSpc>
                <a:spcPct val="90000"/>
              </a:lnSpc>
              <a:buFont typeface="Wingdings" pitchFamily="2" charset="2"/>
              <a:buChar char="n"/>
            </a:pPr>
            <a:r>
              <a:rPr lang="bg-BG" sz="2400"/>
              <a:t> Store the cell numbers for objects in a</a:t>
            </a:r>
            <a:r>
              <a:rPr lang="en-US" sz="2400"/>
              <a:t> </a:t>
            </a:r>
            <a:r>
              <a:rPr lang="bg-BG" sz="2400"/>
              <a:t>conventional index structure with respect to the</a:t>
            </a:r>
            <a:r>
              <a:rPr lang="en-US" sz="2400"/>
              <a:t> </a:t>
            </a:r>
            <a:r>
              <a:rPr lang="bg-BG" sz="2400"/>
              <a:t>linear order</a:t>
            </a:r>
          </a:p>
        </p:txBody>
      </p:sp>
      <p:grpSp>
        <p:nvGrpSpPr>
          <p:cNvPr id="334877" name="Group 29"/>
          <p:cNvGrpSpPr>
            <a:grpSpLocks/>
          </p:cNvGrpSpPr>
          <p:nvPr/>
        </p:nvGrpSpPr>
        <p:grpSpPr bwMode="auto">
          <a:xfrm>
            <a:off x="6096000" y="2174875"/>
            <a:ext cx="2590800" cy="400050"/>
            <a:chOff x="3840" y="1370"/>
            <a:chExt cx="1632" cy="252"/>
          </a:xfrm>
        </p:grpSpPr>
        <p:grpSp>
          <p:nvGrpSpPr>
            <p:cNvPr id="334855" name="Group 7"/>
            <p:cNvGrpSpPr>
              <a:grpSpLocks/>
            </p:cNvGrpSpPr>
            <p:nvPr/>
          </p:nvGrpSpPr>
          <p:grpSpPr bwMode="auto">
            <a:xfrm>
              <a:off x="3840" y="1370"/>
              <a:ext cx="230" cy="252"/>
              <a:chOff x="4406" y="1370"/>
              <a:chExt cx="230" cy="252"/>
            </a:xfrm>
          </p:grpSpPr>
          <p:sp>
            <p:nvSpPr>
              <p:cNvPr id="334854" name="Rectangle 6"/>
              <p:cNvSpPr>
                <a:spLocks noChangeArrowheads="1"/>
              </p:cNvSpPr>
              <p:nvPr/>
            </p:nvSpPr>
            <p:spPr bwMode="auto">
              <a:xfrm>
                <a:off x="4416" y="1370"/>
                <a:ext cx="202" cy="202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4853" name="Text Box 5"/>
              <p:cNvSpPr txBox="1">
                <a:spLocks noChangeArrowheads="1"/>
              </p:cNvSpPr>
              <p:nvPr/>
            </p:nvSpPr>
            <p:spPr bwMode="auto">
              <a:xfrm>
                <a:off x="4406" y="1392"/>
                <a:ext cx="230" cy="23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>
                  <a:spcBef>
                    <a:spcPct val="50000"/>
                  </a:spcBef>
                </a:pPr>
                <a:r>
                  <a:rPr lang="en-US" sz="1200" b="1">
                    <a:latin typeface="Book Antiqua" pitchFamily="18" charset="0"/>
                  </a:rPr>
                  <a:t>21</a:t>
                </a:r>
                <a:endParaRPr lang="bg-BG" sz="1200" b="1">
                  <a:latin typeface="Book Antiqua" pitchFamily="18" charset="0"/>
                </a:endParaRPr>
              </a:p>
            </p:txBody>
          </p:sp>
        </p:grpSp>
        <p:grpSp>
          <p:nvGrpSpPr>
            <p:cNvPr id="334856" name="Group 8"/>
            <p:cNvGrpSpPr>
              <a:grpSpLocks/>
            </p:cNvGrpSpPr>
            <p:nvPr/>
          </p:nvGrpSpPr>
          <p:grpSpPr bwMode="auto">
            <a:xfrm>
              <a:off x="4040" y="1370"/>
              <a:ext cx="230" cy="252"/>
              <a:chOff x="4406" y="1370"/>
              <a:chExt cx="230" cy="252"/>
            </a:xfrm>
          </p:grpSpPr>
          <p:sp>
            <p:nvSpPr>
              <p:cNvPr id="334857" name="Rectangle 9"/>
              <p:cNvSpPr>
                <a:spLocks noChangeArrowheads="1"/>
              </p:cNvSpPr>
              <p:nvPr/>
            </p:nvSpPr>
            <p:spPr bwMode="auto">
              <a:xfrm>
                <a:off x="4416" y="1370"/>
                <a:ext cx="202" cy="202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4858" name="Text Box 10"/>
              <p:cNvSpPr txBox="1">
                <a:spLocks noChangeArrowheads="1"/>
              </p:cNvSpPr>
              <p:nvPr/>
            </p:nvSpPr>
            <p:spPr bwMode="auto">
              <a:xfrm>
                <a:off x="4406" y="1392"/>
                <a:ext cx="230" cy="23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>
                  <a:spcBef>
                    <a:spcPct val="50000"/>
                  </a:spcBef>
                </a:pPr>
                <a:r>
                  <a:rPr lang="en-US" sz="1200" b="1">
                    <a:latin typeface="Book Antiqua" pitchFamily="18" charset="0"/>
                  </a:rPr>
                  <a:t>23</a:t>
                </a:r>
                <a:endParaRPr lang="bg-BG" sz="1200" b="1">
                  <a:latin typeface="Book Antiqua" pitchFamily="18" charset="0"/>
                </a:endParaRPr>
              </a:p>
            </p:txBody>
          </p:sp>
        </p:grpSp>
        <p:grpSp>
          <p:nvGrpSpPr>
            <p:cNvPr id="334859" name="Group 11"/>
            <p:cNvGrpSpPr>
              <a:grpSpLocks/>
            </p:cNvGrpSpPr>
            <p:nvPr/>
          </p:nvGrpSpPr>
          <p:grpSpPr bwMode="auto">
            <a:xfrm>
              <a:off x="4244" y="1370"/>
              <a:ext cx="230" cy="252"/>
              <a:chOff x="4406" y="1370"/>
              <a:chExt cx="230" cy="252"/>
            </a:xfrm>
          </p:grpSpPr>
          <p:sp>
            <p:nvSpPr>
              <p:cNvPr id="334860" name="Rectangle 12"/>
              <p:cNvSpPr>
                <a:spLocks noChangeArrowheads="1"/>
              </p:cNvSpPr>
              <p:nvPr/>
            </p:nvSpPr>
            <p:spPr bwMode="auto">
              <a:xfrm>
                <a:off x="4416" y="1370"/>
                <a:ext cx="202" cy="202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4861" name="Text Box 13"/>
              <p:cNvSpPr txBox="1">
                <a:spLocks noChangeArrowheads="1"/>
              </p:cNvSpPr>
              <p:nvPr/>
            </p:nvSpPr>
            <p:spPr bwMode="auto">
              <a:xfrm>
                <a:off x="4406" y="1392"/>
                <a:ext cx="230" cy="23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>
                  <a:spcBef>
                    <a:spcPct val="50000"/>
                  </a:spcBef>
                </a:pPr>
                <a:r>
                  <a:rPr lang="en-US" sz="1200" b="1">
                    <a:latin typeface="Book Antiqua" pitchFamily="18" charset="0"/>
                  </a:rPr>
                  <a:t>29</a:t>
                </a:r>
                <a:endParaRPr lang="bg-BG" sz="1200" b="1">
                  <a:latin typeface="Book Antiqua" pitchFamily="18" charset="0"/>
                </a:endParaRPr>
              </a:p>
            </p:txBody>
          </p:sp>
        </p:grpSp>
        <p:grpSp>
          <p:nvGrpSpPr>
            <p:cNvPr id="334862" name="Group 14"/>
            <p:cNvGrpSpPr>
              <a:grpSpLocks/>
            </p:cNvGrpSpPr>
            <p:nvPr/>
          </p:nvGrpSpPr>
          <p:grpSpPr bwMode="auto">
            <a:xfrm>
              <a:off x="4448" y="1370"/>
              <a:ext cx="230" cy="252"/>
              <a:chOff x="4406" y="1370"/>
              <a:chExt cx="230" cy="252"/>
            </a:xfrm>
          </p:grpSpPr>
          <p:sp>
            <p:nvSpPr>
              <p:cNvPr id="334863" name="Rectangle 15"/>
              <p:cNvSpPr>
                <a:spLocks noChangeArrowheads="1"/>
              </p:cNvSpPr>
              <p:nvPr/>
            </p:nvSpPr>
            <p:spPr bwMode="auto">
              <a:xfrm>
                <a:off x="4416" y="1370"/>
                <a:ext cx="202" cy="202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4864" name="Text Box 16"/>
              <p:cNvSpPr txBox="1">
                <a:spLocks noChangeArrowheads="1"/>
              </p:cNvSpPr>
              <p:nvPr/>
            </p:nvSpPr>
            <p:spPr bwMode="auto">
              <a:xfrm>
                <a:off x="4406" y="1392"/>
                <a:ext cx="230" cy="23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>
                  <a:spcBef>
                    <a:spcPct val="50000"/>
                  </a:spcBef>
                </a:pPr>
                <a:r>
                  <a:rPr lang="en-US" sz="1200" b="1">
                    <a:latin typeface="Book Antiqua" pitchFamily="18" charset="0"/>
                  </a:rPr>
                  <a:t>31</a:t>
                </a:r>
                <a:endParaRPr lang="bg-BG" sz="1200" b="1">
                  <a:latin typeface="Book Antiqua" pitchFamily="18" charset="0"/>
                </a:endParaRPr>
              </a:p>
            </p:txBody>
          </p:sp>
        </p:grpSp>
        <p:grpSp>
          <p:nvGrpSpPr>
            <p:cNvPr id="334865" name="Group 17"/>
            <p:cNvGrpSpPr>
              <a:grpSpLocks/>
            </p:cNvGrpSpPr>
            <p:nvPr/>
          </p:nvGrpSpPr>
          <p:grpSpPr bwMode="auto">
            <a:xfrm>
              <a:off x="4646" y="1370"/>
              <a:ext cx="230" cy="252"/>
              <a:chOff x="4406" y="1370"/>
              <a:chExt cx="230" cy="252"/>
            </a:xfrm>
          </p:grpSpPr>
          <p:sp>
            <p:nvSpPr>
              <p:cNvPr id="334866" name="Rectangle 18"/>
              <p:cNvSpPr>
                <a:spLocks noChangeArrowheads="1"/>
              </p:cNvSpPr>
              <p:nvPr/>
            </p:nvSpPr>
            <p:spPr bwMode="auto">
              <a:xfrm>
                <a:off x="4416" y="1370"/>
                <a:ext cx="202" cy="202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4867" name="Text Box 19"/>
              <p:cNvSpPr txBox="1">
                <a:spLocks noChangeArrowheads="1"/>
              </p:cNvSpPr>
              <p:nvPr/>
            </p:nvSpPr>
            <p:spPr bwMode="auto">
              <a:xfrm>
                <a:off x="4406" y="1392"/>
                <a:ext cx="230" cy="23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>
                  <a:spcBef>
                    <a:spcPct val="50000"/>
                  </a:spcBef>
                </a:pPr>
                <a:r>
                  <a:rPr lang="en-US" sz="1200" b="1">
                    <a:latin typeface="Book Antiqua" pitchFamily="18" charset="0"/>
                  </a:rPr>
                  <a:t>53</a:t>
                </a:r>
                <a:endParaRPr lang="bg-BG" sz="1200" b="1">
                  <a:latin typeface="Book Antiqua" pitchFamily="18" charset="0"/>
                </a:endParaRPr>
              </a:p>
            </p:txBody>
          </p:sp>
        </p:grpSp>
        <p:grpSp>
          <p:nvGrpSpPr>
            <p:cNvPr id="334868" name="Group 20"/>
            <p:cNvGrpSpPr>
              <a:grpSpLocks/>
            </p:cNvGrpSpPr>
            <p:nvPr/>
          </p:nvGrpSpPr>
          <p:grpSpPr bwMode="auto">
            <a:xfrm>
              <a:off x="4842" y="1370"/>
              <a:ext cx="230" cy="252"/>
              <a:chOff x="4406" y="1370"/>
              <a:chExt cx="230" cy="252"/>
            </a:xfrm>
          </p:grpSpPr>
          <p:sp>
            <p:nvSpPr>
              <p:cNvPr id="334869" name="Rectangle 21"/>
              <p:cNvSpPr>
                <a:spLocks noChangeArrowheads="1"/>
              </p:cNvSpPr>
              <p:nvPr/>
            </p:nvSpPr>
            <p:spPr bwMode="auto">
              <a:xfrm>
                <a:off x="4416" y="1370"/>
                <a:ext cx="202" cy="202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4870" name="Text Box 22"/>
              <p:cNvSpPr txBox="1">
                <a:spLocks noChangeArrowheads="1"/>
              </p:cNvSpPr>
              <p:nvPr/>
            </p:nvSpPr>
            <p:spPr bwMode="auto">
              <a:xfrm>
                <a:off x="4406" y="1392"/>
                <a:ext cx="230" cy="23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>
                  <a:spcBef>
                    <a:spcPct val="50000"/>
                  </a:spcBef>
                </a:pPr>
                <a:r>
                  <a:rPr lang="en-US" sz="1200" b="1">
                    <a:latin typeface="Book Antiqua" pitchFamily="18" charset="0"/>
                  </a:rPr>
                  <a:t>55</a:t>
                </a:r>
                <a:endParaRPr lang="bg-BG" sz="1200" b="1">
                  <a:latin typeface="Book Antiqua" pitchFamily="18" charset="0"/>
                </a:endParaRPr>
              </a:p>
            </p:txBody>
          </p:sp>
        </p:grpSp>
        <p:grpSp>
          <p:nvGrpSpPr>
            <p:cNvPr id="334871" name="Group 23"/>
            <p:cNvGrpSpPr>
              <a:grpSpLocks/>
            </p:cNvGrpSpPr>
            <p:nvPr/>
          </p:nvGrpSpPr>
          <p:grpSpPr bwMode="auto">
            <a:xfrm>
              <a:off x="5040" y="1370"/>
              <a:ext cx="230" cy="252"/>
              <a:chOff x="4406" y="1370"/>
              <a:chExt cx="230" cy="252"/>
            </a:xfrm>
          </p:grpSpPr>
          <p:sp>
            <p:nvSpPr>
              <p:cNvPr id="334872" name="Rectangle 24"/>
              <p:cNvSpPr>
                <a:spLocks noChangeArrowheads="1"/>
              </p:cNvSpPr>
              <p:nvPr/>
            </p:nvSpPr>
            <p:spPr bwMode="auto">
              <a:xfrm>
                <a:off x="4416" y="1370"/>
                <a:ext cx="202" cy="202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4873" name="Text Box 25"/>
              <p:cNvSpPr txBox="1">
                <a:spLocks noChangeArrowheads="1"/>
              </p:cNvSpPr>
              <p:nvPr/>
            </p:nvSpPr>
            <p:spPr bwMode="auto">
              <a:xfrm>
                <a:off x="4406" y="1392"/>
                <a:ext cx="230" cy="23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>
                  <a:spcBef>
                    <a:spcPct val="50000"/>
                  </a:spcBef>
                </a:pPr>
                <a:r>
                  <a:rPr lang="en-US" sz="1200" b="1">
                    <a:latin typeface="Book Antiqua" pitchFamily="18" charset="0"/>
                  </a:rPr>
                  <a:t>61</a:t>
                </a:r>
                <a:endParaRPr lang="bg-BG" sz="1200" b="1">
                  <a:latin typeface="Book Antiqua" pitchFamily="18" charset="0"/>
                </a:endParaRPr>
              </a:p>
            </p:txBody>
          </p:sp>
        </p:grpSp>
        <p:grpSp>
          <p:nvGrpSpPr>
            <p:cNvPr id="334874" name="Group 26"/>
            <p:cNvGrpSpPr>
              <a:grpSpLocks/>
            </p:cNvGrpSpPr>
            <p:nvPr/>
          </p:nvGrpSpPr>
          <p:grpSpPr bwMode="auto">
            <a:xfrm>
              <a:off x="5242" y="1370"/>
              <a:ext cx="230" cy="252"/>
              <a:chOff x="4406" y="1370"/>
              <a:chExt cx="230" cy="252"/>
            </a:xfrm>
          </p:grpSpPr>
          <p:sp>
            <p:nvSpPr>
              <p:cNvPr id="334875" name="Rectangle 27"/>
              <p:cNvSpPr>
                <a:spLocks noChangeArrowheads="1"/>
              </p:cNvSpPr>
              <p:nvPr/>
            </p:nvSpPr>
            <p:spPr bwMode="auto">
              <a:xfrm>
                <a:off x="4416" y="1370"/>
                <a:ext cx="202" cy="202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4876" name="Text Box 28"/>
              <p:cNvSpPr txBox="1">
                <a:spLocks noChangeArrowheads="1"/>
              </p:cNvSpPr>
              <p:nvPr/>
            </p:nvSpPr>
            <p:spPr bwMode="auto">
              <a:xfrm>
                <a:off x="4406" y="1392"/>
                <a:ext cx="230" cy="23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>
                  <a:spcBef>
                    <a:spcPct val="50000"/>
                  </a:spcBef>
                </a:pPr>
                <a:r>
                  <a:rPr lang="en-US" sz="1200" b="1">
                    <a:latin typeface="Book Antiqua" pitchFamily="18" charset="0"/>
                  </a:rPr>
                  <a:t>63</a:t>
                </a:r>
                <a:endParaRPr lang="bg-BG" sz="1200" b="1">
                  <a:latin typeface="Book Antiqua" pitchFamily="18" charset="0"/>
                </a:endParaRPr>
              </a:p>
            </p:txBody>
          </p:sp>
        </p:grp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6304" name="Group 432"/>
          <p:cNvGrpSpPr>
            <a:grpSpLocks/>
          </p:cNvGrpSpPr>
          <p:nvPr/>
        </p:nvGrpSpPr>
        <p:grpSpPr bwMode="auto">
          <a:xfrm>
            <a:off x="1371600" y="2438400"/>
            <a:ext cx="2590800" cy="2609850"/>
            <a:chOff x="1248" y="2304"/>
            <a:chExt cx="1632" cy="1644"/>
          </a:xfrm>
        </p:grpSpPr>
        <p:grpSp>
          <p:nvGrpSpPr>
            <p:cNvPr id="336305" name="Group 433"/>
            <p:cNvGrpSpPr>
              <a:grpSpLocks/>
            </p:cNvGrpSpPr>
            <p:nvPr/>
          </p:nvGrpSpPr>
          <p:grpSpPr bwMode="auto">
            <a:xfrm>
              <a:off x="1248" y="2304"/>
              <a:ext cx="1632" cy="252"/>
              <a:chOff x="3840" y="1370"/>
              <a:chExt cx="1632" cy="252"/>
            </a:xfrm>
          </p:grpSpPr>
          <p:grpSp>
            <p:nvGrpSpPr>
              <p:cNvPr id="336306" name="Group 434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36307" name="Rectangle 43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308" name="Text Box 43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309" name="Group 437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36310" name="Rectangle 43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311" name="Text Box 43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312" name="Group 440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36313" name="Rectangle 44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314" name="Text Box 44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315" name="Group 443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36316" name="Rectangle 44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317" name="Text Box 44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318" name="Group 446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36319" name="Rectangle 44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320" name="Text Box 44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321" name="Group 449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36322" name="Rectangle 45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323" name="Text Box 45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324" name="Group 452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36325" name="Rectangle 45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326" name="Text Box 45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327" name="Group 455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36328" name="Rectangle 45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329" name="Text Box 45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36330" name="Group 458"/>
            <p:cNvGrpSpPr>
              <a:grpSpLocks/>
            </p:cNvGrpSpPr>
            <p:nvPr/>
          </p:nvGrpSpPr>
          <p:grpSpPr bwMode="auto">
            <a:xfrm>
              <a:off x="1248" y="2508"/>
              <a:ext cx="1632" cy="252"/>
              <a:chOff x="3840" y="1370"/>
              <a:chExt cx="1632" cy="252"/>
            </a:xfrm>
          </p:grpSpPr>
          <p:grpSp>
            <p:nvGrpSpPr>
              <p:cNvPr id="336331" name="Group 459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36332" name="Rectangle 46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333" name="Text Box 46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334" name="Group 462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36335" name="Rectangle 46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336" name="Text Box 46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337" name="Group 465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36338" name="Rectangle 46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339" name="Text Box 46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340" name="Group 468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36341" name="Rectangle 46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342" name="Text Box 47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343" name="Group 471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36344" name="Rectangle 47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345" name="Text Box 47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346" name="Group 474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36347" name="Rectangle 47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348" name="Text Box 47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349" name="Group 477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36350" name="Rectangle 47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351" name="Text Box 47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352" name="Group 480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36353" name="Rectangle 48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354" name="Text Box 48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36355" name="Group 483"/>
            <p:cNvGrpSpPr>
              <a:grpSpLocks/>
            </p:cNvGrpSpPr>
            <p:nvPr/>
          </p:nvGrpSpPr>
          <p:grpSpPr bwMode="auto">
            <a:xfrm>
              <a:off x="1248" y="2706"/>
              <a:ext cx="1632" cy="252"/>
              <a:chOff x="3840" y="1370"/>
              <a:chExt cx="1632" cy="252"/>
            </a:xfrm>
          </p:grpSpPr>
          <p:grpSp>
            <p:nvGrpSpPr>
              <p:cNvPr id="336356" name="Group 484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36357" name="Rectangle 48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358" name="Text Box 48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359" name="Group 487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36360" name="Rectangle 48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361" name="Text Box 48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362" name="Group 490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36363" name="Rectangle 49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364" name="Text Box 49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365" name="Group 493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36366" name="Rectangle 49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367" name="Text Box 49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368" name="Group 496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36369" name="Rectangle 49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370" name="Text Box 49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371" name="Group 499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36372" name="Rectangle 50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373" name="Text Box 50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374" name="Group 502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36375" name="Rectangle 50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376" name="Text Box 50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377" name="Group 505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36378" name="Rectangle 50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379" name="Text Box 50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36380" name="Group 508"/>
            <p:cNvGrpSpPr>
              <a:grpSpLocks/>
            </p:cNvGrpSpPr>
            <p:nvPr/>
          </p:nvGrpSpPr>
          <p:grpSpPr bwMode="auto">
            <a:xfrm>
              <a:off x="1248" y="2904"/>
              <a:ext cx="1632" cy="252"/>
              <a:chOff x="3840" y="1370"/>
              <a:chExt cx="1632" cy="252"/>
            </a:xfrm>
          </p:grpSpPr>
          <p:grpSp>
            <p:nvGrpSpPr>
              <p:cNvPr id="336381" name="Group 509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36382" name="Rectangle 51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383" name="Text Box 51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384" name="Group 512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36385" name="Rectangle 51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386" name="Text Box 51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387" name="Group 515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36388" name="Rectangle 51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389" name="Text Box 51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390" name="Group 518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36391" name="Rectangle 51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392" name="Text Box 52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393" name="Group 521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36394" name="Rectangle 52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395" name="Text Box 52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396" name="Group 524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36397" name="Rectangle 52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398" name="Text Box 52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399" name="Group 527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36400" name="Rectangle 52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401" name="Text Box 52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402" name="Group 530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36403" name="Rectangle 53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404" name="Text Box 53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36405" name="Group 533"/>
            <p:cNvGrpSpPr>
              <a:grpSpLocks/>
            </p:cNvGrpSpPr>
            <p:nvPr/>
          </p:nvGrpSpPr>
          <p:grpSpPr bwMode="auto">
            <a:xfrm>
              <a:off x="1248" y="3102"/>
              <a:ext cx="1632" cy="252"/>
              <a:chOff x="3840" y="1370"/>
              <a:chExt cx="1632" cy="252"/>
            </a:xfrm>
          </p:grpSpPr>
          <p:grpSp>
            <p:nvGrpSpPr>
              <p:cNvPr id="336406" name="Group 534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36407" name="Rectangle 53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408" name="Text Box 53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409" name="Group 537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36410" name="Rectangle 53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411" name="Text Box 53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412" name="Group 540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36413" name="Rectangle 54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414" name="Text Box 54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415" name="Group 543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36416" name="Rectangle 54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417" name="Text Box 54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418" name="Group 546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36419" name="Rectangle 54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420" name="Text Box 54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421" name="Group 549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36422" name="Rectangle 55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423" name="Text Box 55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424" name="Group 552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36425" name="Rectangle 55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426" name="Text Box 55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427" name="Group 555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36428" name="Rectangle 55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429" name="Text Box 55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36430" name="Group 558"/>
            <p:cNvGrpSpPr>
              <a:grpSpLocks/>
            </p:cNvGrpSpPr>
            <p:nvPr/>
          </p:nvGrpSpPr>
          <p:grpSpPr bwMode="auto">
            <a:xfrm>
              <a:off x="1248" y="3300"/>
              <a:ext cx="1632" cy="252"/>
              <a:chOff x="3840" y="1370"/>
              <a:chExt cx="1632" cy="252"/>
            </a:xfrm>
          </p:grpSpPr>
          <p:grpSp>
            <p:nvGrpSpPr>
              <p:cNvPr id="336431" name="Group 559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36432" name="Rectangle 56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433" name="Text Box 56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434" name="Group 562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36435" name="Rectangle 56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436" name="Text Box 56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437" name="Group 565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36438" name="Rectangle 56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439" name="Text Box 56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440" name="Group 568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36441" name="Rectangle 56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442" name="Text Box 57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443" name="Group 571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36444" name="Rectangle 57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445" name="Text Box 57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446" name="Group 574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36447" name="Rectangle 57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448" name="Text Box 57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449" name="Group 577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36450" name="Rectangle 57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451" name="Text Box 57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452" name="Group 580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36453" name="Rectangle 58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454" name="Text Box 58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36455" name="Group 583"/>
            <p:cNvGrpSpPr>
              <a:grpSpLocks/>
            </p:cNvGrpSpPr>
            <p:nvPr/>
          </p:nvGrpSpPr>
          <p:grpSpPr bwMode="auto">
            <a:xfrm>
              <a:off x="1248" y="3498"/>
              <a:ext cx="1632" cy="252"/>
              <a:chOff x="3840" y="1370"/>
              <a:chExt cx="1632" cy="252"/>
            </a:xfrm>
          </p:grpSpPr>
          <p:grpSp>
            <p:nvGrpSpPr>
              <p:cNvPr id="336456" name="Group 584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36457" name="Rectangle 58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458" name="Text Box 58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459" name="Group 587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36460" name="Rectangle 58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461" name="Text Box 58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462" name="Group 590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36463" name="Rectangle 59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464" name="Text Box 59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465" name="Group 593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36466" name="Rectangle 59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467" name="Text Box 59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468" name="Group 596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36469" name="Rectangle 59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470" name="Text Box 59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471" name="Group 599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36472" name="Rectangle 60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473" name="Text Box 60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474" name="Group 602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36475" name="Rectangle 60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476" name="Text Box 60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477" name="Group 605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36478" name="Rectangle 60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479" name="Text Box 60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36480" name="Group 608"/>
            <p:cNvGrpSpPr>
              <a:grpSpLocks/>
            </p:cNvGrpSpPr>
            <p:nvPr/>
          </p:nvGrpSpPr>
          <p:grpSpPr bwMode="auto">
            <a:xfrm>
              <a:off x="1248" y="3696"/>
              <a:ext cx="1632" cy="252"/>
              <a:chOff x="3840" y="1370"/>
              <a:chExt cx="1632" cy="252"/>
            </a:xfrm>
          </p:grpSpPr>
          <p:grpSp>
            <p:nvGrpSpPr>
              <p:cNvPr id="336481" name="Group 609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36482" name="Rectangle 61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483" name="Text Box 61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484" name="Group 612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36485" name="Rectangle 61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486" name="Text Box 61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487" name="Group 615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36488" name="Rectangle 61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489" name="Text Box 61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490" name="Group 618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36491" name="Rectangle 61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492" name="Text Box 62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493" name="Group 621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36494" name="Rectangle 62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495" name="Text Box 62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496" name="Group 624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36497" name="Rectangle 62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498" name="Text Box 62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499" name="Group 627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36500" name="Rectangle 62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501" name="Text Box 62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502" name="Group 630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36503" name="Rectangle 63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504" name="Text Box 63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</p:grpSp>
      <p:sp>
        <p:nvSpPr>
          <p:cNvPr id="335874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609600" y="533400"/>
            <a:ext cx="8534400" cy="762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Space Filling Curves</a:t>
            </a:r>
            <a:endParaRPr lang="bg-BG"/>
          </a:p>
        </p:txBody>
      </p:sp>
      <p:sp>
        <p:nvSpPr>
          <p:cNvPr id="3358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9600" y="1295400"/>
            <a:ext cx="8458200" cy="533400"/>
          </a:xfrm>
          <a:noFill/>
          <a:ln/>
        </p:spPr>
        <p:txBody>
          <a:bodyPr/>
          <a:lstStyle/>
          <a:p>
            <a:pPr marL="228600" indent="-228600">
              <a:lnSpc>
                <a:spcPct val="90000"/>
              </a:lnSpc>
              <a:buFont typeface="Wingdings" pitchFamily="2" charset="2"/>
              <a:buChar char="n"/>
            </a:pPr>
            <a:r>
              <a:rPr lang="en-US"/>
              <a:t> Lexicographic order</a:t>
            </a:r>
            <a:endParaRPr lang="bg-BG"/>
          </a:p>
        </p:txBody>
      </p:sp>
      <p:grpSp>
        <p:nvGrpSpPr>
          <p:cNvPr id="336076" name="Group 204"/>
          <p:cNvGrpSpPr>
            <a:grpSpLocks/>
          </p:cNvGrpSpPr>
          <p:nvPr/>
        </p:nvGrpSpPr>
        <p:grpSpPr bwMode="auto">
          <a:xfrm>
            <a:off x="5638800" y="2495550"/>
            <a:ext cx="2590800" cy="2609850"/>
            <a:chOff x="1248" y="2304"/>
            <a:chExt cx="1632" cy="1644"/>
          </a:xfrm>
        </p:grpSpPr>
        <p:grpSp>
          <p:nvGrpSpPr>
            <p:cNvPr id="335876" name="Group 4"/>
            <p:cNvGrpSpPr>
              <a:grpSpLocks/>
            </p:cNvGrpSpPr>
            <p:nvPr/>
          </p:nvGrpSpPr>
          <p:grpSpPr bwMode="auto">
            <a:xfrm>
              <a:off x="1248" y="2304"/>
              <a:ext cx="1632" cy="252"/>
              <a:chOff x="3840" y="1370"/>
              <a:chExt cx="1632" cy="252"/>
            </a:xfrm>
          </p:grpSpPr>
          <p:grpSp>
            <p:nvGrpSpPr>
              <p:cNvPr id="335877" name="Group 5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35878" name="Rectangle 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879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56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880" name="Group 8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35881" name="Rectangle 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882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57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883" name="Group 11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35884" name="Rectangle 1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885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58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886" name="Group 14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35887" name="Rectangle 1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888" name="Text Box 1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59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889" name="Group 17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35890" name="Rectangle 1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891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60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892" name="Group 20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35893" name="Rectangle 2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894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61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895" name="Group 23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35896" name="Rectangle 2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897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62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898" name="Group 26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35899" name="Rectangle 2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900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63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35901" name="Group 29"/>
            <p:cNvGrpSpPr>
              <a:grpSpLocks/>
            </p:cNvGrpSpPr>
            <p:nvPr/>
          </p:nvGrpSpPr>
          <p:grpSpPr bwMode="auto">
            <a:xfrm>
              <a:off x="1248" y="2508"/>
              <a:ext cx="1632" cy="252"/>
              <a:chOff x="3840" y="1370"/>
              <a:chExt cx="1632" cy="252"/>
            </a:xfrm>
          </p:grpSpPr>
          <p:grpSp>
            <p:nvGrpSpPr>
              <p:cNvPr id="335902" name="Group 30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35903" name="Rectangle 3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904" name="Text Box 3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48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905" name="Group 33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35906" name="Rectangle 3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907" name="Text Box 3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49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908" name="Group 36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35909" name="Rectangle 3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910" name="Text Box 3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50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911" name="Group 39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35912" name="Rectangle 4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913" name="Text Box 4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51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914" name="Group 42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35915" name="Rectangle 4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916" name="Text Box 4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52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917" name="Group 45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35918" name="Rectangle 4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919" name="Text Box 4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53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920" name="Group 48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35921" name="Rectangle 4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922" name="Text Box 5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54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923" name="Group 51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35924" name="Rectangle 5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925" name="Text Box 5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55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35926" name="Group 54"/>
            <p:cNvGrpSpPr>
              <a:grpSpLocks/>
            </p:cNvGrpSpPr>
            <p:nvPr/>
          </p:nvGrpSpPr>
          <p:grpSpPr bwMode="auto">
            <a:xfrm>
              <a:off x="1248" y="2706"/>
              <a:ext cx="1632" cy="252"/>
              <a:chOff x="3840" y="1370"/>
              <a:chExt cx="1632" cy="252"/>
            </a:xfrm>
          </p:grpSpPr>
          <p:grpSp>
            <p:nvGrpSpPr>
              <p:cNvPr id="335927" name="Group 55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35928" name="Rectangle 5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929" name="Text Box 5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40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930" name="Group 58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35931" name="Rectangle 5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932" name="Text Box 6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41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933" name="Group 61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35934" name="Rectangle 6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935" name="Text Box 6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42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936" name="Group 64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35937" name="Rectangle 6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938" name="Text Box 6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43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939" name="Group 67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35940" name="Rectangle 6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941" name="Text Box 6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44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942" name="Group 70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35943" name="Rectangle 7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944" name="Text Box 7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45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945" name="Group 73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35946" name="Rectangle 7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947" name="Text Box 7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46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948" name="Group 76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35949" name="Rectangle 7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950" name="Text Box 7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47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35951" name="Group 79"/>
            <p:cNvGrpSpPr>
              <a:grpSpLocks/>
            </p:cNvGrpSpPr>
            <p:nvPr/>
          </p:nvGrpSpPr>
          <p:grpSpPr bwMode="auto">
            <a:xfrm>
              <a:off x="1248" y="2904"/>
              <a:ext cx="1632" cy="252"/>
              <a:chOff x="3840" y="1370"/>
              <a:chExt cx="1632" cy="252"/>
            </a:xfrm>
          </p:grpSpPr>
          <p:grpSp>
            <p:nvGrpSpPr>
              <p:cNvPr id="335952" name="Group 80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35953" name="Rectangle 8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954" name="Text Box 8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32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955" name="Group 83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35956" name="Rectangle 8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957" name="Text Box 8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33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958" name="Group 86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35959" name="Rectangle 8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960" name="Text Box 8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34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961" name="Group 89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35962" name="Rectangle 9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963" name="Text Box 9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35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964" name="Group 92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35965" name="Rectangle 9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966" name="Text Box 9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36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967" name="Group 95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35968" name="Rectangle 9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969" name="Text Box 9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37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970" name="Group 98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35971" name="Rectangle 9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972" name="Text Box 10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38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973" name="Group 101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35974" name="Rectangle 10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975" name="Text Box 10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39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35976" name="Group 104"/>
            <p:cNvGrpSpPr>
              <a:grpSpLocks/>
            </p:cNvGrpSpPr>
            <p:nvPr/>
          </p:nvGrpSpPr>
          <p:grpSpPr bwMode="auto">
            <a:xfrm>
              <a:off x="1248" y="3102"/>
              <a:ext cx="1632" cy="252"/>
              <a:chOff x="3840" y="1370"/>
              <a:chExt cx="1632" cy="252"/>
            </a:xfrm>
          </p:grpSpPr>
          <p:grpSp>
            <p:nvGrpSpPr>
              <p:cNvPr id="335977" name="Group 105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35978" name="Rectangle 10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979" name="Text Box 10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24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980" name="Group 108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35981" name="Rectangle 10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982" name="Text Box 11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25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983" name="Group 111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35984" name="Rectangle 11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985" name="Text Box 11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26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986" name="Group 114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35987" name="Rectangle 11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988" name="Text Box 11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27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989" name="Group 117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35990" name="Rectangle 11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991" name="Text Box 11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28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992" name="Group 120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35993" name="Rectangle 12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994" name="Text Box 12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29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995" name="Group 123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35996" name="Rectangle 12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5997" name="Text Box 12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30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5998" name="Group 126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35999" name="Rectangle 12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000" name="Text Box 12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31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36001" name="Group 129"/>
            <p:cNvGrpSpPr>
              <a:grpSpLocks/>
            </p:cNvGrpSpPr>
            <p:nvPr/>
          </p:nvGrpSpPr>
          <p:grpSpPr bwMode="auto">
            <a:xfrm>
              <a:off x="1248" y="3300"/>
              <a:ext cx="1632" cy="252"/>
              <a:chOff x="3840" y="1370"/>
              <a:chExt cx="1632" cy="252"/>
            </a:xfrm>
          </p:grpSpPr>
          <p:grpSp>
            <p:nvGrpSpPr>
              <p:cNvPr id="336002" name="Group 130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36003" name="Rectangle 13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004" name="Text Box 13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16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005" name="Group 133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36006" name="Rectangle 13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007" name="Text Box 13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17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008" name="Group 136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36009" name="Rectangle 13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010" name="Text Box 13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18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011" name="Group 139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36012" name="Rectangle 14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013" name="Text Box 14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19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014" name="Group 142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36015" name="Rectangle 14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016" name="Text Box 14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20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017" name="Group 145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36018" name="Rectangle 14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019" name="Text Box 14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21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020" name="Group 148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36021" name="Rectangle 14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022" name="Text Box 15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22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023" name="Group 151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36024" name="Rectangle 15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025" name="Text Box 15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23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36026" name="Group 154"/>
            <p:cNvGrpSpPr>
              <a:grpSpLocks/>
            </p:cNvGrpSpPr>
            <p:nvPr/>
          </p:nvGrpSpPr>
          <p:grpSpPr bwMode="auto">
            <a:xfrm>
              <a:off x="1248" y="3498"/>
              <a:ext cx="1632" cy="252"/>
              <a:chOff x="3840" y="1370"/>
              <a:chExt cx="1632" cy="252"/>
            </a:xfrm>
          </p:grpSpPr>
          <p:grpSp>
            <p:nvGrpSpPr>
              <p:cNvPr id="336027" name="Group 155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36028" name="Rectangle 15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029" name="Text Box 15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8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030" name="Group 158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36031" name="Rectangle 15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032" name="Text Box 16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9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033" name="Group 161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36034" name="Rectangle 16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035" name="Text Box 16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10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036" name="Group 164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36037" name="Rectangle 16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038" name="Text Box 16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11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039" name="Group 167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36040" name="Rectangle 16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041" name="Text Box 16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12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042" name="Group 170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36043" name="Rectangle 17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044" name="Text Box 17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13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045" name="Group 173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36046" name="Rectangle 17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047" name="Text Box 17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14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048" name="Group 176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36049" name="Rectangle 17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050" name="Text Box 17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15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36051" name="Group 179"/>
            <p:cNvGrpSpPr>
              <a:grpSpLocks/>
            </p:cNvGrpSpPr>
            <p:nvPr/>
          </p:nvGrpSpPr>
          <p:grpSpPr bwMode="auto">
            <a:xfrm>
              <a:off x="1248" y="3696"/>
              <a:ext cx="1632" cy="252"/>
              <a:chOff x="3840" y="1370"/>
              <a:chExt cx="1632" cy="252"/>
            </a:xfrm>
          </p:grpSpPr>
          <p:grpSp>
            <p:nvGrpSpPr>
              <p:cNvPr id="336052" name="Group 180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36053" name="Rectangle 18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054" name="Text Box 18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0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055" name="Group 183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36056" name="Rectangle 18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057" name="Text Box 18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058" name="Group 186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36059" name="Rectangle 18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060" name="Text Box 18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2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061" name="Group 189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36062" name="Rectangle 19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063" name="Text Box 19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064" name="Group 192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36065" name="Rectangle 19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066" name="Text Box 19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067" name="Group 195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36068" name="Rectangle 19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069" name="Text Box 19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070" name="Group 198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36071" name="Rectangle 19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072" name="Text Box 20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6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6073" name="Group 201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36074" name="Rectangle 20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6075" name="Text Box 20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7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</p:grpSp>
      <p:grpSp>
        <p:nvGrpSpPr>
          <p:cNvPr id="336507" name="Group 635"/>
          <p:cNvGrpSpPr>
            <a:grpSpLocks/>
          </p:cNvGrpSpPr>
          <p:nvPr/>
        </p:nvGrpSpPr>
        <p:grpSpPr bwMode="auto">
          <a:xfrm>
            <a:off x="1447800" y="4495800"/>
            <a:ext cx="2362200" cy="304800"/>
            <a:chOff x="912" y="2832"/>
            <a:chExt cx="1488" cy="192"/>
          </a:xfrm>
        </p:grpSpPr>
        <p:sp>
          <p:nvSpPr>
            <p:cNvPr id="336303" name="Line 431"/>
            <p:cNvSpPr>
              <a:spLocks noChangeShapeType="1"/>
            </p:cNvSpPr>
            <p:nvPr/>
          </p:nvSpPr>
          <p:spPr bwMode="auto">
            <a:xfrm>
              <a:off x="912" y="3024"/>
              <a:ext cx="1488" cy="0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36506" name="Line 634"/>
            <p:cNvSpPr>
              <a:spLocks noChangeShapeType="1"/>
            </p:cNvSpPr>
            <p:nvPr/>
          </p:nvSpPr>
          <p:spPr bwMode="auto">
            <a:xfrm>
              <a:off x="960" y="2832"/>
              <a:ext cx="1440" cy="192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336508" name="Group 636"/>
          <p:cNvGrpSpPr>
            <a:grpSpLocks/>
          </p:cNvGrpSpPr>
          <p:nvPr/>
        </p:nvGrpSpPr>
        <p:grpSpPr bwMode="auto">
          <a:xfrm>
            <a:off x="1504950" y="4181475"/>
            <a:ext cx="2362200" cy="304800"/>
            <a:chOff x="912" y="2832"/>
            <a:chExt cx="1488" cy="192"/>
          </a:xfrm>
        </p:grpSpPr>
        <p:sp>
          <p:nvSpPr>
            <p:cNvPr id="336509" name="Line 637"/>
            <p:cNvSpPr>
              <a:spLocks noChangeShapeType="1"/>
            </p:cNvSpPr>
            <p:nvPr/>
          </p:nvSpPr>
          <p:spPr bwMode="auto">
            <a:xfrm>
              <a:off x="912" y="3024"/>
              <a:ext cx="1488" cy="0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36510" name="Line 638"/>
            <p:cNvSpPr>
              <a:spLocks noChangeShapeType="1"/>
            </p:cNvSpPr>
            <p:nvPr/>
          </p:nvSpPr>
          <p:spPr bwMode="auto">
            <a:xfrm>
              <a:off x="960" y="2832"/>
              <a:ext cx="1440" cy="192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336511" name="Group 639"/>
          <p:cNvGrpSpPr>
            <a:grpSpLocks/>
          </p:cNvGrpSpPr>
          <p:nvPr/>
        </p:nvGrpSpPr>
        <p:grpSpPr bwMode="auto">
          <a:xfrm>
            <a:off x="1476375" y="3867150"/>
            <a:ext cx="2362200" cy="304800"/>
            <a:chOff x="912" y="2832"/>
            <a:chExt cx="1488" cy="192"/>
          </a:xfrm>
        </p:grpSpPr>
        <p:sp>
          <p:nvSpPr>
            <p:cNvPr id="336512" name="Line 640"/>
            <p:cNvSpPr>
              <a:spLocks noChangeShapeType="1"/>
            </p:cNvSpPr>
            <p:nvPr/>
          </p:nvSpPr>
          <p:spPr bwMode="auto">
            <a:xfrm>
              <a:off x="912" y="3024"/>
              <a:ext cx="1488" cy="0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36513" name="Line 641"/>
            <p:cNvSpPr>
              <a:spLocks noChangeShapeType="1"/>
            </p:cNvSpPr>
            <p:nvPr/>
          </p:nvSpPr>
          <p:spPr bwMode="auto">
            <a:xfrm>
              <a:off x="960" y="2832"/>
              <a:ext cx="1440" cy="192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336514" name="Group 642"/>
          <p:cNvGrpSpPr>
            <a:grpSpLocks/>
          </p:cNvGrpSpPr>
          <p:nvPr/>
        </p:nvGrpSpPr>
        <p:grpSpPr bwMode="auto">
          <a:xfrm>
            <a:off x="1476375" y="3552825"/>
            <a:ext cx="2362200" cy="304800"/>
            <a:chOff x="912" y="2832"/>
            <a:chExt cx="1488" cy="192"/>
          </a:xfrm>
        </p:grpSpPr>
        <p:sp>
          <p:nvSpPr>
            <p:cNvPr id="336515" name="Line 643"/>
            <p:cNvSpPr>
              <a:spLocks noChangeShapeType="1"/>
            </p:cNvSpPr>
            <p:nvPr/>
          </p:nvSpPr>
          <p:spPr bwMode="auto">
            <a:xfrm>
              <a:off x="912" y="3024"/>
              <a:ext cx="1488" cy="0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36516" name="Line 644"/>
            <p:cNvSpPr>
              <a:spLocks noChangeShapeType="1"/>
            </p:cNvSpPr>
            <p:nvPr/>
          </p:nvSpPr>
          <p:spPr bwMode="auto">
            <a:xfrm>
              <a:off x="960" y="2832"/>
              <a:ext cx="1440" cy="192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336517" name="Group 645"/>
          <p:cNvGrpSpPr>
            <a:grpSpLocks/>
          </p:cNvGrpSpPr>
          <p:nvPr/>
        </p:nvGrpSpPr>
        <p:grpSpPr bwMode="auto">
          <a:xfrm>
            <a:off x="1476375" y="3248025"/>
            <a:ext cx="2362200" cy="304800"/>
            <a:chOff x="912" y="2832"/>
            <a:chExt cx="1488" cy="192"/>
          </a:xfrm>
        </p:grpSpPr>
        <p:sp>
          <p:nvSpPr>
            <p:cNvPr id="336518" name="Line 646"/>
            <p:cNvSpPr>
              <a:spLocks noChangeShapeType="1"/>
            </p:cNvSpPr>
            <p:nvPr/>
          </p:nvSpPr>
          <p:spPr bwMode="auto">
            <a:xfrm>
              <a:off x="912" y="3024"/>
              <a:ext cx="1488" cy="0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36519" name="Line 647"/>
            <p:cNvSpPr>
              <a:spLocks noChangeShapeType="1"/>
            </p:cNvSpPr>
            <p:nvPr/>
          </p:nvSpPr>
          <p:spPr bwMode="auto">
            <a:xfrm>
              <a:off x="960" y="2832"/>
              <a:ext cx="1440" cy="192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336520" name="Group 648"/>
          <p:cNvGrpSpPr>
            <a:grpSpLocks/>
          </p:cNvGrpSpPr>
          <p:nvPr/>
        </p:nvGrpSpPr>
        <p:grpSpPr bwMode="auto">
          <a:xfrm>
            <a:off x="1485900" y="2943225"/>
            <a:ext cx="2362200" cy="304800"/>
            <a:chOff x="912" y="2832"/>
            <a:chExt cx="1488" cy="192"/>
          </a:xfrm>
        </p:grpSpPr>
        <p:sp>
          <p:nvSpPr>
            <p:cNvPr id="336521" name="Line 649"/>
            <p:cNvSpPr>
              <a:spLocks noChangeShapeType="1"/>
            </p:cNvSpPr>
            <p:nvPr/>
          </p:nvSpPr>
          <p:spPr bwMode="auto">
            <a:xfrm>
              <a:off x="912" y="3024"/>
              <a:ext cx="1488" cy="0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36522" name="Line 650"/>
            <p:cNvSpPr>
              <a:spLocks noChangeShapeType="1"/>
            </p:cNvSpPr>
            <p:nvPr/>
          </p:nvSpPr>
          <p:spPr bwMode="auto">
            <a:xfrm>
              <a:off x="960" y="2832"/>
              <a:ext cx="1440" cy="192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336523" name="Group 651"/>
          <p:cNvGrpSpPr>
            <a:grpSpLocks/>
          </p:cNvGrpSpPr>
          <p:nvPr/>
        </p:nvGrpSpPr>
        <p:grpSpPr bwMode="auto">
          <a:xfrm>
            <a:off x="1485900" y="2638425"/>
            <a:ext cx="2362200" cy="304800"/>
            <a:chOff x="912" y="2832"/>
            <a:chExt cx="1488" cy="192"/>
          </a:xfrm>
        </p:grpSpPr>
        <p:sp>
          <p:nvSpPr>
            <p:cNvPr id="336524" name="Line 652"/>
            <p:cNvSpPr>
              <a:spLocks noChangeShapeType="1"/>
            </p:cNvSpPr>
            <p:nvPr/>
          </p:nvSpPr>
          <p:spPr bwMode="auto">
            <a:xfrm>
              <a:off x="912" y="3024"/>
              <a:ext cx="1488" cy="0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36525" name="Line 653"/>
            <p:cNvSpPr>
              <a:spLocks noChangeShapeType="1"/>
            </p:cNvSpPr>
            <p:nvPr/>
          </p:nvSpPr>
          <p:spPr bwMode="auto">
            <a:xfrm>
              <a:off x="960" y="2832"/>
              <a:ext cx="1440" cy="192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336527" name="Line 655"/>
          <p:cNvSpPr>
            <a:spLocks noChangeShapeType="1"/>
          </p:cNvSpPr>
          <p:nvPr/>
        </p:nvSpPr>
        <p:spPr bwMode="auto">
          <a:xfrm>
            <a:off x="1495425" y="2628900"/>
            <a:ext cx="2362200" cy="0"/>
          </a:xfrm>
          <a:prstGeom prst="line">
            <a:avLst/>
          </a:prstGeom>
          <a:noFill/>
          <a:ln w="19050">
            <a:solidFill>
              <a:schemeClr val="folHlink"/>
            </a:solidFill>
            <a:miter lim="800000"/>
            <a:headEnd/>
            <a:tailEnd type="triangle" w="lg" len="lg"/>
          </a:ln>
          <a:effectLst/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114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609600" y="533400"/>
            <a:ext cx="8534400" cy="762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Space Filling Curves (cont)</a:t>
            </a:r>
            <a:endParaRPr lang="bg-BG"/>
          </a:p>
        </p:txBody>
      </p:sp>
      <p:sp>
        <p:nvSpPr>
          <p:cNvPr id="34611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9600" y="1295400"/>
            <a:ext cx="8458200" cy="533400"/>
          </a:xfrm>
          <a:noFill/>
          <a:ln/>
        </p:spPr>
        <p:txBody>
          <a:bodyPr/>
          <a:lstStyle/>
          <a:p>
            <a:pPr marL="228600" indent="-228600">
              <a:lnSpc>
                <a:spcPct val="90000"/>
              </a:lnSpc>
              <a:buFont typeface="Wingdings" pitchFamily="2" charset="2"/>
              <a:buChar char="n"/>
            </a:pPr>
            <a:r>
              <a:rPr lang="en-US"/>
              <a:t> Hilbert Curve</a:t>
            </a:r>
            <a:endParaRPr lang="bg-BG"/>
          </a:p>
        </p:txBody>
      </p:sp>
      <p:grpSp>
        <p:nvGrpSpPr>
          <p:cNvPr id="346116" name="Group 4"/>
          <p:cNvGrpSpPr>
            <a:grpSpLocks/>
          </p:cNvGrpSpPr>
          <p:nvPr/>
        </p:nvGrpSpPr>
        <p:grpSpPr bwMode="auto">
          <a:xfrm>
            <a:off x="1371600" y="2438400"/>
            <a:ext cx="2590800" cy="2609850"/>
            <a:chOff x="1248" y="2304"/>
            <a:chExt cx="1632" cy="1644"/>
          </a:xfrm>
        </p:grpSpPr>
        <p:grpSp>
          <p:nvGrpSpPr>
            <p:cNvPr id="346117" name="Group 5"/>
            <p:cNvGrpSpPr>
              <a:grpSpLocks/>
            </p:cNvGrpSpPr>
            <p:nvPr/>
          </p:nvGrpSpPr>
          <p:grpSpPr bwMode="auto">
            <a:xfrm>
              <a:off x="1248" y="2304"/>
              <a:ext cx="1632" cy="252"/>
              <a:chOff x="3840" y="1370"/>
              <a:chExt cx="1632" cy="252"/>
            </a:xfrm>
          </p:grpSpPr>
          <p:grpSp>
            <p:nvGrpSpPr>
              <p:cNvPr id="346118" name="Group 6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46119" name="Rectangle 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120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121" name="Group 9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46122" name="Rectangle 1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123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124" name="Group 12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46125" name="Rectangle 1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126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127" name="Group 15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46128" name="Rectangle 1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129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130" name="Group 18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46131" name="Rectangle 1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132" name="Text Box 2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133" name="Group 21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46134" name="Rectangle 2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135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136" name="Group 24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46137" name="Rectangle 2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138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139" name="Group 27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46140" name="Rectangle 2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141" name="Text Box 2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46142" name="Group 30"/>
            <p:cNvGrpSpPr>
              <a:grpSpLocks/>
            </p:cNvGrpSpPr>
            <p:nvPr/>
          </p:nvGrpSpPr>
          <p:grpSpPr bwMode="auto">
            <a:xfrm>
              <a:off x="1248" y="2508"/>
              <a:ext cx="1632" cy="252"/>
              <a:chOff x="3840" y="1370"/>
              <a:chExt cx="1632" cy="252"/>
            </a:xfrm>
          </p:grpSpPr>
          <p:grpSp>
            <p:nvGrpSpPr>
              <p:cNvPr id="346143" name="Group 31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46144" name="Rectangle 3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145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146" name="Group 34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46147" name="Rectangle 3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148" name="Text Box 3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149" name="Group 37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46150" name="Rectangle 3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151" name="Text Box 3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152" name="Group 40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46153" name="Rectangle 4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154" name="Text Box 4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155" name="Group 43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46156" name="Rectangle 4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157" name="Text Box 4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158" name="Group 46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46159" name="Rectangle 4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160" name="Text Box 4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161" name="Group 49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46162" name="Rectangle 5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163" name="Text Box 5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164" name="Group 52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46165" name="Rectangle 5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166" name="Text Box 5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46167" name="Group 55"/>
            <p:cNvGrpSpPr>
              <a:grpSpLocks/>
            </p:cNvGrpSpPr>
            <p:nvPr/>
          </p:nvGrpSpPr>
          <p:grpSpPr bwMode="auto">
            <a:xfrm>
              <a:off x="1248" y="2706"/>
              <a:ext cx="1632" cy="252"/>
              <a:chOff x="3840" y="1370"/>
              <a:chExt cx="1632" cy="252"/>
            </a:xfrm>
          </p:grpSpPr>
          <p:grpSp>
            <p:nvGrpSpPr>
              <p:cNvPr id="346168" name="Group 56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46169" name="Rectangle 5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170" name="Text Box 5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171" name="Group 59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46172" name="Rectangle 6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173" name="Text Box 6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174" name="Group 62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46175" name="Rectangle 6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176" name="Text Box 6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177" name="Group 65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46178" name="Rectangle 6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179" name="Text Box 6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180" name="Group 68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46181" name="Rectangle 6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182" name="Text Box 7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183" name="Group 71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46184" name="Rectangle 7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185" name="Text Box 7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186" name="Group 74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46187" name="Rectangle 7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188" name="Text Box 7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189" name="Group 77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46190" name="Rectangle 7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191" name="Text Box 7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46192" name="Group 80"/>
            <p:cNvGrpSpPr>
              <a:grpSpLocks/>
            </p:cNvGrpSpPr>
            <p:nvPr/>
          </p:nvGrpSpPr>
          <p:grpSpPr bwMode="auto">
            <a:xfrm>
              <a:off x="1248" y="2904"/>
              <a:ext cx="1632" cy="252"/>
              <a:chOff x="3840" y="1370"/>
              <a:chExt cx="1632" cy="252"/>
            </a:xfrm>
          </p:grpSpPr>
          <p:grpSp>
            <p:nvGrpSpPr>
              <p:cNvPr id="346193" name="Group 81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46194" name="Rectangle 8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195" name="Text Box 8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196" name="Group 84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46197" name="Rectangle 8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198" name="Text Box 8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199" name="Group 87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46200" name="Rectangle 8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201" name="Text Box 8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202" name="Group 90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46203" name="Rectangle 9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204" name="Text Box 9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205" name="Group 93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46206" name="Rectangle 9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207" name="Text Box 9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208" name="Group 96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46209" name="Rectangle 9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210" name="Text Box 9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211" name="Group 99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46212" name="Rectangle 10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213" name="Text Box 10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214" name="Group 102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46215" name="Rectangle 10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216" name="Text Box 10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46217" name="Group 105"/>
            <p:cNvGrpSpPr>
              <a:grpSpLocks/>
            </p:cNvGrpSpPr>
            <p:nvPr/>
          </p:nvGrpSpPr>
          <p:grpSpPr bwMode="auto">
            <a:xfrm>
              <a:off x="1248" y="3102"/>
              <a:ext cx="1632" cy="252"/>
              <a:chOff x="3840" y="1370"/>
              <a:chExt cx="1632" cy="252"/>
            </a:xfrm>
          </p:grpSpPr>
          <p:grpSp>
            <p:nvGrpSpPr>
              <p:cNvPr id="346218" name="Group 106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46219" name="Rectangle 10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220" name="Text Box 10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221" name="Group 109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46222" name="Rectangle 11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223" name="Text Box 11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224" name="Group 112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46225" name="Rectangle 11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226" name="Text Box 11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227" name="Group 115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46228" name="Rectangle 11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229" name="Text Box 11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230" name="Group 118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46231" name="Rectangle 11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232" name="Text Box 12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233" name="Group 121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46234" name="Rectangle 12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235" name="Text Box 12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236" name="Group 124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46237" name="Rectangle 12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238" name="Text Box 12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239" name="Group 127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46240" name="Rectangle 12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241" name="Text Box 12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46242" name="Group 130"/>
            <p:cNvGrpSpPr>
              <a:grpSpLocks/>
            </p:cNvGrpSpPr>
            <p:nvPr/>
          </p:nvGrpSpPr>
          <p:grpSpPr bwMode="auto">
            <a:xfrm>
              <a:off x="1248" y="3300"/>
              <a:ext cx="1632" cy="252"/>
              <a:chOff x="3840" y="1370"/>
              <a:chExt cx="1632" cy="252"/>
            </a:xfrm>
          </p:grpSpPr>
          <p:grpSp>
            <p:nvGrpSpPr>
              <p:cNvPr id="346243" name="Group 131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46244" name="Rectangle 13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245" name="Text Box 13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246" name="Group 134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46247" name="Rectangle 13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248" name="Text Box 13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249" name="Group 137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46250" name="Rectangle 13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251" name="Text Box 13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252" name="Group 140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46253" name="Rectangle 14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254" name="Text Box 14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255" name="Group 143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46256" name="Rectangle 14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257" name="Text Box 14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258" name="Group 146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46259" name="Rectangle 14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260" name="Text Box 14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261" name="Group 149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46262" name="Rectangle 15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263" name="Text Box 15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264" name="Group 152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46265" name="Rectangle 15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266" name="Text Box 15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46267" name="Group 155"/>
            <p:cNvGrpSpPr>
              <a:grpSpLocks/>
            </p:cNvGrpSpPr>
            <p:nvPr/>
          </p:nvGrpSpPr>
          <p:grpSpPr bwMode="auto">
            <a:xfrm>
              <a:off x="1248" y="3498"/>
              <a:ext cx="1632" cy="252"/>
              <a:chOff x="3840" y="1370"/>
              <a:chExt cx="1632" cy="252"/>
            </a:xfrm>
          </p:grpSpPr>
          <p:grpSp>
            <p:nvGrpSpPr>
              <p:cNvPr id="346268" name="Group 156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46269" name="Rectangle 15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270" name="Text Box 15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271" name="Group 159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46272" name="Rectangle 16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273" name="Text Box 16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274" name="Group 162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46275" name="Rectangle 16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276" name="Text Box 16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277" name="Group 165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46278" name="Rectangle 16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279" name="Text Box 16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280" name="Group 168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46281" name="Rectangle 16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282" name="Text Box 17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283" name="Group 171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46284" name="Rectangle 17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285" name="Text Box 17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286" name="Group 174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46287" name="Rectangle 17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288" name="Text Box 17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289" name="Group 177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46290" name="Rectangle 17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291" name="Text Box 17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46292" name="Group 180"/>
            <p:cNvGrpSpPr>
              <a:grpSpLocks/>
            </p:cNvGrpSpPr>
            <p:nvPr/>
          </p:nvGrpSpPr>
          <p:grpSpPr bwMode="auto">
            <a:xfrm>
              <a:off x="1248" y="3696"/>
              <a:ext cx="1632" cy="252"/>
              <a:chOff x="3840" y="1370"/>
              <a:chExt cx="1632" cy="252"/>
            </a:xfrm>
          </p:grpSpPr>
          <p:grpSp>
            <p:nvGrpSpPr>
              <p:cNvPr id="346293" name="Group 181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46294" name="Rectangle 18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295" name="Text Box 18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296" name="Group 184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46297" name="Rectangle 18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298" name="Text Box 18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299" name="Group 187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46300" name="Rectangle 18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301" name="Text Box 18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302" name="Group 190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46303" name="Rectangle 19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304" name="Text Box 19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305" name="Group 193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46306" name="Rectangle 19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307" name="Text Box 19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308" name="Group 196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46309" name="Rectangle 19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310" name="Text Box 19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311" name="Group 199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46312" name="Rectangle 20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313" name="Text Box 20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314" name="Group 202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46315" name="Rectangle 20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316" name="Text Box 20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</p:grpSp>
      <p:grpSp>
        <p:nvGrpSpPr>
          <p:cNvPr id="346519" name="Group 407"/>
          <p:cNvGrpSpPr>
            <a:grpSpLocks/>
          </p:cNvGrpSpPr>
          <p:nvPr/>
        </p:nvGrpSpPr>
        <p:grpSpPr bwMode="auto">
          <a:xfrm>
            <a:off x="5638800" y="2495550"/>
            <a:ext cx="2590800" cy="2609850"/>
            <a:chOff x="1248" y="2304"/>
            <a:chExt cx="1632" cy="1644"/>
          </a:xfrm>
        </p:grpSpPr>
        <p:grpSp>
          <p:nvGrpSpPr>
            <p:cNvPr id="346520" name="Group 408"/>
            <p:cNvGrpSpPr>
              <a:grpSpLocks/>
            </p:cNvGrpSpPr>
            <p:nvPr/>
          </p:nvGrpSpPr>
          <p:grpSpPr bwMode="auto">
            <a:xfrm>
              <a:off x="1248" y="2304"/>
              <a:ext cx="1632" cy="252"/>
              <a:chOff x="3840" y="1370"/>
              <a:chExt cx="1632" cy="252"/>
            </a:xfrm>
          </p:grpSpPr>
          <p:grpSp>
            <p:nvGrpSpPr>
              <p:cNvPr id="346521" name="Group 409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46522" name="Rectangle 41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523" name="Text Box 41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63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524" name="Group 412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46525" name="Rectangle 41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526" name="Text Box 41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62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527" name="Group 415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46528" name="Rectangle 41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529" name="Text Box 41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49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530" name="Group 418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46531" name="Rectangle 41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532" name="Text Box 42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48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533" name="Group 421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46534" name="Rectangle 42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535" name="Text Box 42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47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536" name="Group 424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46537" name="Rectangle 42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538" name="Text Box 42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44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539" name="Group 427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46540" name="Rectangle 42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541" name="Text Box 42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43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542" name="Group 430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46543" name="Rectangle 43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544" name="Text Box 43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42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46545" name="Group 433"/>
            <p:cNvGrpSpPr>
              <a:grpSpLocks/>
            </p:cNvGrpSpPr>
            <p:nvPr/>
          </p:nvGrpSpPr>
          <p:grpSpPr bwMode="auto">
            <a:xfrm>
              <a:off x="1248" y="2508"/>
              <a:ext cx="1632" cy="252"/>
              <a:chOff x="3840" y="1370"/>
              <a:chExt cx="1632" cy="252"/>
            </a:xfrm>
          </p:grpSpPr>
          <p:grpSp>
            <p:nvGrpSpPr>
              <p:cNvPr id="346546" name="Group 434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46547" name="Rectangle 43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548" name="Text Box 43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60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549" name="Group 437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46550" name="Rectangle 43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551" name="Text Box 43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61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552" name="Group 440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46553" name="Rectangle 44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554" name="Text Box 44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50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555" name="Group 443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46556" name="Rectangle 44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557" name="Text Box 44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51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558" name="Group 446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46559" name="Rectangle 44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560" name="Text Box 44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46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561" name="Group 449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46562" name="Rectangle 45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563" name="Text Box 45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45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564" name="Group 452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46565" name="Rectangle 45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566" name="Text Box 45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40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567" name="Group 455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46568" name="Rectangle 45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569" name="Text Box 45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41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46570" name="Group 458"/>
            <p:cNvGrpSpPr>
              <a:grpSpLocks/>
            </p:cNvGrpSpPr>
            <p:nvPr/>
          </p:nvGrpSpPr>
          <p:grpSpPr bwMode="auto">
            <a:xfrm>
              <a:off x="1248" y="2706"/>
              <a:ext cx="1632" cy="252"/>
              <a:chOff x="3840" y="1370"/>
              <a:chExt cx="1632" cy="252"/>
            </a:xfrm>
          </p:grpSpPr>
          <p:grpSp>
            <p:nvGrpSpPr>
              <p:cNvPr id="346571" name="Group 459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46572" name="Rectangle 46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573" name="Text Box 46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59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574" name="Group 462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46575" name="Rectangle 46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576" name="Text Box 46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56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577" name="Group 465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46578" name="Rectangle 46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579" name="Text Box 46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55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580" name="Group 468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46581" name="Rectangle 46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582" name="Text Box 47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52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583" name="Group 471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46584" name="Rectangle 47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585" name="Text Box 47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33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586" name="Group 474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46587" name="Rectangle 47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588" name="Text Box 47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34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589" name="Group 477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46590" name="Rectangle 47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591" name="Text Box 47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39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592" name="Group 480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46593" name="Rectangle 48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594" name="Text Box 48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38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46595" name="Group 483"/>
            <p:cNvGrpSpPr>
              <a:grpSpLocks/>
            </p:cNvGrpSpPr>
            <p:nvPr/>
          </p:nvGrpSpPr>
          <p:grpSpPr bwMode="auto">
            <a:xfrm>
              <a:off x="1248" y="2904"/>
              <a:ext cx="1632" cy="252"/>
              <a:chOff x="3840" y="1370"/>
              <a:chExt cx="1632" cy="252"/>
            </a:xfrm>
          </p:grpSpPr>
          <p:grpSp>
            <p:nvGrpSpPr>
              <p:cNvPr id="346596" name="Group 484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46597" name="Rectangle 48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598" name="Text Box 48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58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599" name="Group 487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46600" name="Rectangle 48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601" name="Text Box 48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57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602" name="Group 490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46603" name="Rectangle 49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604" name="Text Box 49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54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605" name="Group 493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46606" name="Rectangle 49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607" name="Text Box 49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53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608" name="Group 496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46609" name="Rectangle 49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610" name="Text Box 49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32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611" name="Group 499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46612" name="Rectangle 50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613" name="Text Box 50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35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614" name="Group 502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46615" name="Rectangle 50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616" name="Text Box 50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36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617" name="Group 505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46618" name="Rectangle 50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619" name="Text Box 50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37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46620" name="Group 508"/>
            <p:cNvGrpSpPr>
              <a:grpSpLocks/>
            </p:cNvGrpSpPr>
            <p:nvPr/>
          </p:nvGrpSpPr>
          <p:grpSpPr bwMode="auto">
            <a:xfrm>
              <a:off x="1248" y="3102"/>
              <a:ext cx="1632" cy="252"/>
              <a:chOff x="3840" y="1370"/>
              <a:chExt cx="1632" cy="252"/>
            </a:xfrm>
          </p:grpSpPr>
          <p:grpSp>
            <p:nvGrpSpPr>
              <p:cNvPr id="346621" name="Group 509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46622" name="Rectangle 51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623" name="Text Box 51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624" name="Group 512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46625" name="Rectangle 51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626" name="Text Box 51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6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627" name="Group 515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46628" name="Rectangle 51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629" name="Text Box 51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9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630" name="Group 518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46631" name="Rectangle 51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632" name="Text Box 52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10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633" name="Group 521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46634" name="Rectangle 52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635" name="Text Box 52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31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636" name="Group 524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46637" name="Rectangle 52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638" name="Text Box 52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28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639" name="Group 527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46640" name="Rectangle 52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641" name="Text Box 52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27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642" name="Group 530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46643" name="Rectangle 53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644" name="Text Box 53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26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46645" name="Group 533"/>
            <p:cNvGrpSpPr>
              <a:grpSpLocks/>
            </p:cNvGrpSpPr>
            <p:nvPr/>
          </p:nvGrpSpPr>
          <p:grpSpPr bwMode="auto">
            <a:xfrm>
              <a:off x="1248" y="3300"/>
              <a:ext cx="1632" cy="252"/>
              <a:chOff x="3840" y="1370"/>
              <a:chExt cx="1632" cy="252"/>
            </a:xfrm>
          </p:grpSpPr>
          <p:grpSp>
            <p:nvGrpSpPr>
              <p:cNvPr id="346646" name="Group 534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46647" name="Rectangle 53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648" name="Text Box 53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649" name="Group 537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46650" name="Rectangle 53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651" name="Text Box 53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7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652" name="Group 540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46653" name="Rectangle 54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654" name="Text Box 54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8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655" name="Group 543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46656" name="Rectangle 54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657" name="Text Box 54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11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658" name="Group 546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46659" name="Rectangle 54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660" name="Text Box 54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30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661" name="Group 549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46662" name="Rectangle 55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663" name="Text Box 55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29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664" name="Group 552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46665" name="Rectangle 55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666" name="Text Box 55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24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667" name="Group 555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46668" name="Rectangle 55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669" name="Text Box 55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25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46670" name="Group 558"/>
            <p:cNvGrpSpPr>
              <a:grpSpLocks/>
            </p:cNvGrpSpPr>
            <p:nvPr/>
          </p:nvGrpSpPr>
          <p:grpSpPr bwMode="auto">
            <a:xfrm>
              <a:off x="1248" y="3498"/>
              <a:ext cx="1632" cy="252"/>
              <a:chOff x="3840" y="1370"/>
              <a:chExt cx="1632" cy="252"/>
            </a:xfrm>
          </p:grpSpPr>
          <p:grpSp>
            <p:nvGrpSpPr>
              <p:cNvPr id="346671" name="Group 559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46672" name="Rectangle 56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673" name="Text Box 56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674" name="Group 562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46675" name="Rectangle 56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676" name="Text Box 56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2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677" name="Group 565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46678" name="Rectangle 56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679" name="Text Box 56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13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680" name="Group 568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46681" name="Rectangle 56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682" name="Text Box 57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12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683" name="Group 571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46684" name="Rectangle 57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685" name="Text Box 57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17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686" name="Group 574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46687" name="Rectangle 57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688" name="Text Box 57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18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689" name="Group 577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46690" name="Rectangle 57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691" name="Text Box 57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23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692" name="Group 580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46693" name="Rectangle 58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694" name="Text Box 58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22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46695" name="Group 583"/>
            <p:cNvGrpSpPr>
              <a:grpSpLocks/>
            </p:cNvGrpSpPr>
            <p:nvPr/>
          </p:nvGrpSpPr>
          <p:grpSpPr bwMode="auto">
            <a:xfrm>
              <a:off x="1248" y="3696"/>
              <a:ext cx="1632" cy="252"/>
              <a:chOff x="3840" y="1370"/>
              <a:chExt cx="1632" cy="252"/>
            </a:xfrm>
          </p:grpSpPr>
          <p:grpSp>
            <p:nvGrpSpPr>
              <p:cNvPr id="346696" name="Group 584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46697" name="Rectangle 58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698" name="Text Box 58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0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699" name="Group 587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46700" name="Rectangle 58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701" name="Text Box 58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702" name="Group 590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46703" name="Rectangle 59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704" name="Text Box 59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14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705" name="Group 593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46706" name="Rectangle 59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707" name="Text Box 59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15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708" name="Group 596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46709" name="Rectangle 59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710" name="Text Box 59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16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711" name="Group 599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46712" name="Rectangle 60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713" name="Text Box 60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19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714" name="Group 602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46715" name="Rectangle 60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716" name="Text Box 60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20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6717" name="Group 605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46718" name="Rectangle 60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6719" name="Text Box 60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21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</p:grpSp>
      <p:sp>
        <p:nvSpPr>
          <p:cNvPr id="346721" name="Freeform 609"/>
          <p:cNvSpPr>
            <a:spLocks/>
          </p:cNvSpPr>
          <p:nvPr/>
        </p:nvSpPr>
        <p:spPr bwMode="auto">
          <a:xfrm>
            <a:off x="1524000" y="2590800"/>
            <a:ext cx="2286000" cy="2209800"/>
          </a:xfrm>
          <a:custGeom>
            <a:avLst/>
            <a:gdLst/>
            <a:ahLst/>
            <a:cxnLst>
              <a:cxn ang="0">
                <a:pos x="0" y="1392"/>
              </a:cxn>
              <a:cxn ang="0">
                <a:pos x="192" y="1392"/>
              </a:cxn>
              <a:cxn ang="0">
                <a:pos x="192" y="1200"/>
              </a:cxn>
              <a:cxn ang="0">
                <a:pos x="0" y="1200"/>
              </a:cxn>
              <a:cxn ang="0">
                <a:pos x="0" y="816"/>
              </a:cxn>
              <a:cxn ang="0">
                <a:pos x="240" y="816"/>
              </a:cxn>
              <a:cxn ang="0">
                <a:pos x="240" y="1056"/>
              </a:cxn>
              <a:cxn ang="0">
                <a:pos x="432" y="1056"/>
              </a:cxn>
              <a:cxn ang="0">
                <a:pos x="432" y="816"/>
              </a:cxn>
              <a:cxn ang="0">
                <a:pos x="624" y="816"/>
              </a:cxn>
              <a:cxn ang="0">
                <a:pos x="624" y="1200"/>
              </a:cxn>
              <a:cxn ang="0">
                <a:pos x="432" y="1200"/>
              </a:cxn>
              <a:cxn ang="0">
                <a:pos x="432" y="1392"/>
              </a:cxn>
              <a:cxn ang="0">
                <a:pos x="624" y="1392"/>
              </a:cxn>
              <a:cxn ang="0">
                <a:pos x="816" y="1392"/>
              </a:cxn>
              <a:cxn ang="0">
                <a:pos x="816" y="1200"/>
              </a:cxn>
              <a:cxn ang="0">
                <a:pos x="1008" y="1200"/>
              </a:cxn>
              <a:cxn ang="0">
                <a:pos x="1008" y="1392"/>
              </a:cxn>
              <a:cxn ang="0">
                <a:pos x="1440" y="1392"/>
              </a:cxn>
              <a:cxn ang="0">
                <a:pos x="1440" y="1200"/>
              </a:cxn>
              <a:cxn ang="0">
                <a:pos x="1200" y="1200"/>
              </a:cxn>
              <a:cxn ang="0">
                <a:pos x="1200" y="960"/>
              </a:cxn>
              <a:cxn ang="0">
                <a:pos x="1392" y="960"/>
              </a:cxn>
              <a:cxn ang="0">
                <a:pos x="1392" y="768"/>
              </a:cxn>
              <a:cxn ang="0">
                <a:pos x="1008" y="768"/>
              </a:cxn>
              <a:cxn ang="0">
                <a:pos x="1008" y="1008"/>
              </a:cxn>
              <a:cxn ang="0">
                <a:pos x="816" y="1008"/>
              </a:cxn>
              <a:cxn ang="0">
                <a:pos x="816" y="384"/>
              </a:cxn>
              <a:cxn ang="0">
                <a:pos x="1008" y="384"/>
              </a:cxn>
              <a:cxn ang="0">
                <a:pos x="1008" y="624"/>
              </a:cxn>
              <a:cxn ang="0">
                <a:pos x="1392" y="624"/>
              </a:cxn>
              <a:cxn ang="0">
                <a:pos x="1392" y="384"/>
              </a:cxn>
              <a:cxn ang="0">
                <a:pos x="1200" y="384"/>
              </a:cxn>
              <a:cxn ang="0">
                <a:pos x="1200" y="192"/>
              </a:cxn>
              <a:cxn ang="0">
                <a:pos x="1392" y="192"/>
              </a:cxn>
              <a:cxn ang="0">
                <a:pos x="1392" y="0"/>
              </a:cxn>
              <a:cxn ang="0">
                <a:pos x="1008" y="0"/>
              </a:cxn>
              <a:cxn ang="0">
                <a:pos x="1008" y="240"/>
              </a:cxn>
              <a:cxn ang="0">
                <a:pos x="816" y="240"/>
              </a:cxn>
              <a:cxn ang="0">
                <a:pos x="816" y="0"/>
              </a:cxn>
              <a:cxn ang="0">
                <a:pos x="384" y="0"/>
              </a:cxn>
              <a:cxn ang="0">
                <a:pos x="384" y="240"/>
              </a:cxn>
              <a:cxn ang="0">
                <a:pos x="624" y="240"/>
              </a:cxn>
              <a:cxn ang="0">
                <a:pos x="624" y="624"/>
              </a:cxn>
              <a:cxn ang="0">
                <a:pos x="384" y="624"/>
              </a:cxn>
              <a:cxn ang="0">
                <a:pos x="384" y="384"/>
              </a:cxn>
              <a:cxn ang="0">
                <a:pos x="240" y="384"/>
              </a:cxn>
              <a:cxn ang="0">
                <a:pos x="240" y="624"/>
              </a:cxn>
              <a:cxn ang="0">
                <a:pos x="48" y="624"/>
              </a:cxn>
              <a:cxn ang="0">
                <a:pos x="48" y="192"/>
              </a:cxn>
              <a:cxn ang="0">
                <a:pos x="240" y="192"/>
              </a:cxn>
              <a:cxn ang="0">
                <a:pos x="240" y="0"/>
              </a:cxn>
              <a:cxn ang="0">
                <a:pos x="0" y="0"/>
              </a:cxn>
            </a:cxnLst>
            <a:rect l="0" t="0" r="r" b="b"/>
            <a:pathLst>
              <a:path w="1440" h="1392">
                <a:moveTo>
                  <a:pt x="0" y="1392"/>
                </a:moveTo>
                <a:lnTo>
                  <a:pt x="192" y="1392"/>
                </a:lnTo>
                <a:lnTo>
                  <a:pt x="192" y="1200"/>
                </a:lnTo>
                <a:lnTo>
                  <a:pt x="0" y="1200"/>
                </a:lnTo>
                <a:lnTo>
                  <a:pt x="0" y="816"/>
                </a:lnTo>
                <a:lnTo>
                  <a:pt x="240" y="816"/>
                </a:lnTo>
                <a:lnTo>
                  <a:pt x="240" y="1056"/>
                </a:lnTo>
                <a:lnTo>
                  <a:pt x="432" y="1056"/>
                </a:lnTo>
                <a:lnTo>
                  <a:pt x="432" y="816"/>
                </a:lnTo>
                <a:lnTo>
                  <a:pt x="624" y="816"/>
                </a:lnTo>
                <a:lnTo>
                  <a:pt x="624" y="1200"/>
                </a:lnTo>
                <a:lnTo>
                  <a:pt x="432" y="1200"/>
                </a:lnTo>
                <a:lnTo>
                  <a:pt x="432" y="1392"/>
                </a:lnTo>
                <a:lnTo>
                  <a:pt x="624" y="1392"/>
                </a:lnTo>
                <a:lnTo>
                  <a:pt x="816" y="1392"/>
                </a:lnTo>
                <a:lnTo>
                  <a:pt x="816" y="1200"/>
                </a:lnTo>
                <a:lnTo>
                  <a:pt x="1008" y="1200"/>
                </a:lnTo>
                <a:lnTo>
                  <a:pt x="1008" y="1392"/>
                </a:lnTo>
                <a:lnTo>
                  <a:pt x="1440" y="1392"/>
                </a:lnTo>
                <a:lnTo>
                  <a:pt x="1440" y="1200"/>
                </a:lnTo>
                <a:lnTo>
                  <a:pt x="1200" y="1200"/>
                </a:lnTo>
                <a:lnTo>
                  <a:pt x="1200" y="960"/>
                </a:lnTo>
                <a:lnTo>
                  <a:pt x="1392" y="960"/>
                </a:lnTo>
                <a:lnTo>
                  <a:pt x="1392" y="768"/>
                </a:lnTo>
                <a:lnTo>
                  <a:pt x="1008" y="768"/>
                </a:lnTo>
                <a:lnTo>
                  <a:pt x="1008" y="1008"/>
                </a:lnTo>
                <a:lnTo>
                  <a:pt x="816" y="1008"/>
                </a:lnTo>
                <a:lnTo>
                  <a:pt x="816" y="384"/>
                </a:lnTo>
                <a:lnTo>
                  <a:pt x="1008" y="384"/>
                </a:lnTo>
                <a:lnTo>
                  <a:pt x="1008" y="624"/>
                </a:lnTo>
                <a:lnTo>
                  <a:pt x="1392" y="624"/>
                </a:lnTo>
                <a:lnTo>
                  <a:pt x="1392" y="384"/>
                </a:lnTo>
                <a:lnTo>
                  <a:pt x="1200" y="384"/>
                </a:lnTo>
                <a:lnTo>
                  <a:pt x="1200" y="192"/>
                </a:lnTo>
                <a:lnTo>
                  <a:pt x="1392" y="192"/>
                </a:lnTo>
                <a:lnTo>
                  <a:pt x="1392" y="0"/>
                </a:lnTo>
                <a:lnTo>
                  <a:pt x="1008" y="0"/>
                </a:lnTo>
                <a:lnTo>
                  <a:pt x="1008" y="240"/>
                </a:lnTo>
                <a:lnTo>
                  <a:pt x="816" y="240"/>
                </a:lnTo>
                <a:lnTo>
                  <a:pt x="816" y="0"/>
                </a:lnTo>
                <a:lnTo>
                  <a:pt x="384" y="0"/>
                </a:lnTo>
                <a:lnTo>
                  <a:pt x="384" y="240"/>
                </a:lnTo>
                <a:lnTo>
                  <a:pt x="624" y="240"/>
                </a:lnTo>
                <a:lnTo>
                  <a:pt x="624" y="624"/>
                </a:lnTo>
                <a:lnTo>
                  <a:pt x="384" y="624"/>
                </a:lnTo>
                <a:lnTo>
                  <a:pt x="384" y="384"/>
                </a:lnTo>
                <a:lnTo>
                  <a:pt x="240" y="384"/>
                </a:lnTo>
                <a:lnTo>
                  <a:pt x="240" y="624"/>
                </a:lnTo>
                <a:lnTo>
                  <a:pt x="48" y="624"/>
                </a:lnTo>
                <a:lnTo>
                  <a:pt x="48" y="192"/>
                </a:lnTo>
                <a:lnTo>
                  <a:pt x="240" y="192"/>
                </a:lnTo>
                <a:lnTo>
                  <a:pt x="240" y="0"/>
                </a:lnTo>
                <a:lnTo>
                  <a:pt x="0" y="0"/>
                </a:lnTo>
              </a:path>
            </a:pathLst>
          </a:custGeom>
          <a:noFill/>
          <a:ln w="19050" cap="flat" cmpd="sng">
            <a:solidFill>
              <a:schemeClr val="folHlink"/>
            </a:solidFill>
            <a:prstDash val="solid"/>
            <a:miter lim="800000"/>
            <a:headEnd type="none" w="med" len="med"/>
            <a:tailEnd type="triangle" w="lg" len="lg"/>
          </a:ln>
          <a:effectLst/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138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609600" y="533400"/>
            <a:ext cx="8534400" cy="762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Space Filling Curves</a:t>
            </a:r>
            <a:endParaRPr lang="bg-BG"/>
          </a:p>
        </p:txBody>
      </p:sp>
      <p:sp>
        <p:nvSpPr>
          <p:cNvPr id="34713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9600" y="1270000"/>
            <a:ext cx="8458200" cy="5181600"/>
          </a:xfrm>
          <a:noFill/>
          <a:ln/>
        </p:spPr>
        <p:txBody>
          <a:bodyPr/>
          <a:lstStyle/>
          <a:p>
            <a:pPr marL="228600" indent="-228600">
              <a:buFont typeface="Wingdings" pitchFamily="2" charset="2"/>
              <a:buChar char="n"/>
            </a:pPr>
            <a:r>
              <a:rPr lang="en-US"/>
              <a:t> Z-Order</a:t>
            </a:r>
          </a:p>
          <a:p>
            <a:pPr marL="228600" indent="-228600">
              <a:buFont typeface="Wingdings" pitchFamily="2" charset="2"/>
              <a:buChar char="n"/>
            </a:pPr>
            <a:endParaRPr lang="en-US"/>
          </a:p>
          <a:p>
            <a:pPr marL="228600" indent="-228600">
              <a:buFont typeface="Wingdings" pitchFamily="2" charset="2"/>
              <a:buChar char="n"/>
            </a:pPr>
            <a:endParaRPr lang="en-US" sz="2800"/>
          </a:p>
          <a:p>
            <a:pPr marL="228600" indent="-228600">
              <a:buFont typeface="Wingdings" pitchFamily="2" charset="2"/>
              <a:buChar char="n"/>
            </a:pPr>
            <a:endParaRPr lang="en-US" sz="2800"/>
          </a:p>
          <a:p>
            <a:pPr marL="228600" indent="-228600">
              <a:buFont typeface="Wingdings" pitchFamily="2" charset="2"/>
              <a:buChar char="n"/>
            </a:pPr>
            <a:endParaRPr lang="en-US" sz="2800"/>
          </a:p>
          <a:p>
            <a:pPr marL="228600" indent="-228600">
              <a:buFont typeface="Wingdings" pitchFamily="2" charset="2"/>
              <a:buChar char="n"/>
            </a:pPr>
            <a:endParaRPr lang="en-US" sz="2800"/>
          </a:p>
          <a:p>
            <a:pPr marL="228600" indent="-228600">
              <a:buFont typeface="Wingdings" pitchFamily="2" charset="2"/>
              <a:buChar char="n"/>
            </a:pPr>
            <a:endParaRPr lang="en-US" sz="2800"/>
          </a:p>
          <a:p>
            <a:pPr marL="228600" indent="-228600">
              <a:buFont typeface="Wingdings" pitchFamily="2" charset="2"/>
              <a:buChar char="n"/>
            </a:pPr>
            <a:endParaRPr lang="en-US" sz="2800"/>
          </a:p>
          <a:p>
            <a:pPr marL="749300" lvl="1" indent="-177800"/>
            <a:r>
              <a:rPr lang="en-US" sz="2400"/>
              <a:t> Z-Order preserves spatial proximity relatively good</a:t>
            </a:r>
          </a:p>
          <a:p>
            <a:pPr marL="749300" lvl="1" indent="-177800"/>
            <a:r>
              <a:rPr lang="en-US" sz="2400"/>
              <a:t> Z-Order is easy to compute</a:t>
            </a:r>
            <a:endParaRPr lang="bg-BG" sz="2400"/>
          </a:p>
        </p:txBody>
      </p:sp>
      <p:grpSp>
        <p:nvGrpSpPr>
          <p:cNvPr id="347140" name="Group 4"/>
          <p:cNvGrpSpPr>
            <a:grpSpLocks/>
          </p:cNvGrpSpPr>
          <p:nvPr/>
        </p:nvGrpSpPr>
        <p:grpSpPr bwMode="auto">
          <a:xfrm>
            <a:off x="1371600" y="2438400"/>
            <a:ext cx="2590800" cy="2609850"/>
            <a:chOff x="1248" y="2304"/>
            <a:chExt cx="1632" cy="1644"/>
          </a:xfrm>
        </p:grpSpPr>
        <p:grpSp>
          <p:nvGrpSpPr>
            <p:cNvPr id="347141" name="Group 5"/>
            <p:cNvGrpSpPr>
              <a:grpSpLocks/>
            </p:cNvGrpSpPr>
            <p:nvPr/>
          </p:nvGrpSpPr>
          <p:grpSpPr bwMode="auto">
            <a:xfrm>
              <a:off x="1248" y="2304"/>
              <a:ext cx="1632" cy="252"/>
              <a:chOff x="3840" y="1370"/>
              <a:chExt cx="1632" cy="252"/>
            </a:xfrm>
          </p:grpSpPr>
          <p:grpSp>
            <p:nvGrpSpPr>
              <p:cNvPr id="347142" name="Group 6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47143" name="Rectangle 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144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145" name="Group 9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47146" name="Rectangle 1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147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148" name="Group 12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47149" name="Rectangle 1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150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151" name="Group 15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47152" name="Rectangle 1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153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154" name="Group 18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47155" name="Rectangle 1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156" name="Text Box 2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157" name="Group 21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47158" name="Rectangle 2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159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160" name="Group 24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47161" name="Rectangle 2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162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163" name="Group 27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47164" name="Rectangle 2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165" name="Text Box 2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47166" name="Group 30"/>
            <p:cNvGrpSpPr>
              <a:grpSpLocks/>
            </p:cNvGrpSpPr>
            <p:nvPr/>
          </p:nvGrpSpPr>
          <p:grpSpPr bwMode="auto">
            <a:xfrm>
              <a:off x="1248" y="2508"/>
              <a:ext cx="1632" cy="252"/>
              <a:chOff x="3840" y="1370"/>
              <a:chExt cx="1632" cy="252"/>
            </a:xfrm>
          </p:grpSpPr>
          <p:grpSp>
            <p:nvGrpSpPr>
              <p:cNvPr id="347167" name="Group 31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47168" name="Rectangle 3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169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170" name="Group 34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47171" name="Rectangle 3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172" name="Text Box 3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173" name="Group 37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47174" name="Rectangle 3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175" name="Text Box 3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176" name="Group 40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47177" name="Rectangle 4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178" name="Text Box 4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179" name="Group 43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47180" name="Rectangle 4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181" name="Text Box 4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182" name="Group 46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47183" name="Rectangle 4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184" name="Text Box 4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185" name="Group 49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47186" name="Rectangle 5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187" name="Text Box 5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188" name="Group 52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47189" name="Rectangle 5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190" name="Text Box 5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47191" name="Group 55"/>
            <p:cNvGrpSpPr>
              <a:grpSpLocks/>
            </p:cNvGrpSpPr>
            <p:nvPr/>
          </p:nvGrpSpPr>
          <p:grpSpPr bwMode="auto">
            <a:xfrm>
              <a:off x="1248" y="2706"/>
              <a:ext cx="1632" cy="252"/>
              <a:chOff x="3840" y="1370"/>
              <a:chExt cx="1632" cy="252"/>
            </a:xfrm>
          </p:grpSpPr>
          <p:grpSp>
            <p:nvGrpSpPr>
              <p:cNvPr id="347192" name="Group 56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47193" name="Rectangle 5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194" name="Text Box 5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195" name="Group 59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47196" name="Rectangle 6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197" name="Text Box 6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198" name="Group 62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47199" name="Rectangle 6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200" name="Text Box 6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201" name="Group 65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47202" name="Rectangle 6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203" name="Text Box 6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204" name="Group 68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47205" name="Rectangle 6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206" name="Text Box 7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207" name="Group 71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47208" name="Rectangle 7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209" name="Text Box 7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210" name="Group 74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47211" name="Rectangle 7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212" name="Text Box 7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213" name="Group 77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47214" name="Rectangle 7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215" name="Text Box 7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47216" name="Group 80"/>
            <p:cNvGrpSpPr>
              <a:grpSpLocks/>
            </p:cNvGrpSpPr>
            <p:nvPr/>
          </p:nvGrpSpPr>
          <p:grpSpPr bwMode="auto">
            <a:xfrm>
              <a:off x="1248" y="2904"/>
              <a:ext cx="1632" cy="252"/>
              <a:chOff x="3840" y="1370"/>
              <a:chExt cx="1632" cy="252"/>
            </a:xfrm>
          </p:grpSpPr>
          <p:grpSp>
            <p:nvGrpSpPr>
              <p:cNvPr id="347217" name="Group 81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47218" name="Rectangle 8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219" name="Text Box 8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220" name="Group 84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47221" name="Rectangle 8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222" name="Text Box 8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223" name="Group 87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47224" name="Rectangle 8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225" name="Text Box 8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226" name="Group 90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47227" name="Rectangle 9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228" name="Text Box 9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229" name="Group 93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47230" name="Rectangle 9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231" name="Text Box 9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232" name="Group 96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47233" name="Rectangle 9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234" name="Text Box 9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235" name="Group 99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47236" name="Rectangle 10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237" name="Text Box 10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238" name="Group 102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47239" name="Rectangle 10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240" name="Text Box 10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47241" name="Group 105"/>
            <p:cNvGrpSpPr>
              <a:grpSpLocks/>
            </p:cNvGrpSpPr>
            <p:nvPr/>
          </p:nvGrpSpPr>
          <p:grpSpPr bwMode="auto">
            <a:xfrm>
              <a:off x="1248" y="3102"/>
              <a:ext cx="1632" cy="252"/>
              <a:chOff x="3840" y="1370"/>
              <a:chExt cx="1632" cy="252"/>
            </a:xfrm>
          </p:grpSpPr>
          <p:grpSp>
            <p:nvGrpSpPr>
              <p:cNvPr id="347242" name="Group 106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47243" name="Rectangle 10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244" name="Text Box 10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245" name="Group 109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47246" name="Rectangle 11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247" name="Text Box 11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248" name="Group 112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47249" name="Rectangle 11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250" name="Text Box 11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251" name="Group 115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47252" name="Rectangle 11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253" name="Text Box 11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254" name="Group 118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47255" name="Rectangle 11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256" name="Text Box 12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257" name="Group 121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47258" name="Rectangle 12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259" name="Text Box 12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260" name="Group 124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47261" name="Rectangle 12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262" name="Text Box 12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263" name="Group 127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47264" name="Rectangle 12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265" name="Text Box 12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47266" name="Group 130"/>
            <p:cNvGrpSpPr>
              <a:grpSpLocks/>
            </p:cNvGrpSpPr>
            <p:nvPr/>
          </p:nvGrpSpPr>
          <p:grpSpPr bwMode="auto">
            <a:xfrm>
              <a:off x="1248" y="3300"/>
              <a:ext cx="1632" cy="252"/>
              <a:chOff x="3840" y="1370"/>
              <a:chExt cx="1632" cy="252"/>
            </a:xfrm>
          </p:grpSpPr>
          <p:grpSp>
            <p:nvGrpSpPr>
              <p:cNvPr id="347267" name="Group 131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47268" name="Rectangle 13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269" name="Text Box 13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270" name="Group 134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47271" name="Rectangle 13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272" name="Text Box 13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273" name="Group 137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47274" name="Rectangle 13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275" name="Text Box 13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276" name="Group 140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47277" name="Rectangle 14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278" name="Text Box 14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279" name="Group 143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47280" name="Rectangle 14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281" name="Text Box 14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282" name="Group 146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47283" name="Rectangle 14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284" name="Text Box 14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285" name="Group 149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47286" name="Rectangle 15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287" name="Text Box 15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288" name="Group 152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47289" name="Rectangle 15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290" name="Text Box 15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47291" name="Group 155"/>
            <p:cNvGrpSpPr>
              <a:grpSpLocks/>
            </p:cNvGrpSpPr>
            <p:nvPr/>
          </p:nvGrpSpPr>
          <p:grpSpPr bwMode="auto">
            <a:xfrm>
              <a:off x="1248" y="3498"/>
              <a:ext cx="1632" cy="252"/>
              <a:chOff x="3840" y="1370"/>
              <a:chExt cx="1632" cy="252"/>
            </a:xfrm>
          </p:grpSpPr>
          <p:grpSp>
            <p:nvGrpSpPr>
              <p:cNvPr id="347292" name="Group 156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47293" name="Rectangle 15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294" name="Text Box 15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295" name="Group 159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47296" name="Rectangle 16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297" name="Text Box 16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298" name="Group 162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47299" name="Rectangle 16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300" name="Text Box 16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301" name="Group 165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47302" name="Rectangle 16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303" name="Text Box 16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304" name="Group 168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47305" name="Rectangle 16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306" name="Text Box 17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307" name="Group 171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47308" name="Rectangle 17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309" name="Text Box 17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310" name="Group 174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47311" name="Rectangle 17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312" name="Text Box 17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313" name="Group 177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47314" name="Rectangle 17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315" name="Text Box 17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47316" name="Group 180"/>
            <p:cNvGrpSpPr>
              <a:grpSpLocks/>
            </p:cNvGrpSpPr>
            <p:nvPr/>
          </p:nvGrpSpPr>
          <p:grpSpPr bwMode="auto">
            <a:xfrm>
              <a:off x="1248" y="3696"/>
              <a:ext cx="1632" cy="252"/>
              <a:chOff x="3840" y="1370"/>
              <a:chExt cx="1632" cy="252"/>
            </a:xfrm>
          </p:grpSpPr>
          <p:grpSp>
            <p:nvGrpSpPr>
              <p:cNvPr id="347317" name="Group 181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47318" name="Rectangle 18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319" name="Text Box 18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320" name="Group 184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47321" name="Rectangle 18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322" name="Text Box 18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323" name="Group 187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47324" name="Rectangle 18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325" name="Text Box 18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326" name="Group 190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47327" name="Rectangle 19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328" name="Text Box 19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329" name="Group 193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47330" name="Rectangle 19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331" name="Text Box 19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332" name="Group 196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47333" name="Rectangle 19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334" name="Text Box 19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335" name="Group 199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47336" name="Rectangle 20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337" name="Text Box 20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338" name="Group 202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47339" name="Rectangle 20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340" name="Text Box 20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</p:grpSp>
      <p:grpSp>
        <p:nvGrpSpPr>
          <p:cNvPr id="347744" name="Group 608"/>
          <p:cNvGrpSpPr>
            <a:grpSpLocks/>
          </p:cNvGrpSpPr>
          <p:nvPr/>
        </p:nvGrpSpPr>
        <p:grpSpPr bwMode="auto">
          <a:xfrm>
            <a:off x="5638800" y="2495550"/>
            <a:ext cx="2590800" cy="2609850"/>
            <a:chOff x="1248" y="2304"/>
            <a:chExt cx="1632" cy="1644"/>
          </a:xfrm>
        </p:grpSpPr>
        <p:grpSp>
          <p:nvGrpSpPr>
            <p:cNvPr id="347745" name="Group 609"/>
            <p:cNvGrpSpPr>
              <a:grpSpLocks/>
            </p:cNvGrpSpPr>
            <p:nvPr/>
          </p:nvGrpSpPr>
          <p:grpSpPr bwMode="auto">
            <a:xfrm>
              <a:off x="1248" y="2304"/>
              <a:ext cx="1632" cy="252"/>
              <a:chOff x="3840" y="1370"/>
              <a:chExt cx="1632" cy="252"/>
            </a:xfrm>
          </p:grpSpPr>
          <p:grpSp>
            <p:nvGrpSpPr>
              <p:cNvPr id="347746" name="Group 610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47747" name="Rectangle 61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748" name="Text Box 61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21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749" name="Group 613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47750" name="Rectangle 61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751" name="Text Box 61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23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752" name="Group 616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47753" name="Rectangle 61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754" name="Text Box 61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29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755" name="Group 619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47756" name="Rectangle 62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757" name="Text Box 62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31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758" name="Group 622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47759" name="Rectangle 62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760" name="Text Box 62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53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761" name="Group 625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47762" name="Rectangle 62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763" name="Text Box 62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55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764" name="Group 628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47765" name="Rectangle 62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766" name="Text Box 63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61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767" name="Group 631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47768" name="Rectangle 63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769" name="Text Box 63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63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47770" name="Group 634"/>
            <p:cNvGrpSpPr>
              <a:grpSpLocks/>
            </p:cNvGrpSpPr>
            <p:nvPr/>
          </p:nvGrpSpPr>
          <p:grpSpPr bwMode="auto">
            <a:xfrm>
              <a:off x="1248" y="2508"/>
              <a:ext cx="1632" cy="252"/>
              <a:chOff x="3840" y="1370"/>
              <a:chExt cx="1632" cy="252"/>
            </a:xfrm>
          </p:grpSpPr>
          <p:grpSp>
            <p:nvGrpSpPr>
              <p:cNvPr id="347771" name="Group 635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47772" name="Rectangle 63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773" name="Text Box 63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20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774" name="Group 638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47775" name="Rectangle 63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776" name="Text Box 64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22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777" name="Group 641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47778" name="Rectangle 64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779" name="Text Box 64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28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780" name="Group 644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47781" name="Rectangle 64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782" name="Text Box 64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30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783" name="Group 647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47784" name="Rectangle 64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785" name="Text Box 64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52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786" name="Group 650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47787" name="Rectangle 65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788" name="Text Box 65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54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789" name="Group 653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47790" name="Rectangle 65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791" name="Text Box 65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60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792" name="Group 656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47793" name="Rectangle 65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794" name="Text Box 65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62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47795" name="Group 659"/>
            <p:cNvGrpSpPr>
              <a:grpSpLocks/>
            </p:cNvGrpSpPr>
            <p:nvPr/>
          </p:nvGrpSpPr>
          <p:grpSpPr bwMode="auto">
            <a:xfrm>
              <a:off x="1248" y="2706"/>
              <a:ext cx="1632" cy="252"/>
              <a:chOff x="3840" y="1370"/>
              <a:chExt cx="1632" cy="252"/>
            </a:xfrm>
          </p:grpSpPr>
          <p:grpSp>
            <p:nvGrpSpPr>
              <p:cNvPr id="347796" name="Group 660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47797" name="Rectangle 66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798" name="Text Box 66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17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799" name="Group 663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47800" name="Rectangle 66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801" name="Text Box 66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19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802" name="Group 666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47803" name="Rectangle 66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804" name="Text Box 66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25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805" name="Group 669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47806" name="Rectangle 67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807" name="Text Box 67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27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808" name="Group 672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47809" name="Rectangle 67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810" name="Text Box 67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49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811" name="Group 675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47812" name="Rectangle 67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813" name="Text Box 67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51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814" name="Group 678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47815" name="Rectangle 67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816" name="Text Box 68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57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817" name="Group 681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47818" name="Rectangle 68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819" name="Text Box 68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59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47820" name="Group 684"/>
            <p:cNvGrpSpPr>
              <a:grpSpLocks/>
            </p:cNvGrpSpPr>
            <p:nvPr/>
          </p:nvGrpSpPr>
          <p:grpSpPr bwMode="auto">
            <a:xfrm>
              <a:off x="1248" y="2904"/>
              <a:ext cx="1632" cy="252"/>
              <a:chOff x="3840" y="1370"/>
              <a:chExt cx="1632" cy="252"/>
            </a:xfrm>
          </p:grpSpPr>
          <p:grpSp>
            <p:nvGrpSpPr>
              <p:cNvPr id="347821" name="Group 685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47822" name="Rectangle 68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823" name="Text Box 68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16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824" name="Group 688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47825" name="Rectangle 68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826" name="Text Box 69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18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827" name="Group 691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47828" name="Rectangle 69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829" name="Text Box 69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24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830" name="Group 694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47831" name="Rectangle 69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832" name="Text Box 69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26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833" name="Group 697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47834" name="Rectangle 69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835" name="Text Box 69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48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836" name="Group 700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47837" name="Rectangle 70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838" name="Text Box 70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50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839" name="Group 703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47840" name="Rectangle 70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841" name="Text Box 70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56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842" name="Group 706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47843" name="Rectangle 70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844" name="Text Box 70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58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47845" name="Group 709"/>
            <p:cNvGrpSpPr>
              <a:grpSpLocks/>
            </p:cNvGrpSpPr>
            <p:nvPr/>
          </p:nvGrpSpPr>
          <p:grpSpPr bwMode="auto">
            <a:xfrm>
              <a:off x="1248" y="3102"/>
              <a:ext cx="1632" cy="252"/>
              <a:chOff x="3840" y="1370"/>
              <a:chExt cx="1632" cy="252"/>
            </a:xfrm>
          </p:grpSpPr>
          <p:grpSp>
            <p:nvGrpSpPr>
              <p:cNvPr id="347846" name="Group 710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47847" name="Rectangle 71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848" name="Text Box 71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5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849" name="Group 713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47850" name="Rectangle 71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851" name="Text Box 71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7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852" name="Group 716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47853" name="Rectangle 71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854" name="Text Box 71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13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855" name="Group 719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47856" name="Rectangle 72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857" name="Text Box 72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15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858" name="Group 722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47859" name="Rectangle 72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860" name="Text Box 72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37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861" name="Group 725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47862" name="Rectangle 72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863" name="Text Box 72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39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864" name="Group 728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47865" name="Rectangle 72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866" name="Text Box 73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45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867" name="Group 731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47868" name="Rectangle 73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869" name="Text Box 73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47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47870" name="Group 734"/>
            <p:cNvGrpSpPr>
              <a:grpSpLocks/>
            </p:cNvGrpSpPr>
            <p:nvPr/>
          </p:nvGrpSpPr>
          <p:grpSpPr bwMode="auto">
            <a:xfrm>
              <a:off x="1248" y="3300"/>
              <a:ext cx="1632" cy="252"/>
              <a:chOff x="3840" y="1370"/>
              <a:chExt cx="1632" cy="252"/>
            </a:xfrm>
          </p:grpSpPr>
          <p:grpSp>
            <p:nvGrpSpPr>
              <p:cNvPr id="347871" name="Group 735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47872" name="Rectangle 73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873" name="Text Box 73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874" name="Group 738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47875" name="Rectangle 73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876" name="Text Box 74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6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877" name="Group 741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47878" name="Rectangle 74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879" name="Text Box 74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12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880" name="Group 744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47881" name="Rectangle 74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882" name="Text Box 74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14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883" name="Group 747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47884" name="Rectangle 74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885" name="Text Box 74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36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886" name="Group 750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47887" name="Rectangle 75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888" name="Text Box 75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38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889" name="Group 753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47890" name="Rectangle 75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891" name="Text Box 75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44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892" name="Group 756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47893" name="Rectangle 75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894" name="Text Box 75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46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47895" name="Group 759"/>
            <p:cNvGrpSpPr>
              <a:grpSpLocks/>
            </p:cNvGrpSpPr>
            <p:nvPr/>
          </p:nvGrpSpPr>
          <p:grpSpPr bwMode="auto">
            <a:xfrm>
              <a:off x="1248" y="3498"/>
              <a:ext cx="1632" cy="252"/>
              <a:chOff x="3840" y="1370"/>
              <a:chExt cx="1632" cy="252"/>
            </a:xfrm>
          </p:grpSpPr>
          <p:grpSp>
            <p:nvGrpSpPr>
              <p:cNvPr id="347896" name="Group 760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47897" name="Rectangle 76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898" name="Text Box 76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899" name="Group 763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47900" name="Rectangle 76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901" name="Text Box 76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902" name="Group 766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47903" name="Rectangle 76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904" name="Text Box 76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9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905" name="Group 769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47906" name="Rectangle 77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907" name="Text Box 77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11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908" name="Group 772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47909" name="Rectangle 77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910" name="Text Box 77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33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911" name="Group 775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47912" name="Rectangle 77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913" name="Text Box 77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35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914" name="Group 778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47915" name="Rectangle 77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916" name="Text Box 78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41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917" name="Group 781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47918" name="Rectangle 78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919" name="Text Box 78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43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47920" name="Group 784"/>
            <p:cNvGrpSpPr>
              <a:grpSpLocks/>
            </p:cNvGrpSpPr>
            <p:nvPr/>
          </p:nvGrpSpPr>
          <p:grpSpPr bwMode="auto">
            <a:xfrm>
              <a:off x="1248" y="3696"/>
              <a:ext cx="1632" cy="252"/>
              <a:chOff x="3840" y="1370"/>
              <a:chExt cx="1632" cy="252"/>
            </a:xfrm>
          </p:grpSpPr>
          <p:grpSp>
            <p:nvGrpSpPr>
              <p:cNvPr id="347921" name="Group 785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47922" name="Rectangle 78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923" name="Text Box 78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0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924" name="Group 788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47925" name="Rectangle 78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926" name="Text Box 79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2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927" name="Group 791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47928" name="Rectangle 79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929" name="Text Box 79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8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930" name="Group 794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47931" name="Rectangle 79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932" name="Text Box 79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10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933" name="Group 797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47934" name="Rectangle 79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935" name="Text Box 79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32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936" name="Group 800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47937" name="Rectangle 80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938" name="Text Box 80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34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939" name="Group 803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47940" name="Rectangle 80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941" name="Text Box 80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40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47942" name="Group 806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47943" name="Rectangle 80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7944" name="Text Box 80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1200" b="1">
                      <a:latin typeface="Book Antiqua" pitchFamily="18" charset="0"/>
                    </a:rPr>
                    <a:t>42</a:t>
                  </a:r>
                  <a:endParaRPr lang="bg-BG" sz="1200" b="1">
                    <a:latin typeface="Book Antiqua" pitchFamily="18" charset="0"/>
                  </a:endParaRPr>
                </a:p>
              </p:txBody>
            </p:sp>
          </p:grpSp>
        </p:grpSp>
      </p:grpSp>
      <p:sp>
        <p:nvSpPr>
          <p:cNvPr id="347945" name="Freeform 809"/>
          <p:cNvSpPr>
            <a:spLocks/>
          </p:cNvSpPr>
          <p:nvPr/>
        </p:nvSpPr>
        <p:spPr bwMode="auto">
          <a:xfrm>
            <a:off x="1524000" y="2514600"/>
            <a:ext cx="2286000" cy="2286000"/>
          </a:xfrm>
          <a:custGeom>
            <a:avLst/>
            <a:gdLst/>
            <a:ahLst/>
            <a:cxnLst>
              <a:cxn ang="0">
                <a:pos x="0" y="1248"/>
              </a:cxn>
              <a:cxn ang="0">
                <a:pos x="192" y="1200"/>
              </a:cxn>
              <a:cxn ang="0">
                <a:pos x="0" y="864"/>
              </a:cxn>
              <a:cxn ang="0">
                <a:pos x="192" y="864"/>
              </a:cxn>
              <a:cxn ang="0">
                <a:pos x="384" y="1248"/>
              </a:cxn>
              <a:cxn ang="0">
                <a:pos x="576" y="1248"/>
              </a:cxn>
              <a:cxn ang="0">
                <a:pos x="384" y="816"/>
              </a:cxn>
              <a:cxn ang="0">
                <a:pos x="624" y="864"/>
              </a:cxn>
              <a:cxn ang="0">
                <a:pos x="0" y="432"/>
              </a:cxn>
              <a:cxn ang="0">
                <a:pos x="192" y="432"/>
              </a:cxn>
              <a:cxn ang="0">
                <a:pos x="0" y="48"/>
              </a:cxn>
              <a:cxn ang="0">
                <a:pos x="192" y="0"/>
              </a:cxn>
              <a:cxn ang="0">
                <a:pos x="384" y="432"/>
              </a:cxn>
              <a:cxn ang="0">
                <a:pos x="624" y="432"/>
              </a:cxn>
              <a:cxn ang="0">
                <a:pos x="432" y="48"/>
              </a:cxn>
              <a:cxn ang="0">
                <a:pos x="624" y="48"/>
              </a:cxn>
              <a:cxn ang="0">
                <a:pos x="816" y="1200"/>
              </a:cxn>
              <a:cxn ang="0">
                <a:pos x="1008" y="1248"/>
              </a:cxn>
              <a:cxn ang="0">
                <a:pos x="816" y="816"/>
              </a:cxn>
              <a:cxn ang="0">
                <a:pos x="1008" y="864"/>
              </a:cxn>
              <a:cxn ang="0">
                <a:pos x="1200" y="1248"/>
              </a:cxn>
              <a:cxn ang="0">
                <a:pos x="1392" y="1200"/>
              </a:cxn>
              <a:cxn ang="0">
                <a:pos x="1200" y="864"/>
              </a:cxn>
              <a:cxn ang="0">
                <a:pos x="1392" y="816"/>
              </a:cxn>
              <a:cxn ang="0">
                <a:pos x="816" y="432"/>
              </a:cxn>
              <a:cxn ang="0">
                <a:pos x="1008" y="480"/>
              </a:cxn>
              <a:cxn ang="0">
                <a:pos x="816" y="48"/>
              </a:cxn>
              <a:cxn ang="0">
                <a:pos x="1008" y="48"/>
              </a:cxn>
              <a:cxn ang="0">
                <a:pos x="1248" y="480"/>
              </a:cxn>
              <a:cxn ang="0">
                <a:pos x="1392" y="432"/>
              </a:cxn>
              <a:cxn ang="0">
                <a:pos x="1200" y="48"/>
              </a:cxn>
              <a:cxn ang="0">
                <a:pos x="1440" y="0"/>
              </a:cxn>
            </a:cxnLst>
            <a:rect l="0" t="0" r="r" b="b"/>
            <a:pathLst>
              <a:path w="1440" h="1440">
                <a:moveTo>
                  <a:pt x="0" y="1440"/>
                </a:moveTo>
                <a:lnTo>
                  <a:pt x="0" y="1248"/>
                </a:lnTo>
                <a:lnTo>
                  <a:pt x="192" y="1440"/>
                </a:lnTo>
                <a:lnTo>
                  <a:pt x="192" y="1200"/>
                </a:lnTo>
                <a:lnTo>
                  <a:pt x="0" y="1056"/>
                </a:lnTo>
                <a:lnTo>
                  <a:pt x="0" y="864"/>
                </a:lnTo>
                <a:lnTo>
                  <a:pt x="192" y="1056"/>
                </a:lnTo>
                <a:lnTo>
                  <a:pt x="192" y="864"/>
                </a:lnTo>
                <a:lnTo>
                  <a:pt x="384" y="1440"/>
                </a:lnTo>
                <a:lnTo>
                  <a:pt x="384" y="1248"/>
                </a:lnTo>
                <a:lnTo>
                  <a:pt x="576" y="1440"/>
                </a:lnTo>
                <a:lnTo>
                  <a:pt x="576" y="1248"/>
                </a:lnTo>
                <a:lnTo>
                  <a:pt x="384" y="1056"/>
                </a:lnTo>
                <a:lnTo>
                  <a:pt x="384" y="816"/>
                </a:lnTo>
                <a:lnTo>
                  <a:pt x="624" y="1056"/>
                </a:lnTo>
                <a:lnTo>
                  <a:pt x="624" y="864"/>
                </a:lnTo>
                <a:lnTo>
                  <a:pt x="0" y="672"/>
                </a:lnTo>
                <a:lnTo>
                  <a:pt x="0" y="432"/>
                </a:lnTo>
                <a:lnTo>
                  <a:pt x="192" y="624"/>
                </a:lnTo>
                <a:lnTo>
                  <a:pt x="192" y="432"/>
                </a:lnTo>
                <a:lnTo>
                  <a:pt x="0" y="240"/>
                </a:lnTo>
                <a:lnTo>
                  <a:pt x="0" y="48"/>
                </a:lnTo>
                <a:lnTo>
                  <a:pt x="192" y="240"/>
                </a:lnTo>
                <a:lnTo>
                  <a:pt x="192" y="0"/>
                </a:lnTo>
                <a:lnTo>
                  <a:pt x="384" y="672"/>
                </a:lnTo>
                <a:lnTo>
                  <a:pt x="384" y="432"/>
                </a:lnTo>
                <a:lnTo>
                  <a:pt x="624" y="672"/>
                </a:lnTo>
                <a:lnTo>
                  <a:pt x="624" y="432"/>
                </a:lnTo>
                <a:lnTo>
                  <a:pt x="432" y="240"/>
                </a:lnTo>
                <a:lnTo>
                  <a:pt x="432" y="48"/>
                </a:lnTo>
                <a:lnTo>
                  <a:pt x="624" y="240"/>
                </a:lnTo>
                <a:lnTo>
                  <a:pt x="624" y="48"/>
                </a:lnTo>
                <a:lnTo>
                  <a:pt x="816" y="1440"/>
                </a:lnTo>
                <a:lnTo>
                  <a:pt x="816" y="1200"/>
                </a:lnTo>
                <a:lnTo>
                  <a:pt x="1008" y="1440"/>
                </a:lnTo>
                <a:lnTo>
                  <a:pt x="1008" y="1248"/>
                </a:lnTo>
                <a:lnTo>
                  <a:pt x="816" y="1056"/>
                </a:lnTo>
                <a:lnTo>
                  <a:pt x="816" y="816"/>
                </a:lnTo>
                <a:lnTo>
                  <a:pt x="1008" y="1056"/>
                </a:lnTo>
                <a:lnTo>
                  <a:pt x="1008" y="864"/>
                </a:lnTo>
                <a:lnTo>
                  <a:pt x="1200" y="1440"/>
                </a:lnTo>
                <a:lnTo>
                  <a:pt x="1200" y="1248"/>
                </a:lnTo>
                <a:lnTo>
                  <a:pt x="1392" y="1440"/>
                </a:lnTo>
                <a:lnTo>
                  <a:pt x="1392" y="1200"/>
                </a:lnTo>
                <a:lnTo>
                  <a:pt x="1200" y="1056"/>
                </a:lnTo>
                <a:lnTo>
                  <a:pt x="1200" y="864"/>
                </a:lnTo>
                <a:lnTo>
                  <a:pt x="1392" y="1056"/>
                </a:lnTo>
                <a:lnTo>
                  <a:pt x="1392" y="816"/>
                </a:lnTo>
                <a:lnTo>
                  <a:pt x="816" y="672"/>
                </a:lnTo>
                <a:lnTo>
                  <a:pt x="816" y="432"/>
                </a:lnTo>
                <a:lnTo>
                  <a:pt x="1008" y="672"/>
                </a:lnTo>
                <a:lnTo>
                  <a:pt x="1008" y="480"/>
                </a:lnTo>
                <a:lnTo>
                  <a:pt x="816" y="288"/>
                </a:lnTo>
                <a:lnTo>
                  <a:pt x="816" y="48"/>
                </a:lnTo>
                <a:lnTo>
                  <a:pt x="1008" y="288"/>
                </a:lnTo>
                <a:lnTo>
                  <a:pt x="1008" y="48"/>
                </a:lnTo>
                <a:lnTo>
                  <a:pt x="1248" y="672"/>
                </a:lnTo>
                <a:lnTo>
                  <a:pt x="1248" y="480"/>
                </a:lnTo>
                <a:lnTo>
                  <a:pt x="1392" y="672"/>
                </a:lnTo>
                <a:lnTo>
                  <a:pt x="1392" y="432"/>
                </a:lnTo>
                <a:lnTo>
                  <a:pt x="1200" y="240"/>
                </a:lnTo>
                <a:lnTo>
                  <a:pt x="1200" y="48"/>
                </a:lnTo>
                <a:lnTo>
                  <a:pt x="1440" y="288"/>
                </a:lnTo>
                <a:lnTo>
                  <a:pt x="1440" y="0"/>
                </a:lnTo>
              </a:path>
            </a:pathLst>
          </a:custGeom>
          <a:noFill/>
          <a:ln w="19050" cap="flat" cmpd="sng">
            <a:solidFill>
              <a:schemeClr val="folHlink"/>
            </a:solidFill>
            <a:prstDash val="solid"/>
            <a:miter lim="800000"/>
            <a:headEnd type="none" w="med" len="med"/>
            <a:tailEnd type="triangle" w="lg" len="lg"/>
          </a:ln>
          <a:effectLst/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898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609600" y="533400"/>
            <a:ext cx="8534400" cy="762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Z-Order – Z-Values</a:t>
            </a:r>
            <a:endParaRPr lang="bg-BG"/>
          </a:p>
        </p:txBody>
      </p:sp>
      <p:sp>
        <p:nvSpPr>
          <p:cNvPr id="3368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9600" y="1295400"/>
            <a:ext cx="5257800" cy="5181600"/>
          </a:xfrm>
          <a:noFill/>
          <a:ln/>
        </p:spPr>
        <p:txBody>
          <a:bodyPr/>
          <a:lstStyle/>
          <a:p>
            <a:pPr marL="228600" indent="-228600">
              <a:lnSpc>
                <a:spcPct val="80000"/>
              </a:lnSpc>
              <a:buFont typeface="Wingdings" pitchFamily="2" charset="2"/>
              <a:buChar char="n"/>
            </a:pPr>
            <a:r>
              <a:rPr lang="en-US"/>
              <a:t> </a:t>
            </a:r>
            <a:r>
              <a:rPr lang="bg-BG"/>
              <a:t>Coding of Cells</a:t>
            </a:r>
          </a:p>
          <a:p>
            <a:pPr marL="749300" lvl="1" indent="-177800">
              <a:lnSpc>
                <a:spcPct val="80000"/>
              </a:lnSpc>
            </a:pPr>
            <a:r>
              <a:rPr lang="en-US" sz="2400"/>
              <a:t> </a:t>
            </a:r>
            <a:r>
              <a:rPr lang="bg-BG" sz="2400"/>
              <a:t>Partition the data space</a:t>
            </a:r>
            <a:r>
              <a:rPr lang="en-US" sz="2400"/>
              <a:t> </a:t>
            </a:r>
            <a:r>
              <a:rPr lang="bg-BG" sz="2400"/>
              <a:t>recursively into two halves</a:t>
            </a:r>
          </a:p>
          <a:p>
            <a:pPr marL="749300" lvl="1" indent="-177800">
              <a:lnSpc>
                <a:spcPct val="80000"/>
              </a:lnSpc>
            </a:pPr>
            <a:r>
              <a:rPr lang="en-US" sz="2400"/>
              <a:t> </a:t>
            </a:r>
            <a:r>
              <a:rPr lang="bg-BG" sz="2400"/>
              <a:t>Alternate X and Y dimension</a:t>
            </a:r>
          </a:p>
          <a:p>
            <a:pPr marL="749300" lvl="1" indent="-177800">
              <a:lnSpc>
                <a:spcPct val="80000"/>
              </a:lnSpc>
            </a:pPr>
            <a:r>
              <a:rPr lang="en-US" sz="2400"/>
              <a:t> </a:t>
            </a:r>
            <a:r>
              <a:rPr lang="bg-BG" sz="2400"/>
              <a:t>Left/bottom </a:t>
            </a:r>
            <a:r>
              <a:rPr lang="bg-BG" sz="2400">
                <a:sym typeface="Symbol" pitchFamily="18" charset="2"/>
              </a:rPr>
              <a:t></a:t>
            </a:r>
            <a:r>
              <a:rPr lang="bg-BG" sz="2400"/>
              <a:t> 0</a:t>
            </a:r>
          </a:p>
          <a:p>
            <a:pPr marL="749300" lvl="1" indent="-177800">
              <a:lnSpc>
                <a:spcPct val="80000"/>
              </a:lnSpc>
            </a:pPr>
            <a:r>
              <a:rPr lang="en-US" sz="2400"/>
              <a:t> </a:t>
            </a:r>
            <a:r>
              <a:rPr lang="bg-BG" sz="2400"/>
              <a:t>Right/top </a:t>
            </a:r>
            <a:r>
              <a:rPr lang="bg-BG" sz="2400">
                <a:sym typeface="Symbol" pitchFamily="18" charset="2"/>
              </a:rPr>
              <a:t></a:t>
            </a:r>
            <a:r>
              <a:rPr lang="bg-BG" sz="2400"/>
              <a:t> 1</a:t>
            </a:r>
            <a:endParaRPr lang="en-US" sz="2400"/>
          </a:p>
          <a:p>
            <a:pPr marL="749300" lvl="1" indent="-177800" algn="ctr">
              <a:lnSpc>
                <a:spcPct val="80000"/>
              </a:lnSpc>
            </a:pPr>
            <a:endParaRPr lang="bg-BG" sz="2400"/>
          </a:p>
          <a:p>
            <a:pPr marL="228600" indent="-228600">
              <a:lnSpc>
                <a:spcPct val="80000"/>
              </a:lnSpc>
              <a:buFont typeface="Wingdings" pitchFamily="2" charset="2"/>
              <a:buChar char="n"/>
            </a:pPr>
            <a:r>
              <a:rPr lang="en-US" sz="2800" b="1"/>
              <a:t> Z</a:t>
            </a:r>
            <a:r>
              <a:rPr lang="bg-BG" sz="2800" b="1"/>
              <a:t>-Value: (</a:t>
            </a:r>
            <a:r>
              <a:rPr lang="bg-BG" sz="2800" b="1" i="1"/>
              <a:t>c</a:t>
            </a:r>
            <a:r>
              <a:rPr lang="bg-BG" sz="2800" b="1"/>
              <a:t>, </a:t>
            </a:r>
            <a:r>
              <a:rPr lang="bg-BG" sz="2800" b="1" i="1"/>
              <a:t>l</a:t>
            </a:r>
            <a:r>
              <a:rPr lang="bg-BG" sz="2800" b="1"/>
              <a:t>)</a:t>
            </a:r>
          </a:p>
          <a:p>
            <a:pPr marL="228600" indent="-228600">
              <a:lnSpc>
                <a:spcPct val="80000"/>
              </a:lnSpc>
            </a:pPr>
            <a:r>
              <a:rPr lang="en-US" sz="2800" b="1" i="1"/>
              <a:t>	</a:t>
            </a:r>
            <a:r>
              <a:rPr lang="bg-BG" sz="2800" b="1" i="1"/>
              <a:t>c </a:t>
            </a:r>
            <a:r>
              <a:rPr lang="bg-BG" sz="2800"/>
              <a:t>= decimal value of the bit string</a:t>
            </a:r>
          </a:p>
          <a:p>
            <a:pPr marL="228600" indent="-228600">
              <a:lnSpc>
                <a:spcPct val="80000"/>
              </a:lnSpc>
            </a:pPr>
            <a:r>
              <a:rPr lang="en-US" sz="2800" b="1" i="1"/>
              <a:t>	</a:t>
            </a:r>
            <a:r>
              <a:rPr lang="bg-BG" sz="2800" b="1" i="1"/>
              <a:t>l </a:t>
            </a:r>
            <a:r>
              <a:rPr lang="bg-BG" sz="2800"/>
              <a:t>= level (number of bits)</a:t>
            </a:r>
          </a:p>
          <a:p>
            <a:pPr marL="228600" indent="-228600">
              <a:lnSpc>
                <a:spcPct val="80000"/>
              </a:lnSpc>
            </a:pPr>
            <a:r>
              <a:rPr lang="en-US" sz="2800"/>
              <a:t> - </a:t>
            </a:r>
            <a:r>
              <a:rPr lang="bg-BG" sz="2800"/>
              <a:t>if all cells are on the same level,</a:t>
            </a:r>
            <a:r>
              <a:rPr lang="en-US" sz="2800"/>
              <a:t> </a:t>
            </a:r>
            <a:r>
              <a:rPr lang="bg-BG" sz="2800"/>
              <a:t>then </a:t>
            </a:r>
            <a:r>
              <a:rPr lang="bg-BG" sz="2800" i="1"/>
              <a:t>l </a:t>
            </a:r>
            <a:r>
              <a:rPr lang="bg-BG" sz="2800"/>
              <a:t>can be omitted</a:t>
            </a:r>
          </a:p>
        </p:txBody>
      </p:sp>
      <p:sp>
        <p:nvSpPr>
          <p:cNvPr id="336900" name="Line 4"/>
          <p:cNvSpPr>
            <a:spLocks noChangeShapeType="1"/>
          </p:cNvSpPr>
          <p:nvPr/>
        </p:nvSpPr>
        <p:spPr bwMode="auto">
          <a:xfrm flipV="1">
            <a:off x="5486400" y="2000250"/>
            <a:ext cx="0" cy="3276600"/>
          </a:xfrm>
          <a:prstGeom prst="line">
            <a:avLst/>
          </a:prstGeom>
          <a:noFill/>
          <a:ln w="19050">
            <a:solidFill>
              <a:schemeClr val="hlink"/>
            </a:solidFill>
            <a:miter lim="800000"/>
            <a:headEnd/>
            <a:tailEnd type="triangle" w="lg" len="lg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6901" name="Line 5"/>
          <p:cNvSpPr>
            <a:spLocks noChangeShapeType="1"/>
          </p:cNvSpPr>
          <p:nvPr/>
        </p:nvSpPr>
        <p:spPr bwMode="auto">
          <a:xfrm>
            <a:off x="5486400" y="5276850"/>
            <a:ext cx="3505200" cy="0"/>
          </a:xfrm>
          <a:prstGeom prst="line">
            <a:avLst/>
          </a:prstGeom>
          <a:noFill/>
          <a:ln w="19050">
            <a:solidFill>
              <a:schemeClr val="hlink"/>
            </a:solidFill>
            <a:miter lim="800000"/>
            <a:headEnd/>
            <a:tailEnd type="triangle" w="lg" len="lg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6902" name="Rectangle 6"/>
          <p:cNvSpPr>
            <a:spLocks noChangeArrowheads="1"/>
          </p:cNvSpPr>
          <p:nvPr/>
        </p:nvSpPr>
        <p:spPr bwMode="auto">
          <a:xfrm>
            <a:off x="6172200" y="2286000"/>
            <a:ext cx="2376488" cy="2376488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6907" name="Rectangle 11" descr="Dark upward diagonal"/>
          <p:cNvSpPr>
            <a:spLocks noChangeArrowheads="1"/>
          </p:cNvSpPr>
          <p:nvPr/>
        </p:nvSpPr>
        <p:spPr bwMode="auto">
          <a:xfrm>
            <a:off x="7359650" y="3473450"/>
            <a:ext cx="1189038" cy="1189038"/>
          </a:xfrm>
          <a:prstGeom prst="rect">
            <a:avLst/>
          </a:prstGeom>
          <a:pattFill prst="dkUpDiag">
            <a:fgClr>
              <a:srgbClr val="99CCFF"/>
            </a:fgClr>
            <a:bgClr>
              <a:schemeClr val="bg1"/>
            </a:bgClr>
          </a:patt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6908" name="Rectangle 12"/>
          <p:cNvSpPr>
            <a:spLocks noChangeArrowheads="1"/>
          </p:cNvSpPr>
          <p:nvPr/>
        </p:nvSpPr>
        <p:spPr bwMode="auto">
          <a:xfrm>
            <a:off x="6172200" y="2286000"/>
            <a:ext cx="1189038" cy="1189038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6909" name="Rectangle 13" descr="Dark upward diagonal"/>
          <p:cNvSpPr>
            <a:spLocks noChangeArrowheads="1"/>
          </p:cNvSpPr>
          <p:nvPr/>
        </p:nvSpPr>
        <p:spPr bwMode="auto">
          <a:xfrm>
            <a:off x="6769100" y="2286000"/>
            <a:ext cx="593725" cy="593725"/>
          </a:xfrm>
          <a:prstGeom prst="rect">
            <a:avLst/>
          </a:prstGeom>
          <a:pattFill prst="dkUpDiag">
            <a:fgClr>
              <a:srgbClr val="99CCFF"/>
            </a:fgClr>
            <a:bgClr>
              <a:schemeClr val="bg1"/>
            </a:bgClr>
          </a:patt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6910" name="Rectangle 14"/>
          <p:cNvSpPr>
            <a:spLocks noChangeArrowheads="1"/>
          </p:cNvSpPr>
          <p:nvPr/>
        </p:nvSpPr>
        <p:spPr bwMode="auto">
          <a:xfrm>
            <a:off x="6172200" y="2882900"/>
            <a:ext cx="593725" cy="593725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6911" name="Rectangle 15" descr="Dark upward diagonal"/>
          <p:cNvSpPr>
            <a:spLocks noChangeArrowheads="1"/>
          </p:cNvSpPr>
          <p:nvPr/>
        </p:nvSpPr>
        <p:spPr bwMode="auto">
          <a:xfrm>
            <a:off x="6172200" y="3187700"/>
            <a:ext cx="292100" cy="292100"/>
          </a:xfrm>
          <a:prstGeom prst="rect">
            <a:avLst/>
          </a:prstGeom>
          <a:pattFill prst="dkUpDiag">
            <a:fgClr>
              <a:srgbClr val="99CCFF"/>
            </a:fgClr>
            <a:bgClr>
              <a:schemeClr val="bg1"/>
            </a:bgClr>
          </a:patt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6912" name="Rectangle 16"/>
          <p:cNvSpPr>
            <a:spLocks noChangeArrowheads="1"/>
          </p:cNvSpPr>
          <p:nvPr/>
        </p:nvSpPr>
        <p:spPr bwMode="auto">
          <a:xfrm>
            <a:off x="6470650" y="2882900"/>
            <a:ext cx="292100" cy="2921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6913" name="Text Box 17"/>
          <p:cNvSpPr txBox="1">
            <a:spLocks noChangeArrowheads="1"/>
          </p:cNvSpPr>
          <p:nvPr/>
        </p:nvSpPr>
        <p:spPr bwMode="auto">
          <a:xfrm>
            <a:off x="6629400" y="4724400"/>
            <a:ext cx="3206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>
                <a:solidFill>
                  <a:srgbClr val="FF0000"/>
                </a:solidFill>
                <a:latin typeface="Book Antiqua" pitchFamily="18" charset="0"/>
              </a:rPr>
              <a:t>0</a:t>
            </a:r>
            <a:endParaRPr lang="bg-BG">
              <a:solidFill>
                <a:srgbClr val="FF0000"/>
              </a:solidFill>
              <a:latin typeface="Book Antiqua" pitchFamily="18" charset="0"/>
            </a:endParaRPr>
          </a:p>
        </p:txBody>
      </p:sp>
      <p:sp>
        <p:nvSpPr>
          <p:cNvPr id="336914" name="Text Box 18"/>
          <p:cNvSpPr txBox="1">
            <a:spLocks noChangeArrowheads="1"/>
          </p:cNvSpPr>
          <p:nvPr/>
        </p:nvSpPr>
        <p:spPr bwMode="auto">
          <a:xfrm>
            <a:off x="7772400" y="4724400"/>
            <a:ext cx="3206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>
                <a:solidFill>
                  <a:srgbClr val="FF0000"/>
                </a:solidFill>
                <a:latin typeface="Book Antiqua" pitchFamily="18" charset="0"/>
              </a:rPr>
              <a:t>1</a:t>
            </a:r>
            <a:endParaRPr lang="bg-BG">
              <a:solidFill>
                <a:srgbClr val="FF0000"/>
              </a:solidFill>
              <a:latin typeface="Book Antiqua" pitchFamily="18" charset="0"/>
            </a:endParaRPr>
          </a:p>
        </p:txBody>
      </p:sp>
      <p:sp>
        <p:nvSpPr>
          <p:cNvPr id="336915" name="Text Box 19"/>
          <p:cNvSpPr txBox="1">
            <a:spLocks noChangeArrowheads="1"/>
          </p:cNvSpPr>
          <p:nvPr/>
        </p:nvSpPr>
        <p:spPr bwMode="auto">
          <a:xfrm>
            <a:off x="5867400" y="3962400"/>
            <a:ext cx="3206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>
                <a:solidFill>
                  <a:srgbClr val="FF0000"/>
                </a:solidFill>
                <a:latin typeface="Book Antiqua" pitchFamily="18" charset="0"/>
              </a:rPr>
              <a:t>0</a:t>
            </a:r>
            <a:endParaRPr lang="bg-BG">
              <a:solidFill>
                <a:srgbClr val="FF0000"/>
              </a:solidFill>
              <a:latin typeface="Book Antiqua" pitchFamily="18" charset="0"/>
            </a:endParaRPr>
          </a:p>
        </p:txBody>
      </p:sp>
      <p:sp>
        <p:nvSpPr>
          <p:cNvPr id="336916" name="Text Box 20"/>
          <p:cNvSpPr txBox="1">
            <a:spLocks noChangeArrowheads="1"/>
          </p:cNvSpPr>
          <p:nvPr/>
        </p:nvSpPr>
        <p:spPr bwMode="auto">
          <a:xfrm>
            <a:off x="5851525" y="2667000"/>
            <a:ext cx="3206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>
                <a:solidFill>
                  <a:srgbClr val="FF0000"/>
                </a:solidFill>
                <a:latin typeface="Book Antiqua" pitchFamily="18" charset="0"/>
              </a:rPr>
              <a:t>1</a:t>
            </a:r>
            <a:endParaRPr lang="bg-BG">
              <a:solidFill>
                <a:srgbClr val="FF0000"/>
              </a:solidFill>
              <a:latin typeface="Book Antiqua" pitchFamily="18" charset="0"/>
            </a:endParaRPr>
          </a:p>
        </p:txBody>
      </p:sp>
      <p:sp>
        <p:nvSpPr>
          <p:cNvPr id="336917" name="Text Box 21"/>
          <p:cNvSpPr txBox="1">
            <a:spLocks noChangeArrowheads="1"/>
          </p:cNvSpPr>
          <p:nvPr/>
        </p:nvSpPr>
        <p:spPr bwMode="auto">
          <a:xfrm>
            <a:off x="6324600" y="1905000"/>
            <a:ext cx="3206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000">
                <a:solidFill>
                  <a:srgbClr val="009900"/>
                </a:solidFill>
                <a:latin typeface="Book Antiqua" pitchFamily="18" charset="0"/>
              </a:rPr>
              <a:t>0</a:t>
            </a:r>
            <a:endParaRPr lang="bg-BG" sz="2000">
              <a:solidFill>
                <a:srgbClr val="009900"/>
              </a:solidFill>
              <a:latin typeface="Book Antiqua" pitchFamily="18" charset="0"/>
            </a:endParaRPr>
          </a:p>
        </p:txBody>
      </p:sp>
      <p:sp>
        <p:nvSpPr>
          <p:cNvPr id="336918" name="Text Box 22"/>
          <p:cNvSpPr txBox="1">
            <a:spLocks noChangeArrowheads="1"/>
          </p:cNvSpPr>
          <p:nvPr/>
        </p:nvSpPr>
        <p:spPr bwMode="auto">
          <a:xfrm>
            <a:off x="6877050" y="1917700"/>
            <a:ext cx="3206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000">
                <a:solidFill>
                  <a:srgbClr val="009900"/>
                </a:solidFill>
                <a:latin typeface="Book Antiqua" pitchFamily="18" charset="0"/>
              </a:rPr>
              <a:t>1</a:t>
            </a:r>
            <a:endParaRPr lang="bg-BG" sz="2000">
              <a:solidFill>
                <a:srgbClr val="009900"/>
              </a:solidFill>
              <a:latin typeface="Book Antiqua" pitchFamily="18" charset="0"/>
            </a:endParaRPr>
          </a:p>
        </p:txBody>
      </p:sp>
      <p:sp>
        <p:nvSpPr>
          <p:cNvPr id="336919" name="Text Box 23"/>
          <p:cNvSpPr txBox="1">
            <a:spLocks noChangeArrowheads="1"/>
          </p:cNvSpPr>
          <p:nvPr/>
        </p:nvSpPr>
        <p:spPr bwMode="auto">
          <a:xfrm>
            <a:off x="5715000" y="2971800"/>
            <a:ext cx="3206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000">
                <a:solidFill>
                  <a:srgbClr val="009900"/>
                </a:solidFill>
                <a:latin typeface="Book Antiqua" pitchFamily="18" charset="0"/>
              </a:rPr>
              <a:t>0</a:t>
            </a:r>
            <a:endParaRPr lang="bg-BG" sz="2000">
              <a:solidFill>
                <a:srgbClr val="009900"/>
              </a:solidFill>
              <a:latin typeface="Book Antiqua" pitchFamily="18" charset="0"/>
            </a:endParaRPr>
          </a:p>
        </p:txBody>
      </p:sp>
      <p:sp>
        <p:nvSpPr>
          <p:cNvPr id="336920" name="Text Box 24"/>
          <p:cNvSpPr txBox="1">
            <a:spLocks noChangeArrowheads="1"/>
          </p:cNvSpPr>
          <p:nvPr/>
        </p:nvSpPr>
        <p:spPr bwMode="auto">
          <a:xfrm>
            <a:off x="5715000" y="2422525"/>
            <a:ext cx="3206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000">
                <a:solidFill>
                  <a:srgbClr val="009900"/>
                </a:solidFill>
                <a:latin typeface="Book Antiqua" pitchFamily="18" charset="0"/>
              </a:rPr>
              <a:t>1</a:t>
            </a:r>
            <a:endParaRPr lang="bg-BG" sz="2000">
              <a:solidFill>
                <a:srgbClr val="009900"/>
              </a:solidFill>
              <a:latin typeface="Book Antiqua" pitchFamily="18" charset="0"/>
            </a:endParaRPr>
          </a:p>
        </p:txBody>
      </p:sp>
      <p:sp>
        <p:nvSpPr>
          <p:cNvPr id="336921" name="Text Box 25"/>
          <p:cNvSpPr txBox="1">
            <a:spLocks noChangeArrowheads="1"/>
          </p:cNvSpPr>
          <p:nvPr/>
        </p:nvSpPr>
        <p:spPr bwMode="auto">
          <a:xfrm>
            <a:off x="6191250" y="1614488"/>
            <a:ext cx="3206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800">
                <a:solidFill>
                  <a:srgbClr val="CC00FF"/>
                </a:solidFill>
                <a:latin typeface="Book Antiqua" pitchFamily="18" charset="0"/>
              </a:rPr>
              <a:t>0</a:t>
            </a:r>
            <a:endParaRPr lang="bg-BG" sz="1800">
              <a:solidFill>
                <a:srgbClr val="CC00FF"/>
              </a:solidFill>
              <a:latin typeface="Book Antiqua" pitchFamily="18" charset="0"/>
            </a:endParaRPr>
          </a:p>
        </p:txBody>
      </p:sp>
      <p:sp>
        <p:nvSpPr>
          <p:cNvPr id="336922" name="Text Box 26"/>
          <p:cNvSpPr txBox="1">
            <a:spLocks noChangeArrowheads="1"/>
          </p:cNvSpPr>
          <p:nvPr/>
        </p:nvSpPr>
        <p:spPr bwMode="auto">
          <a:xfrm>
            <a:off x="6480175" y="1614488"/>
            <a:ext cx="3206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800">
                <a:solidFill>
                  <a:srgbClr val="CC00FF"/>
                </a:solidFill>
                <a:latin typeface="Book Antiqua" pitchFamily="18" charset="0"/>
              </a:rPr>
              <a:t>1</a:t>
            </a:r>
            <a:endParaRPr lang="bg-BG" sz="1800">
              <a:solidFill>
                <a:srgbClr val="CC00FF"/>
              </a:solidFill>
              <a:latin typeface="Book Antiqua" pitchFamily="18" charset="0"/>
            </a:endParaRPr>
          </a:p>
        </p:txBody>
      </p:sp>
      <p:sp>
        <p:nvSpPr>
          <p:cNvPr id="336923" name="Text Box 27"/>
          <p:cNvSpPr txBox="1">
            <a:spLocks noChangeArrowheads="1"/>
          </p:cNvSpPr>
          <p:nvPr/>
        </p:nvSpPr>
        <p:spPr bwMode="auto">
          <a:xfrm>
            <a:off x="5486400" y="3133725"/>
            <a:ext cx="320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800">
                <a:solidFill>
                  <a:srgbClr val="CC00FF"/>
                </a:solidFill>
                <a:latin typeface="Book Antiqua" pitchFamily="18" charset="0"/>
              </a:rPr>
              <a:t>0</a:t>
            </a:r>
            <a:endParaRPr lang="bg-BG" sz="1800">
              <a:solidFill>
                <a:srgbClr val="CC00FF"/>
              </a:solidFill>
              <a:latin typeface="Book Antiqua" pitchFamily="18" charset="0"/>
            </a:endParaRPr>
          </a:p>
        </p:txBody>
      </p:sp>
      <p:sp>
        <p:nvSpPr>
          <p:cNvPr id="336924" name="Text Box 28"/>
          <p:cNvSpPr txBox="1">
            <a:spLocks noChangeArrowheads="1"/>
          </p:cNvSpPr>
          <p:nvPr/>
        </p:nvSpPr>
        <p:spPr bwMode="auto">
          <a:xfrm>
            <a:off x="5486400" y="2876550"/>
            <a:ext cx="320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800">
                <a:solidFill>
                  <a:srgbClr val="CC00FF"/>
                </a:solidFill>
                <a:latin typeface="Book Antiqua" pitchFamily="18" charset="0"/>
              </a:rPr>
              <a:t>1</a:t>
            </a:r>
            <a:endParaRPr lang="bg-BG" sz="1800">
              <a:solidFill>
                <a:srgbClr val="CC00FF"/>
              </a:solidFill>
              <a:latin typeface="Book Antiqua" pitchFamily="18" charset="0"/>
            </a:endParaRPr>
          </a:p>
        </p:txBody>
      </p:sp>
      <p:sp>
        <p:nvSpPr>
          <p:cNvPr id="336925" name="Text Box 29"/>
          <p:cNvSpPr txBox="1">
            <a:spLocks noChangeArrowheads="1"/>
          </p:cNvSpPr>
          <p:nvPr/>
        </p:nvSpPr>
        <p:spPr bwMode="auto">
          <a:xfrm>
            <a:off x="5410200" y="624840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Book Antiqua" pitchFamily="18" charset="0"/>
              </a:rPr>
              <a:t>01</a:t>
            </a:r>
            <a:r>
              <a:rPr lang="en-US" dirty="0">
                <a:solidFill>
                  <a:srgbClr val="009900"/>
                </a:solidFill>
                <a:latin typeface="Book Antiqua" pitchFamily="18" charset="0"/>
              </a:rPr>
              <a:t>00</a:t>
            </a:r>
            <a:r>
              <a:rPr lang="en-US" dirty="0">
                <a:solidFill>
                  <a:srgbClr val="CC00FF"/>
                </a:solidFill>
                <a:latin typeface="Book Antiqua" pitchFamily="18" charset="0"/>
              </a:rPr>
              <a:t>00 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  <a:sym typeface="Symbol" pitchFamily="18" charset="2"/>
              </a:rPr>
              <a:t> 16</a:t>
            </a:r>
            <a:endParaRPr lang="bg-BG" dirty="0">
              <a:solidFill>
                <a:schemeClr val="tx2"/>
              </a:solidFill>
              <a:latin typeface="Book Antiqua" pitchFamily="18" charset="0"/>
              <a:sym typeface="Symbol" pitchFamily="18" charset="2"/>
            </a:endParaRPr>
          </a:p>
        </p:txBody>
      </p:sp>
      <p:sp>
        <p:nvSpPr>
          <p:cNvPr id="336926" name="Text Box 30"/>
          <p:cNvSpPr txBox="1">
            <a:spLocks noChangeArrowheads="1"/>
          </p:cNvSpPr>
          <p:nvPr/>
        </p:nvSpPr>
        <p:spPr bwMode="auto">
          <a:xfrm>
            <a:off x="6734175" y="5829300"/>
            <a:ext cx="152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>
                <a:solidFill>
                  <a:srgbClr val="FF0000"/>
                </a:solidFill>
                <a:latin typeface="Book Antiqua" pitchFamily="18" charset="0"/>
              </a:rPr>
              <a:t>01</a:t>
            </a:r>
            <a:r>
              <a:rPr lang="en-US">
                <a:solidFill>
                  <a:srgbClr val="009900"/>
                </a:solidFill>
                <a:latin typeface="Book Antiqua" pitchFamily="18" charset="0"/>
              </a:rPr>
              <a:t>11 </a:t>
            </a:r>
            <a:r>
              <a:rPr lang="en-US">
                <a:solidFill>
                  <a:schemeClr val="tx2"/>
                </a:solidFill>
                <a:latin typeface="Book Antiqua" pitchFamily="18" charset="0"/>
                <a:sym typeface="Symbol" pitchFamily="18" charset="2"/>
              </a:rPr>
              <a:t> 7</a:t>
            </a:r>
            <a:endParaRPr lang="bg-BG">
              <a:solidFill>
                <a:schemeClr val="tx2"/>
              </a:solidFill>
              <a:latin typeface="Book Antiqua" pitchFamily="18" charset="0"/>
              <a:sym typeface="Symbol" pitchFamily="18" charset="2"/>
            </a:endParaRPr>
          </a:p>
        </p:txBody>
      </p:sp>
      <p:sp>
        <p:nvSpPr>
          <p:cNvPr id="336927" name="Text Box 31"/>
          <p:cNvSpPr txBox="1">
            <a:spLocks noChangeArrowheads="1"/>
          </p:cNvSpPr>
          <p:nvPr/>
        </p:nvSpPr>
        <p:spPr bwMode="auto">
          <a:xfrm>
            <a:off x="7848600" y="5486400"/>
            <a:ext cx="1295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>
                <a:solidFill>
                  <a:srgbClr val="FF0000"/>
                </a:solidFill>
                <a:latin typeface="Book Antiqua" pitchFamily="18" charset="0"/>
              </a:rPr>
              <a:t>10 </a:t>
            </a:r>
            <a:r>
              <a:rPr lang="en-US">
                <a:solidFill>
                  <a:schemeClr val="tx2"/>
                </a:solidFill>
                <a:latin typeface="Book Antiqua" pitchFamily="18" charset="0"/>
                <a:sym typeface="Symbol" pitchFamily="18" charset="2"/>
              </a:rPr>
              <a:t> 2</a:t>
            </a:r>
          </a:p>
        </p:txBody>
      </p:sp>
      <p:sp>
        <p:nvSpPr>
          <p:cNvPr id="336928" name="Line 32"/>
          <p:cNvSpPr>
            <a:spLocks noChangeShapeType="1"/>
          </p:cNvSpPr>
          <p:nvPr/>
        </p:nvSpPr>
        <p:spPr bwMode="auto">
          <a:xfrm flipV="1">
            <a:off x="6019800" y="3429000"/>
            <a:ext cx="304800" cy="2895600"/>
          </a:xfrm>
          <a:prstGeom prst="line">
            <a:avLst/>
          </a:prstGeom>
          <a:noFill/>
          <a:ln w="12700">
            <a:solidFill>
              <a:schemeClr val="tx2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6929" name="Line 33"/>
          <p:cNvSpPr>
            <a:spLocks noChangeShapeType="1"/>
          </p:cNvSpPr>
          <p:nvPr/>
        </p:nvSpPr>
        <p:spPr bwMode="auto">
          <a:xfrm flipH="1" flipV="1">
            <a:off x="7162800" y="2743200"/>
            <a:ext cx="76200" cy="3124200"/>
          </a:xfrm>
          <a:prstGeom prst="line">
            <a:avLst/>
          </a:prstGeom>
          <a:noFill/>
          <a:ln w="12700">
            <a:solidFill>
              <a:schemeClr val="tx2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6930" name="Line 34"/>
          <p:cNvSpPr>
            <a:spLocks noChangeShapeType="1"/>
          </p:cNvSpPr>
          <p:nvPr/>
        </p:nvSpPr>
        <p:spPr bwMode="auto">
          <a:xfrm flipV="1">
            <a:off x="8153400" y="4495800"/>
            <a:ext cx="0" cy="1066800"/>
          </a:xfrm>
          <a:prstGeom prst="line">
            <a:avLst/>
          </a:prstGeom>
          <a:noFill/>
          <a:ln w="12700">
            <a:solidFill>
              <a:schemeClr val="tx2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22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609600" y="533400"/>
            <a:ext cx="8534400" cy="762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z="3200"/>
              <a:t>Z-Order  - Representation of Spatial Objects</a:t>
            </a:r>
            <a:endParaRPr lang="bg-BG" sz="3200"/>
          </a:p>
        </p:txBody>
      </p:sp>
      <p:sp>
        <p:nvSpPr>
          <p:cNvPr id="3379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9600" y="1295400"/>
            <a:ext cx="4876800" cy="5181600"/>
          </a:xfrm>
          <a:noFill/>
          <a:ln/>
        </p:spPr>
        <p:txBody>
          <a:bodyPr/>
          <a:lstStyle/>
          <a:p>
            <a:pPr marL="228600" indent="-228600">
              <a:lnSpc>
                <a:spcPct val="80000"/>
              </a:lnSpc>
              <a:buFont typeface="Wingdings" pitchFamily="2" charset="2"/>
              <a:buChar char="n"/>
            </a:pPr>
            <a:r>
              <a:rPr lang="bg-BG" sz="2000"/>
              <a:t>For Points</a:t>
            </a:r>
          </a:p>
          <a:p>
            <a:pPr marL="749300" lvl="1" indent="-177800">
              <a:lnSpc>
                <a:spcPct val="80000"/>
              </a:lnSpc>
            </a:pPr>
            <a:r>
              <a:rPr lang="en-US" sz="2000"/>
              <a:t> </a:t>
            </a:r>
            <a:r>
              <a:rPr lang="bg-BG" sz="2000"/>
              <a:t>Use a fixed a resolution of the space</a:t>
            </a:r>
            <a:r>
              <a:rPr lang="en-US" sz="2000"/>
              <a:t> </a:t>
            </a:r>
            <a:r>
              <a:rPr lang="bg-BG" sz="2000"/>
              <a:t>in both dimensions, i.e., each cell has</a:t>
            </a:r>
            <a:r>
              <a:rPr lang="en-US" sz="2000"/>
              <a:t> </a:t>
            </a:r>
            <a:r>
              <a:rPr lang="bg-BG" sz="2000"/>
              <a:t>the same size</a:t>
            </a:r>
          </a:p>
          <a:p>
            <a:pPr marL="749300" lvl="1" indent="-177800">
              <a:lnSpc>
                <a:spcPct val="80000"/>
              </a:lnSpc>
            </a:pPr>
            <a:r>
              <a:rPr lang="en-US" sz="2000"/>
              <a:t> </a:t>
            </a:r>
            <a:r>
              <a:rPr lang="bg-BG" sz="2000"/>
              <a:t>Each point is then approximated by one cell</a:t>
            </a:r>
            <a:endParaRPr lang="en-US" sz="2000"/>
          </a:p>
          <a:p>
            <a:pPr marL="749300" lvl="1" indent="-177800">
              <a:lnSpc>
                <a:spcPct val="80000"/>
              </a:lnSpc>
              <a:buFont typeface="Wingdings" pitchFamily="2" charset="2"/>
              <a:buNone/>
            </a:pPr>
            <a:endParaRPr lang="bg-BG" sz="2000"/>
          </a:p>
          <a:p>
            <a:pPr marL="228600" indent="-228600">
              <a:lnSpc>
                <a:spcPct val="80000"/>
              </a:lnSpc>
              <a:buFont typeface="Wingdings" pitchFamily="2" charset="2"/>
              <a:buChar char="n"/>
            </a:pPr>
            <a:r>
              <a:rPr lang="bg-BG" sz="2000"/>
              <a:t>For extended spatial object</a:t>
            </a:r>
          </a:p>
          <a:p>
            <a:pPr marL="749300" lvl="1" indent="-177800">
              <a:lnSpc>
                <a:spcPct val="80000"/>
              </a:lnSpc>
            </a:pPr>
            <a:r>
              <a:rPr lang="bg-BG" sz="2000"/>
              <a:t> minimum enclosing cell</a:t>
            </a:r>
          </a:p>
          <a:p>
            <a:pPr marL="1790700" lvl="2" indent="-457200">
              <a:lnSpc>
                <a:spcPct val="80000"/>
              </a:lnSpc>
            </a:pPr>
            <a:r>
              <a:rPr lang="bg-BG" sz="2000"/>
              <a:t>Problems with cells that intersect</a:t>
            </a:r>
            <a:r>
              <a:rPr lang="en-US" sz="2000"/>
              <a:t> </a:t>
            </a:r>
            <a:r>
              <a:rPr lang="bg-BG" sz="2000"/>
              <a:t>the first partitions already</a:t>
            </a:r>
          </a:p>
          <a:p>
            <a:pPr marL="749300" lvl="1" indent="-177800">
              <a:lnSpc>
                <a:spcPct val="80000"/>
              </a:lnSpc>
            </a:pPr>
            <a:r>
              <a:rPr lang="en-US" sz="2000"/>
              <a:t> </a:t>
            </a:r>
            <a:r>
              <a:rPr lang="bg-BG" sz="2000"/>
              <a:t>improvement: use several cells</a:t>
            </a:r>
          </a:p>
          <a:p>
            <a:pPr marL="1790700" lvl="2" indent="-457200">
              <a:lnSpc>
                <a:spcPct val="80000"/>
              </a:lnSpc>
            </a:pPr>
            <a:r>
              <a:rPr lang="bg-BG" sz="2000"/>
              <a:t>Better approximation of the objects</a:t>
            </a:r>
          </a:p>
          <a:p>
            <a:pPr marL="1790700" lvl="2" indent="-457200">
              <a:lnSpc>
                <a:spcPct val="80000"/>
              </a:lnSpc>
            </a:pPr>
            <a:r>
              <a:rPr lang="bg-BG" sz="2000"/>
              <a:t>Redundant storage</a:t>
            </a:r>
          </a:p>
          <a:p>
            <a:pPr marL="1790700" lvl="2" indent="-457200">
              <a:lnSpc>
                <a:spcPct val="80000"/>
              </a:lnSpc>
            </a:pPr>
            <a:r>
              <a:rPr lang="bg-BG" sz="2000"/>
              <a:t>Redundant retrieval in spatial queries</a:t>
            </a:r>
            <a:endParaRPr lang="bg-BG" sz="1600"/>
          </a:p>
        </p:txBody>
      </p:sp>
      <p:grpSp>
        <p:nvGrpSpPr>
          <p:cNvPr id="337924" name="Group 4"/>
          <p:cNvGrpSpPr>
            <a:grpSpLocks/>
          </p:cNvGrpSpPr>
          <p:nvPr/>
        </p:nvGrpSpPr>
        <p:grpSpPr bwMode="auto">
          <a:xfrm>
            <a:off x="6553200" y="1104900"/>
            <a:ext cx="2133600" cy="2247900"/>
            <a:chOff x="1248" y="2304"/>
            <a:chExt cx="1632" cy="1644"/>
          </a:xfrm>
        </p:grpSpPr>
        <p:grpSp>
          <p:nvGrpSpPr>
            <p:cNvPr id="337925" name="Group 5"/>
            <p:cNvGrpSpPr>
              <a:grpSpLocks/>
            </p:cNvGrpSpPr>
            <p:nvPr/>
          </p:nvGrpSpPr>
          <p:grpSpPr bwMode="auto">
            <a:xfrm>
              <a:off x="1248" y="2304"/>
              <a:ext cx="1632" cy="252"/>
              <a:chOff x="3840" y="1370"/>
              <a:chExt cx="1632" cy="252"/>
            </a:xfrm>
          </p:grpSpPr>
          <p:grpSp>
            <p:nvGrpSpPr>
              <p:cNvPr id="337926" name="Group 6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37927" name="Rectangle 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7928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7929" name="Group 9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37930" name="Rectangle 1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7931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7932" name="Group 12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37933" name="Rectangle 1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7934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7935" name="Group 15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37936" name="Rectangle 1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7937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7938" name="Group 18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37939" name="Rectangle 1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7940" name="Text Box 2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7941" name="Group 21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37942" name="Rectangle 2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7943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7944" name="Group 24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37945" name="Rectangle 2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7946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7947" name="Group 27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37948" name="Rectangle 2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7949" name="Text Box 2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37950" name="Group 30"/>
            <p:cNvGrpSpPr>
              <a:grpSpLocks/>
            </p:cNvGrpSpPr>
            <p:nvPr/>
          </p:nvGrpSpPr>
          <p:grpSpPr bwMode="auto">
            <a:xfrm>
              <a:off x="1248" y="2508"/>
              <a:ext cx="1632" cy="252"/>
              <a:chOff x="3840" y="1370"/>
              <a:chExt cx="1632" cy="252"/>
            </a:xfrm>
          </p:grpSpPr>
          <p:grpSp>
            <p:nvGrpSpPr>
              <p:cNvPr id="337951" name="Group 31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37952" name="Rectangle 3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7953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20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7954" name="Group 34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37955" name="Rectangle 3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7956" name="Text Box 3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22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7957" name="Group 37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37958" name="Rectangle 3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7959" name="Text Box 3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28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7960" name="Group 40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37961" name="Rectangle 4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7962" name="Text Box 4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30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7963" name="Group 43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37964" name="Rectangle 4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7965" name="Text Box 4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52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7966" name="Group 46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37967" name="Rectangle 4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7968" name="Text Box 4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54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7969" name="Group 49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37970" name="Rectangle 5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7971" name="Text Box 5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60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7972" name="Group 52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37973" name="Rectangle 5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7974" name="Text Box 5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62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37975" name="Group 55"/>
            <p:cNvGrpSpPr>
              <a:grpSpLocks/>
            </p:cNvGrpSpPr>
            <p:nvPr/>
          </p:nvGrpSpPr>
          <p:grpSpPr bwMode="auto">
            <a:xfrm>
              <a:off x="1248" y="2706"/>
              <a:ext cx="1632" cy="252"/>
              <a:chOff x="3840" y="1370"/>
              <a:chExt cx="1632" cy="252"/>
            </a:xfrm>
          </p:grpSpPr>
          <p:grpSp>
            <p:nvGrpSpPr>
              <p:cNvPr id="337976" name="Group 56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37977" name="Rectangle 5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7978" name="Text Box 5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17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7979" name="Group 59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37980" name="Rectangle 6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7981" name="Text Box 6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19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7982" name="Group 62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37983" name="Rectangle 6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7984" name="Text Box 6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25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7985" name="Group 65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37986" name="Rectangle 6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7987" name="Text Box 6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27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7988" name="Group 68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37989" name="Rectangle 6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7990" name="Text Box 7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49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7991" name="Group 71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37992" name="Rectangle 7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7993" name="Text Box 7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51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7994" name="Group 74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37995" name="Rectangle 7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7996" name="Text Box 7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57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7997" name="Group 77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37998" name="Rectangle 7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7999" name="Text Box 7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59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38000" name="Group 80"/>
            <p:cNvGrpSpPr>
              <a:grpSpLocks/>
            </p:cNvGrpSpPr>
            <p:nvPr/>
          </p:nvGrpSpPr>
          <p:grpSpPr bwMode="auto">
            <a:xfrm>
              <a:off x="1248" y="2904"/>
              <a:ext cx="1632" cy="252"/>
              <a:chOff x="3840" y="1370"/>
              <a:chExt cx="1632" cy="252"/>
            </a:xfrm>
          </p:grpSpPr>
          <p:grpSp>
            <p:nvGrpSpPr>
              <p:cNvPr id="338001" name="Group 81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38002" name="Rectangle 8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003" name="Text Box 8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16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8004" name="Group 84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38005" name="Rectangle 8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006" name="Text Box 8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18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8007" name="Group 87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38008" name="Rectangle 8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009" name="Text Box 8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24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8010" name="Group 90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38011" name="Rectangle 9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012" name="Text Box 9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26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8013" name="Group 93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38014" name="Rectangle 9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015" name="Text Box 9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48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8016" name="Group 96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38017" name="Rectangle 9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018" name="Text Box 9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50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8019" name="Group 99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38020" name="Rectangle 10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021" name="Text Box 10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56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8022" name="Group 102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38023" name="Rectangle 10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024" name="Text Box 10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58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38025" name="Group 105"/>
            <p:cNvGrpSpPr>
              <a:grpSpLocks/>
            </p:cNvGrpSpPr>
            <p:nvPr/>
          </p:nvGrpSpPr>
          <p:grpSpPr bwMode="auto">
            <a:xfrm>
              <a:off x="1248" y="3102"/>
              <a:ext cx="1632" cy="252"/>
              <a:chOff x="3840" y="1370"/>
              <a:chExt cx="1632" cy="252"/>
            </a:xfrm>
          </p:grpSpPr>
          <p:grpSp>
            <p:nvGrpSpPr>
              <p:cNvPr id="338026" name="Group 106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38027" name="Rectangle 10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028" name="Text Box 10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5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8029" name="Group 109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38030" name="Rectangle 11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031" name="Text Box 11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7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8032" name="Group 112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38033" name="Rectangle 11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034" name="Text Box 11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13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8035" name="Group 115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38036" name="Rectangle 11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037" name="Text Box 11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15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8038" name="Group 118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38039" name="Rectangle 11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040" name="Text Box 12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37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8041" name="Group 121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38042" name="Rectangle 12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043" name="Text Box 12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39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8044" name="Group 124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38045" name="Rectangle 12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046" name="Text Box 12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45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8047" name="Group 127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38048" name="Rectangle 12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049" name="Text Box 12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47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38050" name="Group 130"/>
            <p:cNvGrpSpPr>
              <a:grpSpLocks/>
            </p:cNvGrpSpPr>
            <p:nvPr/>
          </p:nvGrpSpPr>
          <p:grpSpPr bwMode="auto">
            <a:xfrm>
              <a:off x="1248" y="3300"/>
              <a:ext cx="1632" cy="252"/>
              <a:chOff x="3840" y="1370"/>
              <a:chExt cx="1632" cy="252"/>
            </a:xfrm>
          </p:grpSpPr>
          <p:grpSp>
            <p:nvGrpSpPr>
              <p:cNvPr id="338051" name="Group 131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38052" name="Rectangle 13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053" name="Text Box 13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4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8054" name="Group 134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38055" name="Rectangle 13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056" name="Text Box 13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6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8057" name="Group 137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38058" name="Rectangle 13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059" name="Text Box 13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12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8060" name="Group 140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38061" name="Rectangle 14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062" name="Text Box 14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14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8063" name="Group 143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38064" name="Rectangle 14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065" name="Text Box 14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36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8066" name="Group 146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38067" name="Rectangle 14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068" name="Text Box 14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38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8069" name="Group 149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38070" name="Rectangle 15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071" name="Text Box 15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44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8072" name="Group 152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38073" name="Rectangle 15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074" name="Text Box 15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46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38075" name="Group 155"/>
            <p:cNvGrpSpPr>
              <a:grpSpLocks/>
            </p:cNvGrpSpPr>
            <p:nvPr/>
          </p:nvGrpSpPr>
          <p:grpSpPr bwMode="auto">
            <a:xfrm>
              <a:off x="1248" y="3498"/>
              <a:ext cx="1632" cy="252"/>
              <a:chOff x="3840" y="1370"/>
              <a:chExt cx="1632" cy="252"/>
            </a:xfrm>
          </p:grpSpPr>
          <p:grpSp>
            <p:nvGrpSpPr>
              <p:cNvPr id="338076" name="Group 156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38077" name="Rectangle 15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078" name="Text Box 15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1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8079" name="Group 159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38080" name="Rectangle 16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081" name="Text Box 16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3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8082" name="Group 162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38083" name="Rectangle 16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084" name="Text Box 16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9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8085" name="Group 165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38086" name="Rectangle 166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087" name="Text Box 167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11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8088" name="Group 168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38089" name="Rectangle 169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090" name="Text Box 170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33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8091" name="Group 171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38092" name="Rectangle 17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093" name="Text Box 17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35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8094" name="Group 174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38095" name="Rectangle 17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096" name="Text Box 17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41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8097" name="Group 177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38098" name="Rectangle 17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099" name="Text Box 17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43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</p:grpSp>
        <p:grpSp>
          <p:nvGrpSpPr>
            <p:cNvPr id="338100" name="Group 180"/>
            <p:cNvGrpSpPr>
              <a:grpSpLocks/>
            </p:cNvGrpSpPr>
            <p:nvPr/>
          </p:nvGrpSpPr>
          <p:grpSpPr bwMode="auto">
            <a:xfrm>
              <a:off x="1248" y="3696"/>
              <a:ext cx="1632" cy="252"/>
              <a:chOff x="3840" y="1370"/>
              <a:chExt cx="1632" cy="252"/>
            </a:xfrm>
          </p:grpSpPr>
          <p:grpSp>
            <p:nvGrpSpPr>
              <p:cNvPr id="338101" name="Group 181"/>
              <p:cNvGrpSpPr>
                <a:grpSpLocks/>
              </p:cNvGrpSpPr>
              <p:nvPr/>
            </p:nvGrpSpPr>
            <p:grpSpPr bwMode="auto">
              <a:xfrm>
                <a:off x="3840" y="1370"/>
                <a:ext cx="230" cy="252"/>
                <a:chOff x="4406" y="1370"/>
                <a:chExt cx="230" cy="252"/>
              </a:xfrm>
            </p:grpSpPr>
            <p:sp>
              <p:nvSpPr>
                <p:cNvPr id="338102" name="Rectangle 182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103" name="Text Box 183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0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8104" name="Group 184"/>
              <p:cNvGrpSpPr>
                <a:grpSpLocks/>
              </p:cNvGrpSpPr>
              <p:nvPr/>
            </p:nvGrpSpPr>
            <p:grpSpPr bwMode="auto">
              <a:xfrm>
                <a:off x="4040" y="1370"/>
                <a:ext cx="230" cy="252"/>
                <a:chOff x="4406" y="1370"/>
                <a:chExt cx="230" cy="252"/>
              </a:xfrm>
            </p:grpSpPr>
            <p:sp>
              <p:nvSpPr>
                <p:cNvPr id="338105" name="Rectangle 185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106" name="Text Box 186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2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8107" name="Group 187"/>
              <p:cNvGrpSpPr>
                <a:grpSpLocks/>
              </p:cNvGrpSpPr>
              <p:nvPr/>
            </p:nvGrpSpPr>
            <p:grpSpPr bwMode="auto">
              <a:xfrm>
                <a:off x="4244" y="1370"/>
                <a:ext cx="230" cy="252"/>
                <a:chOff x="4406" y="1370"/>
                <a:chExt cx="230" cy="252"/>
              </a:xfrm>
            </p:grpSpPr>
            <p:sp>
              <p:nvSpPr>
                <p:cNvPr id="338108" name="Rectangle 188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109" name="Text Box 189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8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8110" name="Group 190"/>
              <p:cNvGrpSpPr>
                <a:grpSpLocks/>
              </p:cNvGrpSpPr>
              <p:nvPr/>
            </p:nvGrpSpPr>
            <p:grpSpPr bwMode="auto">
              <a:xfrm>
                <a:off x="4448" y="1370"/>
                <a:ext cx="230" cy="252"/>
                <a:chOff x="4406" y="1370"/>
                <a:chExt cx="230" cy="252"/>
              </a:xfrm>
            </p:grpSpPr>
            <p:sp>
              <p:nvSpPr>
                <p:cNvPr id="338111" name="Rectangle 191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112" name="Text Box 192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10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8113" name="Group 193"/>
              <p:cNvGrpSpPr>
                <a:grpSpLocks/>
              </p:cNvGrpSpPr>
              <p:nvPr/>
            </p:nvGrpSpPr>
            <p:grpSpPr bwMode="auto">
              <a:xfrm>
                <a:off x="4646" y="1370"/>
                <a:ext cx="230" cy="252"/>
                <a:chOff x="4406" y="1370"/>
                <a:chExt cx="230" cy="252"/>
              </a:xfrm>
            </p:grpSpPr>
            <p:sp>
              <p:nvSpPr>
                <p:cNvPr id="338114" name="Rectangle 194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115" name="Text Box 195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32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8116" name="Group 196"/>
              <p:cNvGrpSpPr>
                <a:grpSpLocks/>
              </p:cNvGrpSpPr>
              <p:nvPr/>
            </p:nvGrpSpPr>
            <p:grpSpPr bwMode="auto">
              <a:xfrm>
                <a:off x="4842" y="1370"/>
                <a:ext cx="230" cy="252"/>
                <a:chOff x="4406" y="1370"/>
                <a:chExt cx="230" cy="252"/>
              </a:xfrm>
            </p:grpSpPr>
            <p:sp>
              <p:nvSpPr>
                <p:cNvPr id="338117" name="Rectangle 197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118" name="Text Box 198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34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8119" name="Group 199"/>
              <p:cNvGrpSpPr>
                <a:grpSpLocks/>
              </p:cNvGrpSpPr>
              <p:nvPr/>
            </p:nvGrpSpPr>
            <p:grpSpPr bwMode="auto">
              <a:xfrm>
                <a:off x="5040" y="1370"/>
                <a:ext cx="230" cy="252"/>
                <a:chOff x="4406" y="1370"/>
                <a:chExt cx="230" cy="252"/>
              </a:xfrm>
            </p:grpSpPr>
            <p:sp>
              <p:nvSpPr>
                <p:cNvPr id="338120" name="Rectangle 200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121" name="Text Box 201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40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  <p:grpSp>
            <p:nvGrpSpPr>
              <p:cNvPr id="338122" name="Group 202"/>
              <p:cNvGrpSpPr>
                <a:grpSpLocks/>
              </p:cNvGrpSpPr>
              <p:nvPr/>
            </p:nvGrpSpPr>
            <p:grpSpPr bwMode="auto">
              <a:xfrm>
                <a:off x="5242" y="1370"/>
                <a:ext cx="230" cy="252"/>
                <a:chOff x="4406" y="1370"/>
                <a:chExt cx="230" cy="252"/>
              </a:xfrm>
            </p:grpSpPr>
            <p:sp>
              <p:nvSpPr>
                <p:cNvPr id="338123" name="Rectangle 203"/>
                <p:cNvSpPr>
                  <a:spLocks noChangeArrowheads="1"/>
                </p:cNvSpPr>
                <p:nvPr/>
              </p:nvSpPr>
              <p:spPr bwMode="auto">
                <a:xfrm>
                  <a:off x="4416" y="1370"/>
                  <a:ext cx="202" cy="202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124" name="Text Box 204"/>
                <p:cNvSpPr txBox="1">
                  <a:spLocks noChangeArrowheads="1"/>
                </p:cNvSpPr>
                <p:nvPr/>
              </p:nvSpPr>
              <p:spPr bwMode="auto">
                <a:xfrm>
                  <a:off x="4406" y="1392"/>
                  <a:ext cx="230" cy="2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800" b="1">
                      <a:latin typeface="Book Antiqua" pitchFamily="18" charset="0"/>
                    </a:rPr>
                    <a:t>42</a:t>
                  </a:r>
                  <a:endParaRPr lang="bg-BG" sz="800" b="1">
                    <a:latin typeface="Book Antiqua" pitchFamily="18" charset="0"/>
                  </a:endParaRPr>
                </a:p>
              </p:txBody>
            </p:sp>
          </p:grpSp>
        </p:grpSp>
      </p:grpSp>
      <p:grpSp>
        <p:nvGrpSpPr>
          <p:cNvPr id="338125" name="Group 205"/>
          <p:cNvGrpSpPr>
            <a:grpSpLocks/>
          </p:cNvGrpSpPr>
          <p:nvPr/>
        </p:nvGrpSpPr>
        <p:grpSpPr bwMode="auto">
          <a:xfrm>
            <a:off x="6553200" y="1108075"/>
            <a:ext cx="2133600" cy="344488"/>
            <a:chOff x="3840" y="1370"/>
            <a:chExt cx="1632" cy="252"/>
          </a:xfrm>
        </p:grpSpPr>
        <p:grpSp>
          <p:nvGrpSpPr>
            <p:cNvPr id="338126" name="Group 206"/>
            <p:cNvGrpSpPr>
              <a:grpSpLocks/>
            </p:cNvGrpSpPr>
            <p:nvPr/>
          </p:nvGrpSpPr>
          <p:grpSpPr bwMode="auto">
            <a:xfrm>
              <a:off x="3840" y="1370"/>
              <a:ext cx="230" cy="252"/>
              <a:chOff x="4406" y="1370"/>
              <a:chExt cx="230" cy="252"/>
            </a:xfrm>
          </p:grpSpPr>
          <p:sp>
            <p:nvSpPr>
              <p:cNvPr id="338127" name="Rectangle 207"/>
              <p:cNvSpPr>
                <a:spLocks noChangeArrowheads="1"/>
              </p:cNvSpPr>
              <p:nvPr/>
            </p:nvSpPr>
            <p:spPr bwMode="auto">
              <a:xfrm>
                <a:off x="4416" y="1370"/>
                <a:ext cx="202" cy="202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128" name="Text Box 208"/>
              <p:cNvSpPr txBox="1">
                <a:spLocks noChangeArrowheads="1"/>
              </p:cNvSpPr>
              <p:nvPr/>
            </p:nvSpPr>
            <p:spPr bwMode="auto">
              <a:xfrm>
                <a:off x="4406" y="1392"/>
                <a:ext cx="230" cy="23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>
                  <a:spcBef>
                    <a:spcPct val="50000"/>
                  </a:spcBef>
                </a:pPr>
                <a:r>
                  <a:rPr lang="en-US" sz="800" b="1">
                    <a:latin typeface="Book Antiqua" pitchFamily="18" charset="0"/>
                  </a:rPr>
                  <a:t>21</a:t>
                </a:r>
                <a:endParaRPr lang="bg-BG" sz="800" b="1">
                  <a:latin typeface="Book Antiqua" pitchFamily="18" charset="0"/>
                </a:endParaRPr>
              </a:p>
            </p:txBody>
          </p:sp>
        </p:grpSp>
        <p:grpSp>
          <p:nvGrpSpPr>
            <p:cNvPr id="338129" name="Group 209"/>
            <p:cNvGrpSpPr>
              <a:grpSpLocks/>
            </p:cNvGrpSpPr>
            <p:nvPr/>
          </p:nvGrpSpPr>
          <p:grpSpPr bwMode="auto">
            <a:xfrm>
              <a:off x="4040" y="1370"/>
              <a:ext cx="230" cy="252"/>
              <a:chOff x="4406" y="1370"/>
              <a:chExt cx="230" cy="252"/>
            </a:xfrm>
          </p:grpSpPr>
          <p:sp>
            <p:nvSpPr>
              <p:cNvPr id="338130" name="Rectangle 210"/>
              <p:cNvSpPr>
                <a:spLocks noChangeArrowheads="1"/>
              </p:cNvSpPr>
              <p:nvPr/>
            </p:nvSpPr>
            <p:spPr bwMode="auto">
              <a:xfrm>
                <a:off x="4416" y="1370"/>
                <a:ext cx="202" cy="202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131" name="Text Box 211"/>
              <p:cNvSpPr txBox="1">
                <a:spLocks noChangeArrowheads="1"/>
              </p:cNvSpPr>
              <p:nvPr/>
            </p:nvSpPr>
            <p:spPr bwMode="auto">
              <a:xfrm>
                <a:off x="4406" y="1392"/>
                <a:ext cx="230" cy="23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>
                  <a:spcBef>
                    <a:spcPct val="50000"/>
                  </a:spcBef>
                </a:pPr>
                <a:r>
                  <a:rPr lang="en-US" sz="800" b="1">
                    <a:latin typeface="Book Antiqua" pitchFamily="18" charset="0"/>
                  </a:rPr>
                  <a:t>23</a:t>
                </a:r>
                <a:endParaRPr lang="bg-BG" sz="800" b="1">
                  <a:latin typeface="Book Antiqua" pitchFamily="18" charset="0"/>
                </a:endParaRPr>
              </a:p>
            </p:txBody>
          </p:sp>
        </p:grpSp>
        <p:grpSp>
          <p:nvGrpSpPr>
            <p:cNvPr id="338132" name="Group 212"/>
            <p:cNvGrpSpPr>
              <a:grpSpLocks/>
            </p:cNvGrpSpPr>
            <p:nvPr/>
          </p:nvGrpSpPr>
          <p:grpSpPr bwMode="auto">
            <a:xfrm>
              <a:off x="4244" y="1370"/>
              <a:ext cx="230" cy="252"/>
              <a:chOff x="4406" y="1370"/>
              <a:chExt cx="230" cy="252"/>
            </a:xfrm>
          </p:grpSpPr>
          <p:sp>
            <p:nvSpPr>
              <p:cNvPr id="338133" name="Rectangle 213"/>
              <p:cNvSpPr>
                <a:spLocks noChangeArrowheads="1"/>
              </p:cNvSpPr>
              <p:nvPr/>
            </p:nvSpPr>
            <p:spPr bwMode="auto">
              <a:xfrm>
                <a:off x="4416" y="1370"/>
                <a:ext cx="202" cy="202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134" name="Text Box 214"/>
              <p:cNvSpPr txBox="1">
                <a:spLocks noChangeArrowheads="1"/>
              </p:cNvSpPr>
              <p:nvPr/>
            </p:nvSpPr>
            <p:spPr bwMode="auto">
              <a:xfrm>
                <a:off x="4406" y="1392"/>
                <a:ext cx="230" cy="23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>
                  <a:spcBef>
                    <a:spcPct val="50000"/>
                  </a:spcBef>
                </a:pPr>
                <a:r>
                  <a:rPr lang="en-US" sz="800" b="1">
                    <a:latin typeface="Book Antiqua" pitchFamily="18" charset="0"/>
                  </a:rPr>
                  <a:t>29</a:t>
                </a:r>
                <a:endParaRPr lang="bg-BG" sz="800" b="1">
                  <a:latin typeface="Book Antiqua" pitchFamily="18" charset="0"/>
                </a:endParaRPr>
              </a:p>
            </p:txBody>
          </p:sp>
        </p:grpSp>
        <p:grpSp>
          <p:nvGrpSpPr>
            <p:cNvPr id="338135" name="Group 215"/>
            <p:cNvGrpSpPr>
              <a:grpSpLocks/>
            </p:cNvGrpSpPr>
            <p:nvPr/>
          </p:nvGrpSpPr>
          <p:grpSpPr bwMode="auto">
            <a:xfrm>
              <a:off x="4448" y="1370"/>
              <a:ext cx="230" cy="252"/>
              <a:chOff x="4406" y="1370"/>
              <a:chExt cx="230" cy="252"/>
            </a:xfrm>
          </p:grpSpPr>
          <p:sp>
            <p:nvSpPr>
              <p:cNvPr id="338136" name="Rectangle 216"/>
              <p:cNvSpPr>
                <a:spLocks noChangeArrowheads="1"/>
              </p:cNvSpPr>
              <p:nvPr/>
            </p:nvSpPr>
            <p:spPr bwMode="auto">
              <a:xfrm>
                <a:off x="4416" y="1370"/>
                <a:ext cx="202" cy="202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137" name="Text Box 217"/>
              <p:cNvSpPr txBox="1">
                <a:spLocks noChangeArrowheads="1"/>
              </p:cNvSpPr>
              <p:nvPr/>
            </p:nvSpPr>
            <p:spPr bwMode="auto">
              <a:xfrm>
                <a:off x="4406" y="1392"/>
                <a:ext cx="230" cy="23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>
                  <a:spcBef>
                    <a:spcPct val="50000"/>
                  </a:spcBef>
                </a:pPr>
                <a:r>
                  <a:rPr lang="en-US" sz="800" b="1">
                    <a:latin typeface="Book Antiqua" pitchFamily="18" charset="0"/>
                  </a:rPr>
                  <a:t>31</a:t>
                </a:r>
                <a:endParaRPr lang="bg-BG" sz="800" b="1">
                  <a:latin typeface="Book Antiqua" pitchFamily="18" charset="0"/>
                </a:endParaRPr>
              </a:p>
            </p:txBody>
          </p:sp>
        </p:grpSp>
        <p:grpSp>
          <p:nvGrpSpPr>
            <p:cNvPr id="338138" name="Group 218"/>
            <p:cNvGrpSpPr>
              <a:grpSpLocks/>
            </p:cNvGrpSpPr>
            <p:nvPr/>
          </p:nvGrpSpPr>
          <p:grpSpPr bwMode="auto">
            <a:xfrm>
              <a:off x="4646" y="1370"/>
              <a:ext cx="230" cy="252"/>
              <a:chOff x="4406" y="1370"/>
              <a:chExt cx="230" cy="252"/>
            </a:xfrm>
          </p:grpSpPr>
          <p:sp>
            <p:nvSpPr>
              <p:cNvPr id="338139" name="Rectangle 219"/>
              <p:cNvSpPr>
                <a:spLocks noChangeArrowheads="1"/>
              </p:cNvSpPr>
              <p:nvPr/>
            </p:nvSpPr>
            <p:spPr bwMode="auto">
              <a:xfrm>
                <a:off x="4416" y="1370"/>
                <a:ext cx="202" cy="202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140" name="Text Box 220"/>
              <p:cNvSpPr txBox="1">
                <a:spLocks noChangeArrowheads="1"/>
              </p:cNvSpPr>
              <p:nvPr/>
            </p:nvSpPr>
            <p:spPr bwMode="auto">
              <a:xfrm>
                <a:off x="4406" y="1392"/>
                <a:ext cx="230" cy="23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>
                  <a:spcBef>
                    <a:spcPct val="50000"/>
                  </a:spcBef>
                </a:pPr>
                <a:r>
                  <a:rPr lang="en-US" sz="800" b="1">
                    <a:latin typeface="Book Antiqua" pitchFamily="18" charset="0"/>
                  </a:rPr>
                  <a:t>53</a:t>
                </a:r>
                <a:endParaRPr lang="bg-BG" sz="800" b="1">
                  <a:latin typeface="Book Antiqua" pitchFamily="18" charset="0"/>
                </a:endParaRPr>
              </a:p>
            </p:txBody>
          </p:sp>
        </p:grpSp>
        <p:grpSp>
          <p:nvGrpSpPr>
            <p:cNvPr id="338141" name="Group 221"/>
            <p:cNvGrpSpPr>
              <a:grpSpLocks/>
            </p:cNvGrpSpPr>
            <p:nvPr/>
          </p:nvGrpSpPr>
          <p:grpSpPr bwMode="auto">
            <a:xfrm>
              <a:off x="4842" y="1370"/>
              <a:ext cx="230" cy="252"/>
              <a:chOff x="4406" y="1370"/>
              <a:chExt cx="230" cy="252"/>
            </a:xfrm>
          </p:grpSpPr>
          <p:sp>
            <p:nvSpPr>
              <p:cNvPr id="338142" name="Rectangle 222"/>
              <p:cNvSpPr>
                <a:spLocks noChangeArrowheads="1"/>
              </p:cNvSpPr>
              <p:nvPr/>
            </p:nvSpPr>
            <p:spPr bwMode="auto">
              <a:xfrm>
                <a:off x="4416" y="1370"/>
                <a:ext cx="202" cy="202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143" name="Text Box 223"/>
              <p:cNvSpPr txBox="1">
                <a:spLocks noChangeArrowheads="1"/>
              </p:cNvSpPr>
              <p:nvPr/>
            </p:nvSpPr>
            <p:spPr bwMode="auto">
              <a:xfrm>
                <a:off x="4406" y="1392"/>
                <a:ext cx="230" cy="23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>
                  <a:spcBef>
                    <a:spcPct val="50000"/>
                  </a:spcBef>
                </a:pPr>
                <a:r>
                  <a:rPr lang="en-US" sz="800" b="1">
                    <a:latin typeface="Book Antiqua" pitchFamily="18" charset="0"/>
                  </a:rPr>
                  <a:t>55</a:t>
                </a:r>
                <a:endParaRPr lang="bg-BG" sz="800" b="1">
                  <a:latin typeface="Book Antiqua" pitchFamily="18" charset="0"/>
                </a:endParaRPr>
              </a:p>
            </p:txBody>
          </p:sp>
        </p:grpSp>
        <p:grpSp>
          <p:nvGrpSpPr>
            <p:cNvPr id="338144" name="Group 224"/>
            <p:cNvGrpSpPr>
              <a:grpSpLocks/>
            </p:cNvGrpSpPr>
            <p:nvPr/>
          </p:nvGrpSpPr>
          <p:grpSpPr bwMode="auto">
            <a:xfrm>
              <a:off x="5040" y="1370"/>
              <a:ext cx="230" cy="252"/>
              <a:chOff x="4406" y="1370"/>
              <a:chExt cx="230" cy="252"/>
            </a:xfrm>
          </p:grpSpPr>
          <p:sp>
            <p:nvSpPr>
              <p:cNvPr id="338145" name="Rectangle 225"/>
              <p:cNvSpPr>
                <a:spLocks noChangeArrowheads="1"/>
              </p:cNvSpPr>
              <p:nvPr/>
            </p:nvSpPr>
            <p:spPr bwMode="auto">
              <a:xfrm>
                <a:off x="4416" y="1370"/>
                <a:ext cx="202" cy="202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146" name="Text Box 226"/>
              <p:cNvSpPr txBox="1">
                <a:spLocks noChangeArrowheads="1"/>
              </p:cNvSpPr>
              <p:nvPr/>
            </p:nvSpPr>
            <p:spPr bwMode="auto">
              <a:xfrm>
                <a:off x="4406" y="1392"/>
                <a:ext cx="230" cy="23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>
                  <a:spcBef>
                    <a:spcPct val="50000"/>
                  </a:spcBef>
                </a:pPr>
                <a:r>
                  <a:rPr lang="en-US" sz="800" b="1">
                    <a:latin typeface="Book Antiqua" pitchFamily="18" charset="0"/>
                  </a:rPr>
                  <a:t>61</a:t>
                </a:r>
                <a:endParaRPr lang="bg-BG" sz="800" b="1">
                  <a:latin typeface="Book Antiqua" pitchFamily="18" charset="0"/>
                </a:endParaRPr>
              </a:p>
            </p:txBody>
          </p:sp>
        </p:grpSp>
        <p:grpSp>
          <p:nvGrpSpPr>
            <p:cNvPr id="338147" name="Group 227"/>
            <p:cNvGrpSpPr>
              <a:grpSpLocks/>
            </p:cNvGrpSpPr>
            <p:nvPr/>
          </p:nvGrpSpPr>
          <p:grpSpPr bwMode="auto">
            <a:xfrm>
              <a:off x="5242" y="1370"/>
              <a:ext cx="230" cy="252"/>
              <a:chOff x="4406" y="1370"/>
              <a:chExt cx="230" cy="252"/>
            </a:xfrm>
          </p:grpSpPr>
          <p:sp>
            <p:nvSpPr>
              <p:cNvPr id="338148" name="Rectangle 228"/>
              <p:cNvSpPr>
                <a:spLocks noChangeArrowheads="1"/>
              </p:cNvSpPr>
              <p:nvPr/>
            </p:nvSpPr>
            <p:spPr bwMode="auto">
              <a:xfrm>
                <a:off x="4416" y="1370"/>
                <a:ext cx="202" cy="202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149" name="Text Box 229"/>
              <p:cNvSpPr txBox="1">
                <a:spLocks noChangeArrowheads="1"/>
              </p:cNvSpPr>
              <p:nvPr/>
            </p:nvSpPr>
            <p:spPr bwMode="auto">
              <a:xfrm>
                <a:off x="4406" y="1392"/>
                <a:ext cx="230" cy="23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>
                  <a:spcBef>
                    <a:spcPct val="50000"/>
                  </a:spcBef>
                </a:pPr>
                <a:r>
                  <a:rPr lang="en-US" sz="800" b="1">
                    <a:latin typeface="Book Antiqua" pitchFamily="18" charset="0"/>
                  </a:rPr>
                  <a:t>63</a:t>
                </a:r>
                <a:endParaRPr lang="bg-BG" sz="800" b="1">
                  <a:latin typeface="Book Antiqua" pitchFamily="18" charset="0"/>
                </a:endParaRPr>
              </a:p>
            </p:txBody>
          </p:sp>
        </p:grpSp>
      </p:grpSp>
      <p:sp>
        <p:nvSpPr>
          <p:cNvPr id="338150" name="Oval 230"/>
          <p:cNvSpPr>
            <a:spLocks noChangeArrowheads="1"/>
          </p:cNvSpPr>
          <p:nvPr/>
        </p:nvSpPr>
        <p:spPr bwMode="auto">
          <a:xfrm>
            <a:off x="7620000" y="1790700"/>
            <a:ext cx="109538" cy="109538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151" name="Oval 231"/>
          <p:cNvSpPr>
            <a:spLocks noChangeArrowheads="1"/>
          </p:cNvSpPr>
          <p:nvPr/>
        </p:nvSpPr>
        <p:spPr bwMode="auto">
          <a:xfrm>
            <a:off x="7486650" y="2200275"/>
            <a:ext cx="109538" cy="109538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152" name="Oval 232"/>
          <p:cNvSpPr>
            <a:spLocks noChangeArrowheads="1"/>
          </p:cNvSpPr>
          <p:nvPr/>
        </p:nvSpPr>
        <p:spPr bwMode="auto">
          <a:xfrm>
            <a:off x="7391400" y="2324100"/>
            <a:ext cx="109538" cy="109538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153" name="Oval 233"/>
          <p:cNvSpPr>
            <a:spLocks noChangeArrowheads="1"/>
          </p:cNvSpPr>
          <p:nvPr/>
        </p:nvSpPr>
        <p:spPr bwMode="auto">
          <a:xfrm>
            <a:off x="6934200" y="2324100"/>
            <a:ext cx="109538" cy="109538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154" name="Oval 234"/>
          <p:cNvSpPr>
            <a:spLocks noChangeArrowheads="1"/>
          </p:cNvSpPr>
          <p:nvPr/>
        </p:nvSpPr>
        <p:spPr bwMode="auto">
          <a:xfrm>
            <a:off x="7162800" y="2628900"/>
            <a:ext cx="109538" cy="109538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155" name="Oval 235"/>
          <p:cNvSpPr>
            <a:spLocks noChangeArrowheads="1"/>
          </p:cNvSpPr>
          <p:nvPr/>
        </p:nvSpPr>
        <p:spPr bwMode="auto">
          <a:xfrm>
            <a:off x="6858000" y="2857500"/>
            <a:ext cx="109538" cy="109538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156" name="Oval 236"/>
          <p:cNvSpPr>
            <a:spLocks noChangeArrowheads="1"/>
          </p:cNvSpPr>
          <p:nvPr/>
        </p:nvSpPr>
        <p:spPr bwMode="auto">
          <a:xfrm>
            <a:off x="7620000" y="3086100"/>
            <a:ext cx="109538" cy="109538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157" name="Oval 237"/>
          <p:cNvSpPr>
            <a:spLocks noChangeArrowheads="1"/>
          </p:cNvSpPr>
          <p:nvPr/>
        </p:nvSpPr>
        <p:spPr bwMode="auto">
          <a:xfrm>
            <a:off x="8001000" y="2552700"/>
            <a:ext cx="109538" cy="109538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158" name="Oval 238"/>
          <p:cNvSpPr>
            <a:spLocks noChangeArrowheads="1"/>
          </p:cNvSpPr>
          <p:nvPr/>
        </p:nvSpPr>
        <p:spPr bwMode="auto">
          <a:xfrm>
            <a:off x="8458200" y="2857500"/>
            <a:ext cx="109538" cy="109538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162" name="Rectangle 242" descr="Dark upward diagonal"/>
          <p:cNvSpPr>
            <a:spLocks noChangeArrowheads="1"/>
          </p:cNvSpPr>
          <p:nvPr/>
        </p:nvSpPr>
        <p:spPr bwMode="auto">
          <a:xfrm>
            <a:off x="5981700" y="3571875"/>
            <a:ext cx="1069975" cy="1066800"/>
          </a:xfrm>
          <a:prstGeom prst="rect">
            <a:avLst/>
          </a:prstGeom>
          <a:pattFill prst="dkUpDiag">
            <a:fgClr>
              <a:srgbClr val="99CCFF"/>
            </a:fgClr>
            <a:bgClr>
              <a:schemeClr val="bg1"/>
            </a:bgClr>
          </a:patt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163" name="Text Box 243"/>
          <p:cNvSpPr txBox="1">
            <a:spLocks noChangeArrowheads="1"/>
          </p:cNvSpPr>
          <p:nvPr/>
        </p:nvSpPr>
        <p:spPr bwMode="auto">
          <a:xfrm>
            <a:off x="5969000" y="3602038"/>
            <a:ext cx="300038" cy="3143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50000"/>
              </a:spcBef>
            </a:pPr>
            <a:endParaRPr lang="bg-BG" sz="800" b="1">
              <a:latin typeface="Book Antiqua" pitchFamily="18" charset="0"/>
            </a:endParaRPr>
          </a:p>
        </p:txBody>
      </p:sp>
      <p:sp>
        <p:nvSpPr>
          <p:cNvPr id="338166" name="Text Box 246"/>
          <p:cNvSpPr txBox="1">
            <a:spLocks noChangeArrowheads="1"/>
          </p:cNvSpPr>
          <p:nvPr/>
        </p:nvSpPr>
        <p:spPr bwMode="auto">
          <a:xfrm>
            <a:off x="6230938" y="3602038"/>
            <a:ext cx="300037" cy="3143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50000"/>
              </a:spcBef>
            </a:pPr>
            <a:endParaRPr lang="bg-BG" sz="800" b="1">
              <a:latin typeface="Book Antiqua" pitchFamily="18" charset="0"/>
            </a:endParaRPr>
          </a:p>
        </p:txBody>
      </p:sp>
      <p:sp>
        <p:nvSpPr>
          <p:cNvPr id="338169" name="Text Box 249"/>
          <p:cNvSpPr txBox="1">
            <a:spLocks noChangeArrowheads="1"/>
          </p:cNvSpPr>
          <p:nvPr/>
        </p:nvSpPr>
        <p:spPr bwMode="auto">
          <a:xfrm>
            <a:off x="6497638" y="3602038"/>
            <a:ext cx="300037" cy="3143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50000"/>
              </a:spcBef>
            </a:pPr>
            <a:endParaRPr lang="bg-BG" sz="800" b="1">
              <a:latin typeface="Book Antiqua" pitchFamily="18" charset="0"/>
            </a:endParaRPr>
          </a:p>
        </p:txBody>
      </p:sp>
      <p:sp>
        <p:nvSpPr>
          <p:cNvPr id="338360" name="Rectangle 440" descr="Dark upward diagonal"/>
          <p:cNvSpPr>
            <a:spLocks noChangeArrowheads="1"/>
          </p:cNvSpPr>
          <p:nvPr/>
        </p:nvSpPr>
        <p:spPr bwMode="auto">
          <a:xfrm>
            <a:off x="7735888" y="3627438"/>
            <a:ext cx="539750" cy="539750"/>
          </a:xfrm>
          <a:prstGeom prst="rect">
            <a:avLst/>
          </a:prstGeom>
          <a:pattFill prst="dkUpDiag">
            <a:fgClr>
              <a:srgbClr val="99CCFF"/>
            </a:fgClr>
            <a:bgClr>
              <a:schemeClr val="bg1"/>
            </a:bgClr>
          </a:patt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361" name="Text Box 441"/>
          <p:cNvSpPr txBox="1">
            <a:spLocks noChangeArrowheads="1"/>
          </p:cNvSpPr>
          <p:nvPr/>
        </p:nvSpPr>
        <p:spPr bwMode="auto">
          <a:xfrm>
            <a:off x="7723188" y="3644900"/>
            <a:ext cx="300037" cy="3143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50000"/>
              </a:spcBef>
            </a:pPr>
            <a:endParaRPr lang="bg-BG" sz="800" b="1">
              <a:latin typeface="Book Antiqua" pitchFamily="18" charset="0"/>
            </a:endParaRPr>
          </a:p>
        </p:txBody>
      </p:sp>
      <p:sp>
        <p:nvSpPr>
          <p:cNvPr id="338366" name="Rectangle 446" descr="Dark upward diagonal"/>
          <p:cNvSpPr>
            <a:spLocks noChangeArrowheads="1"/>
          </p:cNvSpPr>
          <p:nvPr/>
        </p:nvSpPr>
        <p:spPr bwMode="auto">
          <a:xfrm>
            <a:off x="8256588" y="3627438"/>
            <a:ext cx="538162" cy="539750"/>
          </a:xfrm>
          <a:prstGeom prst="rect">
            <a:avLst/>
          </a:prstGeom>
          <a:pattFill prst="dkUpDiag">
            <a:fgClr>
              <a:srgbClr val="99CCFF"/>
            </a:fgClr>
            <a:bgClr>
              <a:schemeClr val="bg1"/>
            </a:bgClr>
          </a:patt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372" name="Rectangle 452"/>
          <p:cNvSpPr>
            <a:spLocks noChangeArrowheads="1"/>
          </p:cNvSpPr>
          <p:nvPr/>
        </p:nvSpPr>
        <p:spPr bwMode="auto">
          <a:xfrm>
            <a:off x="7735888" y="4164013"/>
            <a:ext cx="263525" cy="276225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373" name="Rectangle 453" descr="Dark upward diagonal"/>
          <p:cNvSpPr>
            <a:spLocks noChangeArrowheads="1"/>
          </p:cNvSpPr>
          <p:nvPr/>
        </p:nvSpPr>
        <p:spPr bwMode="auto">
          <a:xfrm>
            <a:off x="7997825" y="4164013"/>
            <a:ext cx="263525" cy="276225"/>
          </a:xfrm>
          <a:prstGeom prst="rect">
            <a:avLst/>
          </a:prstGeom>
          <a:pattFill prst="dkUpDiag">
            <a:fgClr>
              <a:srgbClr val="99CCFF"/>
            </a:fgClr>
            <a:bgClr>
              <a:schemeClr val="bg1"/>
            </a:bgClr>
          </a:patt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374" name="Rectangle 454"/>
          <p:cNvSpPr>
            <a:spLocks noChangeArrowheads="1"/>
          </p:cNvSpPr>
          <p:nvPr/>
        </p:nvSpPr>
        <p:spPr bwMode="auto">
          <a:xfrm>
            <a:off x="8264525" y="4164013"/>
            <a:ext cx="263525" cy="276225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375" name="Rectangle 455"/>
          <p:cNvSpPr>
            <a:spLocks noChangeArrowheads="1"/>
          </p:cNvSpPr>
          <p:nvPr/>
        </p:nvSpPr>
        <p:spPr bwMode="auto">
          <a:xfrm>
            <a:off x="8531225" y="4164013"/>
            <a:ext cx="263525" cy="276225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376" name="Rectangle 456"/>
          <p:cNvSpPr>
            <a:spLocks noChangeArrowheads="1"/>
          </p:cNvSpPr>
          <p:nvPr/>
        </p:nvSpPr>
        <p:spPr bwMode="auto">
          <a:xfrm>
            <a:off x="7735888" y="4435475"/>
            <a:ext cx="263525" cy="276225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377" name="Rectangle 457"/>
          <p:cNvSpPr>
            <a:spLocks noChangeArrowheads="1"/>
          </p:cNvSpPr>
          <p:nvPr/>
        </p:nvSpPr>
        <p:spPr bwMode="auto">
          <a:xfrm>
            <a:off x="7997825" y="4435475"/>
            <a:ext cx="263525" cy="276225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378" name="Rectangle 458"/>
          <p:cNvSpPr>
            <a:spLocks noChangeArrowheads="1"/>
          </p:cNvSpPr>
          <p:nvPr/>
        </p:nvSpPr>
        <p:spPr bwMode="auto">
          <a:xfrm>
            <a:off x="8264525" y="4435475"/>
            <a:ext cx="263525" cy="276225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379" name="Rectangle 459"/>
          <p:cNvSpPr>
            <a:spLocks noChangeArrowheads="1"/>
          </p:cNvSpPr>
          <p:nvPr/>
        </p:nvSpPr>
        <p:spPr bwMode="auto">
          <a:xfrm>
            <a:off x="8531225" y="4435475"/>
            <a:ext cx="263525" cy="276225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400" name="Rectangle 480" descr="Small grid"/>
          <p:cNvSpPr>
            <a:spLocks noChangeArrowheads="1"/>
          </p:cNvSpPr>
          <p:nvPr/>
        </p:nvSpPr>
        <p:spPr bwMode="auto">
          <a:xfrm>
            <a:off x="6321425" y="3648075"/>
            <a:ext cx="304800" cy="533400"/>
          </a:xfrm>
          <a:prstGeom prst="rect">
            <a:avLst/>
          </a:prstGeom>
          <a:pattFill prst="smGrid">
            <a:fgClr>
              <a:srgbClr val="FFC1C1"/>
            </a:fgClr>
            <a:bgClr>
              <a:schemeClr val="bg1"/>
            </a:bgClr>
          </a:pattFill>
          <a:ln w="254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401" name="Text Box 481"/>
          <p:cNvSpPr txBox="1">
            <a:spLocks noChangeArrowheads="1"/>
          </p:cNvSpPr>
          <p:nvPr/>
        </p:nvSpPr>
        <p:spPr bwMode="auto">
          <a:xfrm>
            <a:off x="5892800" y="4619625"/>
            <a:ext cx="13462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800" i="1">
                <a:solidFill>
                  <a:schemeClr val="tx2"/>
                </a:solidFill>
                <a:latin typeface="Book Antiqua" pitchFamily="18" charset="0"/>
              </a:rPr>
              <a:t>Coding of R </a:t>
            </a:r>
            <a:br>
              <a:rPr lang="en-US" sz="1800" i="1">
                <a:solidFill>
                  <a:schemeClr val="tx2"/>
                </a:solidFill>
                <a:latin typeface="Book Antiqua" pitchFamily="18" charset="0"/>
              </a:rPr>
            </a:br>
            <a:r>
              <a:rPr lang="en-US" sz="1800" i="1">
                <a:solidFill>
                  <a:schemeClr val="tx2"/>
                </a:solidFill>
                <a:latin typeface="Book Antiqua" pitchFamily="18" charset="0"/>
              </a:rPr>
              <a:t>by one cell</a:t>
            </a:r>
            <a:endParaRPr lang="bg-BG" sz="1800" i="1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38402" name="Text Box 482"/>
          <p:cNvSpPr txBox="1">
            <a:spLocks noChangeArrowheads="1"/>
          </p:cNvSpPr>
          <p:nvPr/>
        </p:nvSpPr>
        <p:spPr bwMode="auto">
          <a:xfrm>
            <a:off x="5392738" y="3524250"/>
            <a:ext cx="3460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800">
                <a:solidFill>
                  <a:schemeClr val="tx2"/>
                </a:solidFill>
                <a:latin typeface="Book Antiqua" pitchFamily="18" charset="0"/>
              </a:rPr>
              <a:t>C</a:t>
            </a:r>
            <a:endParaRPr lang="bg-BG" sz="180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38403" name="Line 483"/>
          <p:cNvSpPr>
            <a:spLocks noChangeShapeType="1"/>
          </p:cNvSpPr>
          <p:nvPr/>
        </p:nvSpPr>
        <p:spPr bwMode="auto">
          <a:xfrm>
            <a:off x="5702300" y="3714750"/>
            <a:ext cx="381000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 type="triangle" w="lg" len="lg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8405" name="Rectangle 485" descr="Dark upward diagonal"/>
          <p:cNvSpPr>
            <a:spLocks noChangeArrowheads="1"/>
          </p:cNvSpPr>
          <p:nvPr/>
        </p:nvSpPr>
        <p:spPr bwMode="auto">
          <a:xfrm>
            <a:off x="8256588" y="4165600"/>
            <a:ext cx="136525" cy="138113"/>
          </a:xfrm>
          <a:prstGeom prst="rect">
            <a:avLst/>
          </a:prstGeom>
          <a:pattFill prst="dkUpDiag">
            <a:fgClr>
              <a:srgbClr val="99CCFF"/>
            </a:fgClr>
            <a:bgClr>
              <a:schemeClr val="bg1"/>
            </a:bgClr>
          </a:patt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406" name="Rectangle 486"/>
          <p:cNvSpPr>
            <a:spLocks noChangeArrowheads="1"/>
          </p:cNvSpPr>
          <p:nvPr/>
        </p:nvSpPr>
        <p:spPr bwMode="auto">
          <a:xfrm>
            <a:off x="8394700" y="4165600"/>
            <a:ext cx="136525" cy="138113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407" name="Rectangle 487"/>
          <p:cNvSpPr>
            <a:spLocks noChangeArrowheads="1"/>
          </p:cNvSpPr>
          <p:nvPr/>
        </p:nvSpPr>
        <p:spPr bwMode="auto">
          <a:xfrm>
            <a:off x="8256588" y="4302125"/>
            <a:ext cx="136525" cy="138113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408" name="Rectangle 488"/>
          <p:cNvSpPr>
            <a:spLocks noChangeArrowheads="1"/>
          </p:cNvSpPr>
          <p:nvPr/>
        </p:nvSpPr>
        <p:spPr bwMode="auto">
          <a:xfrm>
            <a:off x="8394700" y="4302125"/>
            <a:ext cx="136525" cy="138113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410" name="Rectangle 490" descr="Small grid"/>
          <p:cNvSpPr>
            <a:spLocks noChangeArrowheads="1"/>
          </p:cNvSpPr>
          <p:nvPr/>
        </p:nvSpPr>
        <p:spPr bwMode="auto">
          <a:xfrm>
            <a:off x="8040688" y="3702050"/>
            <a:ext cx="304800" cy="533400"/>
          </a:xfrm>
          <a:prstGeom prst="rect">
            <a:avLst/>
          </a:prstGeom>
          <a:pattFill prst="smGrid">
            <a:fgClr>
              <a:srgbClr val="FFC1C1"/>
            </a:fgClr>
            <a:bgClr>
              <a:schemeClr val="bg1"/>
            </a:bgClr>
          </a:pattFill>
          <a:ln w="254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411" name="Text Box 491"/>
          <p:cNvSpPr txBox="1">
            <a:spLocks noChangeArrowheads="1"/>
          </p:cNvSpPr>
          <p:nvPr/>
        </p:nvSpPr>
        <p:spPr bwMode="auto">
          <a:xfrm>
            <a:off x="7543800" y="4711700"/>
            <a:ext cx="155257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800" i="1">
                <a:solidFill>
                  <a:schemeClr val="tx2"/>
                </a:solidFill>
                <a:latin typeface="Book Antiqua" pitchFamily="18" charset="0"/>
              </a:rPr>
              <a:t>Coding of R </a:t>
            </a:r>
            <a:br>
              <a:rPr lang="en-US" sz="1800" i="1">
                <a:solidFill>
                  <a:schemeClr val="tx2"/>
                </a:solidFill>
                <a:latin typeface="Book Antiqua" pitchFamily="18" charset="0"/>
              </a:rPr>
            </a:br>
            <a:r>
              <a:rPr lang="en-US" sz="1800" i="1">
                <a:solidFill>
                  <a:schemeClr val="tx2"/>
                </a:solidFill>
                <a:latin typeface="Book Antiqua" pitchFamily="18" charset="0"/>
              </a:rPr>
              <a:t>by several cells</a:t>
            </a:r>
            <a:endParaRPr lang="bg-BG" sz="1800" i="1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38412" name="Text Box 492"/>
          <p:cNvSpPr txBox="1">
            <a:spLocks noChangeArrowheads="1"/>
          </p:cNvSpPr>
          <p:nvPr/>
        </p:nvSpPr>
        <p:spPr bwMode="auto">
          <a:xfrm>
            <a:off x="7200900" y="3524250"/>
            <a:ext cx="4222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800">
                <a:solidFill>
                  <a:schemeClr val="tx2"/>
                </a:solidFill>
                <a:latin typeface="Book Antiqua" pitchFamily="18" charset="0"/>
              </a:rPr>
              <a:t>C</a:t>
            </a:r>
            <a:r>
              <a:rPr lang="en-US" sz="1800" baseline="-25000">
                <a:solidFill>
                  <a:schemeClr val="tx2"/>
                </a:solidFill>
                <a:latin typeface="Book Antiqua" pitchFamily="18" charset="0"/>
              </a:rPr>
              <a:t>1</a:t>
            </a:r>
            <a:endParaRPr lang="bg-BG" sz="1800" baseline="-2500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38413" name="Line 493"/>
          <p:cNvSpPr>
            <a:spLocks noChangeShapeType="1"/>
          </p:cNvSpPr>
          <p:nvPr/>
        </p:nvSpPr>
        <p:spPr bwMode="auto">
          <a:xfrm>
            <a:off x="7548563" y="3714750"/>
            <a:ext cx="381000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 type="triangle" w="lg" len="lg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8414" name="Text Box 494"/>
          <p:cNvSpPr txBox="1">
            <a:spLocks noChangeArrowheads="1"/>
          </p:cNvSpPr>
          <p:nvPr/>
        </p:nvSpPr>
        <p:spPr bwMode="auto">
          <a:xfrm>
            <a:off x="8105775" y="3276600"/>
            <a:ext cx="4222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800">
                <a:solidFill>
                  <a:schemeClr val="tx2"/>
                </a:solidFill>
                <a:latin typeface="Book Antiqua" pitchFamily="18" charset="0"/>
              </a:rPr>
              <a:t>C</a:t>
            </a:r>
            <a:r>
              <a:rPr lang="en-US" sz="1800" baseline="-25000">
                <a:solidFill>
                  <a:schemeClr val="tx2"/>
                </a:solidFill>
                <a:latin typeface="Book Antiqua" pitchFamily="18" charset="0"/>
              </a:rPr>
              <a:t>2</a:t>
            </a:r>
            <a:endParaRPr lang="bg-BG" sz="1800" baseline="-2500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38415" name="Line 495"/>
          <p:cNvSpPr>
            <a:spLocks noChangeShapeType="1"/>
          </p:cNvSpPr>
          <p:nvPr/>
        </p:nvSpPr>
        <p:spPr bwMode="auto">
          <a:xfrm>
            <a:off x="8458200" y="3524250"/>
            <a:ext cx="76200" cy="30480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 type="triangle" w="lg" len="lg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8416" name="Text Box 496"/>
          <p:cNvSpPr txBox="1">
            <a:spLocks noChangeArrowheads="1"/>
          </p:cNvSpPr>
          <p:nvPr/>
        </p:nvSpPr>
        <p:spPr bwMode="auto">
          <a:xfrm>
            <a:off x="8756650" y="3995738"/>
            <a:ext cx="4222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800">
                <a:solidFill>
                  <a:schemeClr val="tx2"/>
                </a:solidFill>
                <a:latin typeface="Book Antiqua" pitchFamily="18" charset="0"/>
              </a:rPr>
              <a:t>C</a:t>
            </a:r>
            <a:r>
              <a:rPr lang="en-US" sz="1800" baseline="-25000">
                <a:solidFill>
                  <a:schemeClr val="tx2"/>
                </a:solidFill>
                <a:latin typeface="Book Antiqua" pitchFamily="18" charset="0"/>
              </a:rPr>
              <a:t>3</a:t>
            </a:r>
            <a:endParaRPr lang="bg-BG" sz="1800" baseline="-2500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38417" name="Line 497"/>
          <p:cNvSpPr>
            <a:spLocks noChangeShapeType="1"/>
          </p:cNvSpPr>
          <p:nvPr/>
        </p:nvSpPr>
        <p:spPr bwMode="auto">
          <a:xfrm flipH="1">
            <a:off x="8382000" y="4197350"/>
            <a:ext cx="457200" cy="6985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 type="triangle" w="lg" len="lg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8420" name="Text Box 500"/>
          <p:cNvSpPr txBox="1">
            <a:spLocks noChangeArrowheads="1"/>
          </p:cNvSpPr>
          <p:nvPr/>
        </p:nvSpPr>
        <p:spPr bwMode="auto">
          <a:xfrm>
            <a:off x="7348538" y="4133850"/>
            <a:ext cx="4222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800">
                <a:solidFill>
                  <a:schemeClr val="tx2"/>
                </a:solidFill>
                <a:latin typeface="Book Antiqua" pitchFamily="18" charset="0"/>
              </a:rPr>
              <a:t>C</a:t>
            </a:r>
            <a:r>
              <a:rPr lang="en-US" sz="1800" baseline="-25000">
                <a:solidFill>
                  <a:schemeClr val="tx2"/>
                </a:solidFill>
                <a:latin typeface="Book Antiqua" pitchFamily="18" charset="0"/>
              </a:rPr>
              <a:t>4</a:t>
            </a:r>
            <a:endParaRPr lang="bg-BG" sz="1800" baseline="-2500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38421" name="Line 501"/>
          <p:cNvSpPr>
            <a:spLocks noChangeShapeType="1"/>
          </p:cNvSpPr>
          <p:nvPr/>
        </p:nvSpPr>
        <p:spPr bwMode="auto">
          <a:xfrm>
            <a:off x="7696200" y="4324350"/>
            <a:ext cx="381000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 type="triangle" w="lg" len="lg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8422" name="Text Box 502"/>
          <p:cNvSpPr txBox="1">
            <a:spLocks noChangeArrowheads="1"/>
          </p:cNvSpPr>
          <p:nvPr/>
        </p:nvSpPr>
        <p:spPr bwMode="auto">
          <a:xfrm>
            <a:off x="6248400" y="3600450"/>
            <a:ext cx="349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800" b="1">
                <a:solidFill>
                  <a:schemeClr val="folHlink"/>
                </a:solidFill>
                <a:latin typeface="Book Antiqua" pitchFamily="18" charset="0"/>
              </a:rPr>
              <a:t>R</a:t>
            </a:r>
            <a:endParaRPr lang="bg-BG" sz="1800" b="1">
              <a:solidFill>
                <a:schemeClr val="folHlink"/>
              </a:solidFill>
              <a:latin typeface="Book Antiqua" pitchFamily="18" charset="0"/>
            </a:endParaRPr>
          </a:p>
        </p:txBody>
      </p:sp>
      <p:sp>
        <p:nvSpPr>
          <p:cNvPr id="338423" name="Text Box 503"/>
          <p:cNvSpPr txBox="1">
            <a:spLocks noChangeArrowheads="1"/>
          </p:cNvSpPr>
          <p:nvPr/>
        </p:nvSpPr>
        <p:spPr bwMode="auto">
          <a:xfrm>
            <a:off x="7981950" y="3651250"/>
            <a:ext cx="349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800" b="1">
                <a:solidFill>
                  <a:schemeClr val="folHlink"/>
                </a:solidFill>
                <a:latin typeface="Book Antiqua" pitchFamily="18" charset="0"/>
              </a:rPr>
              <a:t>R</a:t>
            </a:r>
            <a:endParaRPr lang="bg-BG" sz="1800" b="1">
              <a:solidFill>
                <a:schemeClr val="folHlink"/>
              </a:solidFill>
              <a:latin typeface="Book Antiqua" pitchFamily="18" charset="0"/>
            </a:endParaRPr>
          </a:p>
        </p:txBody>
      </p:sp>
      <p:sp>
        <p:nvSpPr>
          <p:cNvPr id="338424" name="Rectangle 504" descr="Dark upward diagonal"/>
          <p:cNvSpPr>
            <a:spLocks noChangeArrowheads="1"/>
          </p:cNvSpPr>
          <p:nvPr/>
        </p:nvSpPr>
        <p:spPr bwMode="auto">
          <a:xfrm>
            <a:off x="5799138" y="5278438"/>
            <a:ext cx="539750" cy="539750"/>
          </a:xfrm>
          <a:prstGeom prst="rect">
            <a:avLst/>
          </a:prstGeom>
          <a:pattFill prst="dkUpDiag">
            <a:fgClr>
              <a:srgbClr val="99CCFF"/>
            </a:fgClr>
            <a:bgClr>
              <a:schemeClr val="bg1"/>
            </a:bgClr>
          </a:patt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425" name="Text Box 505"/>
          <p:cNvSpPr txBox="1">
            <a:spLocks noChangeArrowheads="1"/>
          </p:cNvSpPr>
          <p:nvPr/>
        </p:nvSpPr>
        <p:spPr bwMode="auto">
          <a:xfrm>
            <a:off x="5786438" y="5295900"/>
            <a:ext cx="300037" cy="3143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50000"/>
              </a:spcBef>
            </a:pPr>
            <a:endParaRPr lang="bg-BG" sz="800" b="1">
              <a:latin typeface="Book Antiqua" pitchFamily="18" charset="0"/>
            </a:endParaRPr>
          </a:p>
        </p:txBody>
      </p:sp>
      <p:sp>
        <p:nvSpPr>
          <p:cNvPr id="338426" name="Rectangle 506" descr="Dark upward diagonal"/>
          <p:cNvSpPr>
            <a:spLocks noChangeArrowheads="1"/>
          </p:cNvSpPr>
          <p:nvPr/>
        </p:nvSpPr>
        <p:spPr bwMode="auto">
          <a:xfrm>
            <a:off x="6319838" y="5278438"/>
            <a:ext cx="538162" cy="539750"/>
          </a:xfrm>
          <a:prstGeom prst="rect">
            <a:avLst/>
          </a:prstGeom>
          <a:pattFill prst="dkUpDiag">
            <a:fgClr>
              <a:srgbClr val="99CCFF"/>
            </a:fgClr>
            <a:bgClr>
              <a:schemeClr val="bg1"/>
            </a:bgClr>
          </a:patt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427" name="Rectangle 507"/>
          <p:cNvSpPr>
            <a:spLocks noChangeArrowheads="1"/>
          </p:cNvSpPr>
          <p:nvPr/>
        </p:nvSpPr>
        <p:spPr bwMode="auto">
          <a:xfrm>
            <a:off x="5799138" y="5815013"/>
            <a:ext cx="263525" cy="276225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428" name="Rectangle 508" descr="Dark upward diagonal"/>
          <p:cNvSpPr>
            <a:spLocks noChangeArrowheads="1"/>
          </p:cNvSpPr>
          <p:nvPr/>
        </p:nvSpPr>
        <p:spPr bwMode="auto">
          <a:xfrm>
            <a:off x="6061075" y="5815013"/>
            <a:ext cx="263525" cy="276225"/>
          </a:xfrm>
          <a:prstGeom prst="rect">
            <a:avLst/>
          </a:prstGeom>
          <a:pattFill prst="dkUpDiag">
            <a:fgClr>
              <a:srgbClr val="99CCFF"/>
            </a:fgClr>
            <a:bgClr>
              <a:schemeClr val="bg1"/>
            </a:bgClr>
          </a:patt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429" name="Rectangle 509"/>
          <p:cNvSpPr>
            <a:spLocks noChangeArrowheads="1"/>
          </p:cNvSpPr>
          <p:nvPr/>
        </p:nvSpPr>
        <p:spPr bwMode="auto">
          <a:xfrm>
            <a:off x="6327775" y="5815013"/>
            <a:ext cx="263525" cy="276225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430" name="Rectangle 510"/>
          <p:cNvSpPr>
            <a:spLocks noChangeArrowheads="1"/>
          </p:cNvSpPr>
          <p:nvPr/>
        </p:nvSpPr>
        <p:spPr bwMode="auto">
          <a:xfrm>
            <a:off x="6594475" y="5815013"/>
            <a:ext cx="263525" cy="276225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431" name="Rectangle 511"/>
          <p:cNvSpPr>
            <a:spLocks noChangeArrowheads="1"/>
          </p:cNvSpPr>
          <p:nvPr/>
        </p:nvSpPr>
        <p:spPr bwMode="auto">
          <a:xfrm>
            <a:off x="5799138" y="6086475"/>
            <a:ext cx="263525" cy="276225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432" name="Rectangle 512"/>
          <p:cNvSpPr>
            <a:spLocks noChangeArrowheads="1"/>
          </p:cNvSpPr>
          <p:nvPr/>
        </p:nvSpPr>
        <p:spPr bwMode="auto">
          <a:xfrm>
            <a:off x="6061075" y="6086475"/>
            <a:ext cx="263525" cy="276225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433" name="Rectangle 513"/>
          <p:cNvSpPr>
            <a:spLocks noChangeArrowheads="1"/>
          </p:cNvSpPr>
          <p:nvPr/>
        </p:nvSpPr>
        <p:spPr bwMode="auto">
          <a:xfrm>
            <a:off x="6327775" y="6086475"/>
            <a:ext cx="263525" cy="276225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434" name="Rectangle 514"/>
          <p:cNvSpPr>
            <a:spLocks noChangeArrowheads="1"/>
          </p:cNvSpPr>
          <p:nvPr/>
        </p:nvSpPr>
        <p:spPr bwMode="auto">
          <a:xfrm>
            <a:off x="6594475" y="6086475"/>
            <a:ext cx="263525" cy="276225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435" name="Rectangle 515" descr="Dark upward diagonal"/>
          <p:cNvSpPr>
            <a:spLocks noChangeArrowheads="1"/>
          </p:cNvSpPr>
          <p:nvPr/>
        </p:nvSpPr>
        <p:spPr bwMode="auto">
          <a:xfrm>
            <a:off x="6319838" y="5816600"/>
            <a:ext cx="136525" cy="138113"/>
          </a:xfrm>
          <a:prstGeom prst="rect">
            <a:avLst/>
          </a:prstGeom>
          <a:pattFill prst="dkUpDiag">
            <a:fgClr>
              <a:srgbClr val="99CCFF"/>
            </a:fgClr>
            <a:bgClr>
              <a:schemeClr val="bg1"/>
            </a:bgClr>
          </a:patt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436" name="Rectangle 516"/>
          <p:cNvSpPr>
            <a:spLocks noChangeArrowheads="1"/>
          </p:cNvSpPr>
          <p:nvPr/>
        </p:nvSpPr>
        <p:spPr bwMode="auto">
          <a:xfrm>
            <a:off x="6457950" y="5816600"/>
            <a:ext cx="136525" cy="138113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437" name="Rectangle 517"/>
          <p:cNvSpPr>
            <a:spLocks noChangeArrowheads="1"/>
          </p:cNvSpPr>
          <p:nvPr/>
        </p:nvSpPr>
        <p:spPr bwMode="auto">
          <a:xfrm>
            <a:off x="6319838" y="5953125"/>
            <a:ext cx="136525" cy="138113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438" name="Rectangle 518"/>
          <p:cNvSpPr>
            <a:spLocks noChangeArrowheads="1"/>
          </p:cNvSpPr>
          <p:nvPr/>
        </p:nvSpPr>
        <p:spPr bwMode="auto">
          <a:xfrm>
            <a:off x="6457950" y="5953125"/>
            <a:ext cx="136525" cy="138113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439" name="Rectangle 519" descr="Small grid"/>
          <p:cNvSpPr>
            <a:spLocks noChangeArrowheads="1"/>
          </p:cNvSpPr>
          <p:nvPr/>
        </p:nvSpPr>
        <p:spPr bwMode="auto">
          <a:xfrm>
            <a:off x="6103938" y="5353050"/>
            <a:ext cx="304800" cy="533400"/>
          </a:xfrm>
          <a:prstGeom prst="rect">
            <a:avLst/>
          </a:prstGeom>
          <a:pattFill prst="smGrid">
            <a:fgClr>
              <a:srgbClr val="FFC1C1"/>
            </a:fgClr>
            <a:bgClr>
              <a:schemeClr val="bg1"/>
            </a:bgClr>
          </a:pattFill>
          <a:ln w="254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443" name="Text Box 523"/>
          <p:cNvSpPr txBox="1">
            <a:spLocks noChangeArrowheads="1"/>
          </p:cNvSpPr>
          <p:nvPr/>
        </p:nvSpPr>
        <p:spPr bwMode="auto">
          <a:xfrm>
            <a:off x="6045200" y="5302250"/>
            <a:ext cx="349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800" b="1">
                <a:solidFill>
                  <a:schemeClr val="folHlink"/>
                </a:solidFill>
                <a:latin typeface="Book Antiqua" pitchFamily="18" charset="0"/>
              </a:rPr>
              <a:t>R</a:t>
            </a:r>
            <a:endParaRPr lang="bg-BG" sz="1800" b="1">
              <a:solidFill>
                <a:schemeClr val="folHlink"/>
              </a:solidFill>
              <a:latin typeface="Book Antiqua" pitchFamily="18" charset="0"/>
            </a:endParaRPr>
          </a:p>
        </p:txBody>
      </p:sp>
      <p:sp>
        <p:nvSpPr>
          <p:cNvPr id="338444" name="Text Box 524"/>
          <p:cNvSpPr txBox="1">
            <a:spLocks noChangeArrowheads="1"/>
          </p:cNvSpPr>
          <p:nvPr/>
        </p:nvSpPr>
        <p:spPr bwMode="auto">
          <a:xfrm>
            <a:off x="5181600" y="6302375"/>
            <a:ext cx="23749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800" i="1" dirty="0">
                <a:solidFill>
                  <a:schemeClr val="tx2"/>
                </a:solidFill>
                <a:latin typeface="Book Antiqua" pitchFamily="18" charset="0"/>
              </a:rPr>
              <a:t>Query returns the same</a:t>
            </a:r>
            <a:br>
              <a:rPr lang="en-US" sz="1800" i="1" dirty="0">
                <a:solidFill>
                  <a:schemeClr val="tx2"/>
                </a:solidFill>
                <a:latin typeface="Book Antiqua" pitchFamily="18" charset="0"/>
              </a:rPr>
            </a:br>
            <a:r>
              <a:rPr lang="en-US" sz="1800" i="1" dirty="0">
                <a:solidFill>
                  <a:schemeClr val="tx2"/>
                </a:solidFill>
                <a:latin typeface="Book Antiqua" pitchFamily="18" charset="0"/>
              </a:rPr>
              <a:t>answer several times</a:t>
            </a:r>
            <a:endParaRPr lang="bg-BG" sz="1800" i="1" dirty="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38445" name="Rectangle 525"/>
          <p:cNvSpPr>
            <a:spLocks noChangeArrowheads="1"/>
          </p:cNvSpPr>
          <p:nvPr/>
        </p:nvSpPr>
        <p:spPr bwMode="auto">
          <a:xfrm>
            <a:off x="6248400" y="5638800"/>
            <a:ext cx="457200" cy="609600"/>
          </a:xfrm>
          <a:prstGeom prst="rect">
            <a:avLst/>
          </a:prstGeom>
          <a:solidFill>
            <a:srgbClr val="008000">
              <a:alpha val="50000"/>
            </a:srgbClr>
          </a:solidFill>
          <a:ln w="19050">
            <a:solidFill>
              <a:srgbClr val="008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446" name="Text Box 526"/>
          <p:cNvSpPr txBox="1">
            <a:spLocks noChangeArrowheads="1"/>
          </p:cNvSpPr>
          <p:nvPr/>
        </p:nvSpPr>
        <p:spPr bwMode="auto">
          <a:xfrm>
            <a:off x="7772400" y="5791200"/>
            <a:ext cx="9715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800" i="1">
                <a:solidFill>
                  <a:schemeClr val="tx2"/>
                </a:solidFill>
                <a:latin typeface="Book Antiqua" pitchFamily="18" charset="0"/>
              </a:rPr>
              <a:t>Query</a:t>
            </a:r>
            <a:br>
              <a:rPr lang="en-US" sz="1800" i="1">
                <a:solidFill>
                  <a:schemeClr val="tx2"/>
                </a:solidFill>
                <a:latin typeface="Book Antiqua" pitchFamily="18" charset="0"/>
              </a:rPr>
            </a:br>
            <a:r>
              <a:rPr lang="en-US" sz="1800" i="1">
                <a:solidFill>
                  <a:schemeClr val="tx2"/>
                </a:solidFill>
                <a:latin typeface="Book Antiqua" pitchFamily="18" charset="0"/>
              </a:rPr>
              <a:t>Window</a:t>
            </a:r>
            <a:endParaRPr lang="bg-BG" sz="1800" i="1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38447" name="Line 527"/>
          <p:cNvSpPr>
            <a:spLocks noChangeShapeType="1"/>
          </p:cNvSpPr>
          <p:nvPr/>
        </p:nvSpPr>
        <p:spPr bwMode="auto">
          <a:xfrm flipH="1" flipV="1">
            <a:off x="6705600" y="6019800"/>
            <a:ext cx="1143000" cy="7620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 type="triangle" w="lg" len="lg"/>
          </a:ln>
          <a:effectLst/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946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609600" y="533400"/>
            <a:ext cx="8534400" cy="762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Z-Order – Mapping to a B</a:t>
            </a:r>
            <a:r>
              <a:rPr lang="en-US" baseline="30000"/>
              <a:t>+</a:t>
            </a:r>
            <a:r>
              <a:rPr lang="en-US"/>
              <a:t>-Tree</a:t>
            </a:r>
            <a:endParaRPr lang="bg-BG"/>
          </a:p>
        </p:txBody>
      </p:sp>
      <p:sp>
        <p:nvSpPr>
          <p:cNvPr id="33894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9600" y="1295400"/>
            <a:ext cx="8839200" cy="5181600"/>
          </a:xfrm>
          <a:noFill/>
          <a:ln/>
        </p:spPr>
        <p:txBody>
          <a:bodyPr/>
          <a:lstStyle/>
          <a:p>
            <a:pPr marL="228600" indent="-228600">
              <a:buFont typeface="Wingdings" pitchFamily="2" charset="2"/>
              <a:buChar char="n"/>
            </a:pPr>
            <a:r>
              <a:rPr lang="en-US" sz="2800"/>
              <a:t> </a:t>
            </a:r>
            <a:r>
              <a:rPr lang="bg-BG" sz="2800" i="1" u="sng"/>
              <a:t>Linear </a:t>
            </a:r>
            <a:r>
              <a:rPr lang="en-US" sz="2800" i="1" u="sng"/>
              <a:t>o</a:t>
            </a:r>
            <a:r>
              <a:rPr lang="bg-BG" sz="2800" i="1" u="sng"/>
              <a:t>rder</a:t>
            </a:r>
            <a:r>
              <a:rPr lang="bg-BG" sz="2800"/>
              <a:t> for Z-values to store them in a B+-</a:t>
            </a:r>
            <a:r>
              <a:rPr lang="en-US" sz="2800"/>
              <a:t>t</a:t>
            </a:r>
            <a:r>
              <a:rPr lang="bg-BG" sz="2800"/>
              <a:t>ree:</a:t>
            </a:r>
          </a:p>
          <a:p>
            <a:pPr marL="228600" indent="-228600"/>
            <a:r>
              <a:rPr lang="bg-BG" sz="2800"/>
              <a:t>Let (</a:t>
            </a:r>
            <a:r>
              <a:rPr lang="bg-BG" sz="2800" i="1"/>
              <a:t>c</a:t>
            </a:r>
            <a:r>
              <a:rPr lang="bg-BG" sz="2800" baseline="-25000"/>
              <a:t>1</a:t>
            </a:r>
            <a:r>
              <a:rPr lang="bg-BG" sz="2800"/>
              <a:t>, </a:t>
            </a:r>
            <a:r>
              <a:rPr lang="bg-BG" sz="2800" i="1"/>
              <a:t>l</a:t>
            </a:r>
            <a:r>
              <a:rPr lang="bg-BG" sz="2800" baseline="-25000"/>
              <a:t>1</a:t>
            </a:r>
            <a:r>
              <a:rPr lang="bg-BG" sz="2800"/>
              <a:t>) and (</a:t>
            </a:r>
            <a:r>
              <a:rPr lang="bg-BG" sz="2800" i="1"/>
              <a:t>c</a:t>
            </a:r>
            <a:r>
              <a:rPr lang="bg-BG" sz="2800" baseline="-25000"/>
              <a:t>2</a:t>
            </a:r>
            <a:r>
              <a:rPr lang="bg-BG" sz="2800"/>
              <a:t>, </a:t>
            </a:r>
            <a:r>
              <a:rPr lang="bg-BG" sz="2800" i="1"/>
              <a:t>l</a:t>
            </a:r>
            <a:r>
              <a:rPr lang="bg-BG" sz="2800" baseline="-25000"/>
              <a:t>2</a:t>
            </a:r>
            <a:r>
              <a:rPr lang="bg-BG" sz="2800"/>
              <a:t>) be two Z-Values and let </a:t>
            </a:r>
            <a:br>
              <a:rPr lang="en-US" sz="2800"/>
            </a:br>
            <a:r>
              <a:rPr lang="bg-BG" sz="2800" i="1"/>
              <a:t>l </a:t>
            </a:r>
            <a:r>
              <a:rPr lang="bg-BG" sz="2800"/>
              <a:t>= min{</a:t>
            </a:r>
            <a:r>
              <a:rPr lang="bg-BG" sz="2800" i="1"/>
              <a:t>l</a:t>
            </a:r>
            <a:r>
              <a:rPr lang="bg-BG" sz="2800" baseline="-25000"/>
              <a:t>1</a:t>
            </a:r>
            <a:r>
              <a:rPr lang="bg-BG" sz="2800"/>
              <a:t>, </a:t>
            </a:r>
            <a:r>
              <a:rPr lang="bg-BG" sz="2800" i="1"/>
              <a:t>l</a:t>
            </a:r>
            <a:r>
              <a:rPr lang="bg-BG" sz="2800" baseline="-25000"/>
              <a:t>2</a:t>
            </a:r>
            <a:r>
              <a:rPr lang="bg-BG" sz="2800"/>
              <a:t>}.</a:t>
            </a:r>
          </a:p>
          <a:p>
            <a:pPr marL="228600" indent="-228600"/>
            <a:r>
              <a:rPr lang="bg-BG" sz="2800"/>
              <a:t>The order relation ≤</a:t>
            </a:r>
            <a:r>
              <a:rPr lang="en-US" sz="2800" baseline="-25000"/>
              <a:t>Z</a:t>
            </a:r>
            <a:r>
              <a:rPr lang="bg-BG" sz="2800"/>
              <a:t> (that defines a linear order on </a:t>
            </a:r>
            <a:br>
              <a:rPr lang="en-US" sz="2800"/>
            </a:br>
            <a:r>
              <a:rPr lang="bg-BG" sz="2800"/>
              <a:t>Z-values)</a:t>
            </a:r>
            <a:r>
              <a:rPr lang="en-US" sz="2800"/>
              <a:t> </a:t>
            </a:r>
            <a:r>
              <a:rPr lang="bg-BG" sz="2800"/>
              <a:t>is then defined by</a:t>
            </a:r>
            <a:r>
              <a:rPr lang="en-US" sz="2800"/>
              <a:t>:</a:t>
            </a:r>
            <a:endParaRPr lang="bg-BG" sz="2800"/>
          </a:p>
          <a:p>
            <a:pPr marL="228600" indent="-228600" algn="ctr"/>
            <a:r>
              <a:rPr lang="bg-BG" sz="2800"/>
              <a:t>(</a:t>
            </a:r>
            <a:r>
              <a:rPr lang="bg-BG" sz="2800" i="1"/>
              <a:t>c</a:t>
            </a:r>
            <a:r>
              <a:rPr lang="bg-BG" sz="2800" baseline="-25000"/>
              <a:t>1</a:t>
            </a:r>
            <a:r>
              <a:rPr lang="bg-BG" sz="2800"/>
              <a:t>, </a:t>
            </a:r>
            <a:r>
              <a:rPr lang="bg-BG" sz="2800" i="1"/>
              <a:t>l</a:t>
            </a:r>
            <a:r>
              <a:rPr lang="bg-BG" sz="2800" baseline="-25000"/>
              <a:t>1</a:t>
            </a:r>
            <a:r>
              <a:rPr lang="bg-BG" sz="2800"/>
              <a:t>) ≤</a:t>
            </a:r>
            <a:r>
              <a:rPr lang="en-US" sz="2800" baseline="-25000"/>
              <a:t>Z </a:t>
            </a:r>
            <a:r>
              <a:rPr lang="bg-BG" sz="2800"/>
              <a:t>(</a:t>
            </a:r>
            <a:r>
              <a:rPr lang="bg-BG" sz="2800" i="1"/>
              <a:t>c</a:t>
            </a:r>
            <a:r>
              <a:rPr lang="bg-BG" sz="2800" baseline="-25000"/>
              <a:t>2</a:t>
            </a:r>
            <a:r>
              <a:rPr lang="bg-BG" sz="2800"/>
              <a:t>, </a:t>
            </a:r>
            <a:r>
              <a:rPr lang="bg-BG" sz="2800" i="1"/>
              <a:t>l</a:t>
            </a:r>
            <a:r>
              <a:rPr lang="bg-BG" sz="2800" baseline="-25000"/>
              <a:t>2</a:t>
            </a:r>
            <a:r>
              <a:rPr lang="bg-BG" sz="2800"/>
              <a:t>) iff (</a:t>
            </a:r>
            <a:r>
              <a:rPr lang="bg-BG" sz="2800" i="1"/>
              <a:t>c</a:t>
            </a:r>
            <a:r>
              <a:rPr lang="bg-BG" sz="2800" baseline="-25000"/>
              <a:t>1</a:t>
            </a:r>
            <a:r>
              <a:rPr lang="bg-BG" sz="2800"/>
              <a:t> div 2</a:t>
            </a:r>
            <a:r>
              <a:rPr lang="en-US" sz="2800" baseline="30000"/>
              <a:t>(l1-l)</a:t>
            </a:r>
            <a:r>
              <a:rPr lang="bg-BG" sz="2800"/>
              <a:t>) ≤ (</a:t>
            </a:r>
            <a:r>
              <a:rPr lang="bg-BG" sz="2800" i="1"/>
              <a:t>c</a:t>
            </a:r>
            <a:r>
              <a:rPr lang="bg-BG" sz="2800" baseline="-25000"/>
              <a:t>2</a:t>
            </a:r>
            <a:r>
              <a:rPr lang="bg-BG" sz="2800"/>
              <a:t> div 2 </a:t>
            </a:r>
            <a:r>
              <a:rPr lang="en-US" sz="2800" baseline="30000"/>
              <a:t>(l2-l)</a:t>
            </a:r>
            <a:r>
              <a:rPr lang="bg-BG" sz="2800"/>
              <a:t>)</a:t>
            </a:r>
          </a:p>
          <a:p>
            <a:pPr marL="228600" indent="-228600"/>
            <a:r>
              <a:rPr lang="bg-BG" sz="2800" i="1"/>
              <a:t>Examples</a:t>
            </a:r>
            <a:r>
              <a:rPr lang="bg-BG" sz="2800"/>
              <a:t>:</a:t>
            </a:r>
          </a:p>
          <a:p>
            <a:pPr marL="228600" indent="-228600"/>
            <a:r>
              <a:rPr lang="en-US" sz="2800"/>
              <a:t>		</a:t>
            </a:r>
            <a:r>
              <a:rPr lang="bg-BG" sz="2800"/>
              <a:t>(1,2) ≤</a:t>
            </a:r>
            <a:r>
              <a:rPr lang="en-US" sz="2800" baseline="-25000"/>
              <a:t>Z</a:t>
            </a:r>
            <a:r>
              <a:rPr lang="bg-BG" sz="2800"/>
              <a:t> (3,2),</a:t>
            </a:r>
          </a:p>
          <a:p>
            <a:pPr marL="228600" indent="-228600"/>
            <a:r>
              <a:rPr lang="en-US" sz="2800"/>
              <a:t>		</a:t>
            </a:r>
            <a:r>
              <a:rPr lang="bg-BG" sz="2800"/>
              <a:t>(3,4) ≤</a:t>
            </a:r>
            <a:r>
              <a:rPr lang="en-US" sz="2800" baseline="-25000"/>
              <a:t>Z</a:t>
            </a:r>
            <a:r>
              <a:rPr lang="bg-BG" sz="2800"/>
              <a:t> (3,2),</a:t>
            </a:r>
          </a:p>
          <a:p>
            <a:pPr marL="228600" indent="-228600"/>
            <a:r>
              <a:rPr lang="en-US" sz="2800"/>
              <a:t>		</a:t>
            </a:r>
            <a:r>
              <a:rPr lang="bg-BG" sz="2800"/>
              <a:t>(1,2) ≤</a:t>
            </a:r>
            <a:r>
              <a:rPr lang="en-US" sz="2800" baseline="-25000"/>
              <a:t>Z</a:t>
            </a:r>
            <a:r>
              <a:rPr lang="bg-BG" sz="2800"/>
              <a:t> (10,4)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70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609600" y="533400"/>
            <a:ext cx="8534400" cy="762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Mapping to a B</a:t>
            </a:r>
            <a:r>
              <a:rPr lang="en-US" baseline="30000"/>
              <a:t>+</a:t>
            </a:r>
            <a:r>
              <a:rPr lang="en-US"/>
              <a:t>-Tree  -  Example</a:t>
            </a:r>
            <a:endParaRPr lang="bg-BG"/>
          </a:p>
        </p:txBody>
      </p:sp>
      <p:sp>
        <p:nvSpPr>
          <p:cNvPr id="339972" name="Rectangle 4"/>
          <p:cNvSpPr>
            <a:spLocks noChangeArrowheads="1"/>
          </p:cNvSpPr>
          <p:nvPr/>
        </p:nvSpPr>
        <p:spPr bwMode="auto">
          <a:xfrm>
            <a:off x="6032500" y="1724025"/>
            <a:ext cx="2376488" cy="2376488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9973" name="Rectangle 5" descr="Dark upward diagonal"/>
          <p:cNvSpPr>
            <a:spLocks noChangeArrowheads="1"/>
          </p:cNvSpPr>
          <p:nvPr/>
        </p:nvSpPr>
        <p:spPr bwMode="auto">
          <a:xfrm>
            <a:off x="6032500" y="2917825"/>
            <a:ext cx="1189038" cy="1189038"/>
          </a:xfrm>
          <a:prstGeom prst="rect">
            <a:avLst/>
          </a:prstGeom>
          <a:pattFill prst="dkUpDiag">
            <a:fgClr>
              <a:srgbClr val="99CCFF"/>
            </a:fgClr>
            <a:bgClr>
              <a:schemeClr val="bg1"/>
            </a:bgClr>
          </a:patt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9975" name="Rectangle 7" descr="Dark upward diagonal"/>
          <p:cNvSpPr>
            <a:spLocks noChangeArrowheads="1"/>
          </p:cNvSpPr>
          <p:nvPr/>
        </p:nvSpPr>
        <p:spPr bwMode="auto">
          <a:xfrm>
            <a:off x="6629400" y="2333625"/>
            <a:ext cx="593725" cy="593725"/>
          </a:xfrm>
          <a:prstGeom prst="rect">
            <a:avLst/>
          </a:prstGeom>
          <a:pattFill prst="dkUpDiag">
            <a:fgClr>
              <a:srgbClr val="99CCFF"/>
            </a:fgClr>
            <a:bgClr>
              <a:schemeClr val="bg1"/>
            </a:bgClr>
          </a:patt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9982" name="Freeform 14"/>
          <p:cNvSpPr>
            <a:spLocks/>
          </p:cNvSpPr>
          <p:nvPr/>
        </p:nvSpPr>
        <p:spPr bwMode="auto">
          <a:xfrm>
            <a:off x="6019800" y="2916238"/>
            <a:ext cx="1190625" cy="1182687"/>
          </a:xfrm>
          <a:custGeom>
            <a:avLst/>
            <a:gdLst/>
            <a:ahLst/>
            <a:cxnLst>
              <a:cxn ang="0">
                <a:pos x="421" y="0"/>
              </a:cxn>
              <a:cxn ang="0">
                <a:pos x="293" y="152"/>
              </a:cxn>
              <a:cxn ang="0">
                <a:pos x="285" y="192"/>
              </a:cxn>
              <a:cxn ang="0">
                <a:pos x="149" y="272"/>
              </a:cxn>
              <a:cxn ang="0">
                <a:pos x="101" y="296"/>
              </a:cxn>
              <a:cxn ang="0">
                <a:pos x="61" y="392"/>
              </a:cxn>
              <a:cxn ang="0">
                <a:pos x="53" y="424"/>
              </a:cxn>
              <a:cxn ang="0">
                <a:pos x="29" y="440"/>
              </a:cxn>
              <a:cxn ang="0">
                <a:pos x="77" y="624"/>
              </a:cxn>
              <a:cxn ang="0">
                <a:pos x="141" y="696"/>
              </a:cxn>
              <a:cxn ang="0">
                <a:pos x="221" y="728"/>
              </a:cxn>
              <a:cxn ang="0">
                <a:pos x="269" y="744"/>
              </a:cxn>
              <a:cxn ang="0">
                <a:pos x="509" y="720"/>
              </a:cxn>
              <a:cxn ang="0">
                <a:pos x="557" y="664"/>
              </a:cxn>
              <a:cxn ang="0">
                <a:pos x="589" y="616"/>
              </a:cxn>
              <a:cxn ang="0">
                <a:pos x="605" y="592"/>
              </a:cxn>
              <a:cxn ang="0">
                <a:pos x="653" y="472"/>
              </a:cxn>
              <a:cxn ang="0">
                <a:pos x="685" y="280"/>
              </a:cxn>
              <a:cxn ang="0">
                <a:pos x="653" y="136"/>
              </a:cxn>
              <a:cxn ang="0">
                <a:pos x="645" y="96"/>
              </a:cxn>
              <a:cxn ang="0">
                <a:pos x="565" y="88"/>
              </a:cxn>
              <a:cxn ang="0">
                <a:pos x="557" y="56"/>
              </a:cxn>
              <a:cxn ang="0">
                <a:pos x="517" y="48"/>
              </a:cxn>
              <a:cxn ang="0">
                <a:pos x="493" y="32"/>
              </a:cxn>
              <a:cxn ang="0">
                <a:pos x="421" y="0"/>
              </a:cxn>
            </a:cxnLst>
            <a:rect l="0" t="0" r="r" b="b"/>
            <a:pathLst>
              <a:path w="685" h="745">
                <a:moveTo>
                  <a:pt x="421" y="0"/>
                </a:moveTo>
                <a:cubicBezTo>
                  <a:pt x="364" y="38"/>
                  <a:pt x="350" y="114"/>
                  <a:pt x="293" y="152"/>
                </a:cubicBezTo>
                <a:cubicBezTo>
                  <a:pt x="290" y="165"/>
                  <a:pt x="289" y="179"/>
                  <a:pt x="285" y="192"/>
                </a:cubicBezTo>
                <a:cubicBezTo>
                  <a:pt x="257" y="296"/>
                  <a:pt x="278" y="263"/>
                  <a:pt x="149" y="272"/>
                </a:cubicBezTo>
                <a:cubicBezTo>
                  <a:pt x="133" y="277"/>
                  <a:pt x="112" y="282"/>
                  <a:pt x="101" y="296"/>
                </a:cubicBezTo>
                <a:cubicBezTo>
                  <a:pt x="88" y="313"/>
                  <a:pt x="67" y="375"/>
                  <a:pt x="61" y="392"/>
                </a:cubicBezTo>
                <a:cubicBezTo>
                  <a:pt x="58" y="402"/>
                  <a:pt x="59" y="415"/>
                  <a:pt x="53" y="424"/>
                </a:cubicBezTo>
                <a:cubicBezTo>
                  <a:pt x="48" y="432"/>
                  <a:pt x="37" y="435"/>
                  <a:pt x="29" y="440"/>
                </a:cubicBezTo>
                <a:cubicBezTo>
                  <a:pt x="0" y="528"/>
                  <a:pt x="34" y="564"/>
                  <a:pt x="77" y="624"/>
                </a:cubicBezTo>
                <a:cubicBezTo>
                  <a:pt x="97" y="653"/>
                  <a:pt x="105" y="680"/>
                  <a:pt x="141" y="696"/>
                </a:cubicBezTo>
                <a:cubicBezTo>
                  <a:pt x="167" y="708"/>
                  <a:pt x="194" y="717"/>
                  <a:pt x="221" y="728"/>
                </a:cubicBezTo>
                <a:cubicBezTo>
                  <a:pt x="237" y="734"/>
                  <a:pt x="269" y="744"/>
                  <a:pt x="269" y="744"/>
                </a:cubicBezTo>
                <a:cubicBezTo>
                  <a:pt x="348" y="735"/>
                  <a:pt x="434" y="745"/>
                  <a:pt x="509" y="720"/>
                </a:cubicBezTo>
                <a:cubicBezTo>
                  <a:pt x="519" y="689"/>
                  <a:pt x="525" y="675"/>
                  <a:pt x="557" y="664"/>
                </a:cubicBezTo>
                <a:cubicBezTo>
                  <a:pt x="568" y="648"/>
                  <a:pt x="578" y="632"/>
                  <a:pt x="589" y="616"/>
                </a:cubicBezTo>
                <a:cubicBezTo>
                  <a:pt x="594" y="608"/>
                  <a:pt x="605" y="592"/>
                  <a:pt x="605" y="592"/>
                </a:cubicBezTo>
                <a:cubicBezTo>
                  <a:pt x="616" y="497"/>
                  <a:pt x="611" y="535"/>
                  <a:pt x="653" y="472"/>
                </a:cubicBezTo>
                <a:cubicBezTo>
                  <a:pt x="662" y="310"/>
                  <a:pt x="655" y="369"/>
                  <a:pt x="685" y="280"/>
                </a:cubicBezTo>
                <a:cubicBezTo>
                  <a:pt x="679" y="229"/>
                  <a:pt x="664" y="185"/>
                  <a:pt x="653" y="136"/>
                </a:cubicBezTo>
                <a:cubicBezTo>
                  <a:pt x="650" y="123"/>
                  <a:pt x="657" y="103"/>
                  <a:pt x="645" y="96"/>
                </a:cubicBezTo>
                <a:cubicBezTo>
                  <a:pt x="621" y="83"/>
                  <a:pt x="592" y="91"/>
                  <a:pt x="565" y="88"/>
                </a:cubicBezTo>
                <a:cubicBezTo>
                  <a:pt x="562" y="77"/>
                  <a:pt x="565" y="63"/>
                  <a:pt x="557" y="56"/>
                </a:cubicBezTo>
                <a:cubicBezTo>
                  <a:pt x="547" y="47"/>
                  <a:pt x="530" y="53"/>
                  <a:pt x="517" y="48"/>
                </a:cubicBezTo>
                <a:cubicBezTo>
                  <a:pt x="508" y="45"/>
                  <a:pt x="502" y="35"/>
                  <a:pt x="493" y="32"/>
                </a:cubicBezTo>
                <a:cubicBezTo>
                  <a:pt x="419" y="10"/>
                  <a:pt x="452" y="46"/>
                  <a:pt x="421" y="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9050" cap="flat" cmpd="sng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9995" name="Rectangle 27" descr="Dark upward diagonal"/>
          <p:cNvSpPr>
            <a:spLocks noChangeArrowheads="1"/>
          </p:cNvSpPr>
          <p:nvPr/>
        </p:nvSpPr>
        <p:spPr bwMode="auto">
          <a:xfrm>
            <a:off x="6032500" y="1724025"/>
            <a:ext cx="593725" cy="1203325"/>
          </a:xfrm>
          <a:prstGeom prst="rect">
            <a:avLst/>
          </a:prstGeom>
          <a:pattFill prst="dkUpDiag">
            <a:fgClr>
              <a:srgbClr val="99CCFF"/>
            </a:fgClr>
            <a:bgClr>
              <a:schemeClr val="bg1"/>
            </a:bgClr>
          </a:patt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9996" name="Rectangle 28" descr="Wave"/>
          <p:cNvSpPr>
            <a:spLocks noChangeArrowheads="1"/>
          </p:cNvSpPr>
          <p:nvPr/>
        </p:nvSpPr>
        <p:spPr bwMode="auto">
          <a:xfrm>
            <a:off x="6629400" y="1736725"/>
            <a:ext cx="593725" cy="593725"/>
          </a:xfrm>
          <a:prstGeom prst="rect">
            <a:avLst/>
          </a:prstGeom>
          <a:pattFill prst="wave">
            <a:fgClr>
              <a:srgbClr val="FFC1C1"/>
            </a:fgClr>
            <a:bgClr>
              <a:schemeClr val="bg1"/>
            </a:bgClr>
          </a:patt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9997" name="Rectangle 29" descr="Wave"/>
          <p:cNvSpPr>
            <a:spLocks noChangeArrowheads="1"/>
          </p:cNvSpPr>
          <p:nvPr/>
        </p:nvSpPr>
        <p:spPr bwMode="auto">
          <a:xfrm>
            <a:off x="7226300" y="2930525"/>
            <a:ext cx="593725" cy="1165225"/>
          </a:xfrm>
          <a:prstGeom prst="rect">
            <a:avLst/>
          </a:prstGeom>
          <a:pattFill prst="wave">
            <a:fgClr>
              <a:srgbClr val="FFC1C1"/>
            </a:fgClr>
            <a:bgClr>
              <a:schemeClr val="bg1"/>
            </a:bgClr>
          </a:patt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9999" name="Rectangle 31" descr="Large grid"/>
          <p:cNvSpPr>
            <a:spLocks noChangeArrowheads="1"/>
          </p:cNvSpPr>
          <p:nvPr/>
        </p:nvSpPr>
        <p:spPr bwMode="auto">
          <a:xfrm>
            <a:off x="7229475" y="1724025"/>
            <a:ext cx="593725" cy="1219200"/>
          </a:xfrm>
          <a:prstGeom prst="rect">
            <a:avLst/>
          </a:prstGeom>
          <a:pattFill prst="lgGrid">
            <a:fgClr>
              <a:srgbClr val="CC99FF"/>
            </a:fgClr>
            <a:bgClr>
              <a:schemeClr val="bg1"/>
            </a:bgClr>
          </a:patt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0000" name="Rectangle 32" descr="Large grid"/>
          <p:cNvSpPr>
            <a:spLocks noChangeArrowheads="1"/>
          </p:cNvSpPr>
          <p:nvPr/>
        </p:nvSpPr>
        <p:spPr bwMode="auto">
          <a:xfrm>
            <a:off x="7823200" y="1724025"/>
            <a:ext cx="593725" cy="1219200"/>
          </a:xfrm>
          <a:prstGeom prst="rect">
            <a:avLst/>
          </a:prstGeom>
          <a:pattFill prst="lgGrid">
            <a:fgClr>
              <a:srgbClr val="CC99FF"/>
            </a:fgClr>
            <a:bgClr>
              <a:schemeClr val="bg1"/>
            </a:bgClr>
          </a:patt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0001" name="Rectangle 33" descr="Weave"/>
          <p:cNvSpPr>
            <a:spLocks noChangeArrowheads="1"/>
          </p:cNvSpPr>
          <p:nvPr/>
        </p:nvSpPr>
        <p:spPr bwMode="auto">
          <a:xfrm>
            <a:off x="7823200" y="2946400"/>
            <a:ext cx="593725" cy="593725"/>
          </a:xfrm>
          <a:prstGeom prst="rect">
            <a:avLst/>
          </a:prstGeom>
          <a:pattFill prst="weave">
            <a:fgClr>
              <a:srgbClr val="99CC00"/>
            </a:fgClr>
            <a:bgClr>
              <a:schemeClr val="bg1"/>
            </a:bgClr>
          </a:patt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0002" name="Rectangle 34" descr="Wave"/>
          <p:cNvSpPr>
            <a:spLocks noChangeArrowheads="1"/>
          </p:cNvSpPr>
          <p:nvPr/>
        </p:nvSpPr>
        <p:spPr bwMode="auto">
          <a:xfrm>
            <a:off x="7826375" y="3543300"/>
            <a:ext cx="301625" cy="558800"/>
          </a:xfrm>
          <a:prstGeom prst="rect">
            <a:avLst/>
          </a:prstGeom>
          <a:pattFill prst="wave">
            <a:fgClr>
              <a:srgbClr val="FFC1C1"/>
            </a:fgClr>
            <a:bgClr>
              <a:schemeClr val="bg1"/>
            </a:bgClr>
          </a:patt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0003" name="Rectangle 35" descr="Weave"/>
          <p:cNvSpPr>
            <a:spLocks noChangeArrowheads="1"/>
          </p:cNvSpPr>
          <p:nvPr/>
        </p:nvSpPr>
        <p:spPr bwMode="auto">
          <a:xfrm>
            <a:off x="8118475" y="3540125"/>
            <a:ext cx="301625" cy="558800"/>
          </a:xfrm>
          <a:prstGeom prst="rect">
            <a:avLst/>
          </a:prstGeom>
          <a:pattFill prst="weave">
            <a:fgClr>
              <a:srgbClr val="99CC00"/>
            </a:fgClr>
            <a:bgClr>
              <a:schemeClr val="bg1"/>
            </a:bgClr>
          </a:patt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9983" name="Freeform 15"/>
          <p:cNvSpPr>
            <a:spLocks/>
          </p:cNvSpPr>
          <p:nvPr/>
        </p:nvSpPr>
        <p:spPr bwMode="auto">
          <a:xfrm>
            <a:off x="6051550" y="1733550"/>
            <a:ext cx="585788" cy="1190625"/>
          </a:xfrm>
          <a:custGeom>
            <a:avLst/>
            <a:gdLst/>
            <a:ahLst/>
            <a:cxnLst>
              <a:cxn ang="0">
                <a:pos x="160" y="0"/>
              </a:cxn>
              <a:cxn ang="0">
                <a:pos x="80" y="96"/>
              </a:cxn>
              <a:cxn ang="0">
                <a:pos x="32" y="224"/>
              </a:cxn>
              <a:cxn ang="0">
                <a:pos x="16" y="248"/>
              </a:cxn>
              <a:cxn ang="0">
                <a:pos x="0" y="296"/>
              </a:cxn>
              <a:cxn ang="0">
                <a:pos x="8" y="456"/>
              </a:cxn>
              <a:cxn ang="0">
                <a:pos x="152" y="728"/>
              </a:cxn>
              <a:cxn ang="0">
                <a:pos x="232" y="736"/>
              </a:cxn>
              <a:cxn ang="0">
                <a:pos x="328" y="640"/>
              </a:cxn>
              <a:cxn ang="0">
                <a:pos x="336" y="504"/>
              </a:cxn>
              <a:cxn ang="0">
                <a:pos x="352" y="456"/>
              </a:cxn>
              <a:cxn ang="0">
                <a:pos x="336" y="280"/>
              </a:cxn>
              <a:cxn ang="0">
                <a:pos x="288" y="240"/>
              </a:cxn>
              <a:cxn ang="0">
                <a:pos x="240" y="224"/>
              </a:cxn>
              <a:cxn ang="0">
                <a:pos x="232" y="112"/>
              </a:cxn>
              <a:cxn ang="0">
                <a:pos x="224" y="56"/>
              </a:cxn>
              <a:cxn ang="0">
                <a:pos x="184" y="48"/>
              </a:cxn>
              <a:cxn ang="0">
                <a:pos x="160" y="0"/>
              </a:cxn>
            </a:cxnLst>
            <a:rect l="0" t="0" r="r" b="b"/>
            <a:pathLst>
              <a:path w="369" h="750">
                <a:moveTo>
                  <a:pt x="160" y="0"/>
                </a:moveTo>
                <a:cubicBezTo>
                  <a:pt x="144" y="49"/>
                  <a:pt x="130" y="79"/>
                  <a:pt x="80" y="96"/>
                </a:cubicBezTo>
                <a:cubicBezTo>
                  <a:pt x="54" y="135"/>
                  <a:pt x="57" y="186"/>
                  <a:pt x="32" y="224"/>
                </a:cubicBezTo>
                <a:cubicBezTo>
                  <a:pt x="27" y="232"/>
                  <a:pt x="20" y="239"/>
                  <a:pt x="16" y="248"/>
                </a:cubicBezTo>
                <a:cubicBezTo>
                  <a:pt x="9" y="263"/>
                  <a:pt x="0" y="296"/>
                  <a:pt x="0" y="296"/>
                </a:cubicBezTo>
                <a:cubicBezTo>
                  <a:pt x="3" y="349"/>
                  <a:pt x="4" y="403"/>
                  <a:pt x="8" y="456"/>
                </a:cubicBezTo>
                <a:cubicBezTo>
                  <a:pt x="18" y="590"/>
                  <a:pt x="83" y="625"/>
                  <a:pt x="152" y="728"/>
                </a:cubicBezTo>
                <a:cubicBezTo>
                  <a:pt x="167" y="750"/>
                  <a:pt x="205" y="733"/>
                  <a:pt x="232" y="736"/>
                </a:cubicBezTo>
                <a:cubicBezTo>
                  <a:pt x="297" y="723"/>
                  <a:pt x="308" y="701"/>
                  <a:pt x="328" y="640"/>
                </a:cubicBezTo>
                <a:cubicBezTo>
                  <a:pt x="331" y="595"/>
                  <a:pt x="330" y="549"/>
                  <a:pt x="336" y="504"/>
                </a:cubicBezTo>
                <a:cubicBezTo>
                  <a:pt x="338" y="487"/>
                  <a:pt x="352" y="456"/>
                  <a:pt x="352" y="456"/>
                </a:cubicBezTo>
                <a:cubicBezTo>
                  <a:pt x="349" y="397"/>
                  <a:pt x="369" y="329"/>
                  <a:pt x="336" y="280"/>
                </a:cubicBezTo>
                <a:cubicBezTo>
                  <a:pt x="328" y="268"/>
                  <a:pt x="302" y="246"/>
                  <a:pt x="288" y="240"/>
                </a:cubicBezTo>
                <a:cubicBezTo>
                  <a:pt x="273" y="233"/>
                  <a:pt x="240" y="224"/>
                  <a:pt x="240" y="224"/>
                </a:cubicBezTo>
                <a:cubicBezTo>
                  <a:pt x="237" y="187"/>
                  <a:pt x="236" y="149"/>
                  <a:pt x="232" y="112"/>
                </a:cubicBezTo>
                <a:cubicBezTo>
                  <a:pt x="230" y="93"/>
                  <a:pt x="235" y="71"/>
                  <a:pt x="224" y="56"/>
                </a:cubicBezTo>
                <a:cubicBezTo>
                  <a:pt x="216" y="45"/>
                  <a:pt x="197" y="51"/>
                  <a:pt x="184" y="48"/>
                </a:cubicBezTo>
                <a:cubicBezTo>
                  <a:pt x="151" y="26"/>
                  <a:pt x="160" y="42"/>
                  <a:pt x="160" y="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9050" cap="flat" cmpd="sng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9984" name="Freeform 16"/>
          <p:cNvSpPr>
            <a:spLocks/>
          </p:cNvSpPr>
          <p:nvPr/>
        </p:nvSpPr>
        <p:spPr bwMode="auto">
          <a:xfrm>
            <a:off x="7251700" y="2914650"/>
            <a:ext cx="649288" cy="1231900"/>
          </a:xfrm>
          <a:custGeom>
            <a:avLst/>
            <a:gdLst/>
            <a:ahLst/>
            <a:cxnLst>
              <a:cxn ang="0">
                <a:pos x="168" y="16"/>
              </a:cxn>
              <a:cxn ang="0">
                <a:pos x="104" y="88"/>
              </a:cxn>
              <a:cxn ang="0">
                <a:pos x="144" y="296"/>
              </a:cxn>
              <a:cxn ang="0">
                <a:pos x="224" y="320"/>
              </a:cxn>
              <a:cxn ang="0">
                <a:pos x="216" y="560"/>
              </a:cxn>
              <a:cxn ang="0">
                <a:pos x="168" y="608"/>
              </a:cxn>
              <a:cxn ang="0">
                <a:pos x="0" y="704"/>
              </a:cxn>
              <a:cxn ang="0">
                <a:pos x="152" y="736"/>
              </a:cxn>
              <a:cxn ang="0">
                <a:pos x="216" y="688"/>
              </a:cxn>
              <a:cxn ang="0">
                <a:pos x="248" y="600"/>
              </a:cxn>
              <a:cxn ang="0">
                <a:pos x="264" y="552"/>
              </a:cxn>
              <a:cxn ang="0">
                <a:pos x="272" y="496"/>
              </a:cxn>
              <a:cxn ang="0">
                <a:pos x="288" y="472"/>
              </a:cxn>
              <a:cxn ang="0">
                <a:pos x="304" y="424"/>
              </a:cxn>
              <a:cxn ang="0">
                <a:pos x="312" y="392"/>
              </a:cxn>
              <a:cxn ang="0">
                <a:pos x="328" y="344"/>
              </a:cxn>
              <a:cxn ang="0">
                <a:pos x="264" y="48"/>
              </a:cxn>
              <a:cxn ang="0">
                <a:pos x="216" y="24"/>
              </a:cxn>
              <a:cxn ang="0">
                <a:pos x="168" y="16"/>
              </a:cxn>
            </a:cxnLst>
            <a:rect l="0" t="0" r="r" b="b"/>
            <a:pathLst>
              <a:path w="409" h="776">
                <a:moveTo>
                  <a:pt x="168" y="16"/>
                </a:moveTo>
                <a:cubicBezTo>
                  <a:pt x="144" y="64"/>
                  <a:pt x="131" y="47"/>
                  <a:pt x="104" y="88"/>
                </a:cubicBezTo>
                <a:cubicBezTo>
                  <a:pt x="105" y="119"/>
                  <a:pt x="78" y="274"/>
                  <a:pt x="144" y="296"/>
                </a:cubicBezTo>
                <a:cubicBezTo>
                  <a:pt x="187" y="289"/>
                  <a:pt x="209" y="276"/>
                  <a:pt x="224" y="320"/>
                </a:cubicBezTo>
                <a:cubicBezTo>
                  <a:pt x="221" y="400"/>
                  <a:pt x="231" y="481"/>
                  <a:pt x="216" y="560"/>
                </a:cubicBezTo>
                <a:cubicBezTo>
                  <a:pt x="212" y="582"/>
                  <a:pt x="187" y="595"/>
                  <a:pt x="168" y="608"/>
                </a:cubicBezTo>
                <a:cubicBezTo>
                  <a:pt x="116" y="643"/>
                  <a:pt x="59" y="684"/>
                  <a:pt x="0" y="704"/>
                </a:cubicBezTo>
                <a:cubicBezTo>
                  <a:pt x="18" y="776"/>
                  <a:pt x="76" y="741"/>
                  <a:pt x="152" y="736"/>
                </a:cubicBezTo>
                <a:cubicBezTo>
                  <a:pt x="164" y="700"/>
                  <a:pt x="180" y="697"/>
                  <a:pt x="216" y="688"/>
                </a:cubicBezTo>
                <a:cubicBezTo>
                  <a:pt x="226" y="658"/>
                  <a:pt x="239" y="631"/>
                  <a:pt x="248" y="600"/>
                </a:cubicBezTo>
                <a:cubicBezTo>
                  <a:pt x="253" y="584"/>
                  <a:pt x="264" y="552"/>
                  <a:pt x="264" y="552"/>
                </a:cubicBezTo>
                <a:cubicBezTo>
                  <a:pt x="267" y="533"/>
                  <a:pt x="267" y="514"/>
                  <a:pt x="272" y="496"/>
                </a:cubicBezTo>
                <a:cubicBezTo>
                  <a:pt x="275" y="487"/>
                  <a:pt x="284" y="481"/>
                  <a:pt x="288" y="472"/>
                </a:cubicBezTo>
                <a:cubicBezTo>
                  <a:pt x="295" y="457"/>
                  <a:pt x="300" y="440"/>
                  <a:pt x="304" y="424"/>
                </a:cubicBezTo>
                <a:cubicBezTo>
                  <a:pt x="307" y="413"/>
                  <a:pt x="309" y="403"/>
                  <a:pt x="312" y="392"/>
                </a:cubicBezTo>
                <a:cubicBezTo>
                  <a:pt x="317" y="376"/>
                  <a:pt x="328" y="344"/>
                  <a:pt x="328" y="344"/>
                </a:cubicBezTo>
                <a:cubicBezTo>
                  <a:pt x="326" y="267"/>
                  <a:pt x="409" y="0"/>
                  <a:pt x="264" y="48"/>
                </a:cubicBezTo>
                <a:cubicBezTo>
                  <a:pt x="252" y="40"/>
                  <a:pt x="233" y="24"/>
                  <a:pt x="216" y="24"/>
                </a:cubicBezTo>
                <a:cubicBezTo>
                  <a:pt x="166" y="24"/>
                  <a:pt x="218" y="49"/>
                  <a:pt x="168" y="16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9050" cap="flat" cmpd="sng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9985" name="Freeform 17"/>
          <p:cNvSpPr>
            <a:spLocks/>
          </p:cNvSpPr>
          <p:nvPr/>
        </p:nvSpPr>
        <p:spPr bwMode="auto">
          <a:xfrm>
            <a:off x="7823200" y="1676400"/>
            <a:ext cx="608013" cy="1257300"/>
          </a:xfrm>
          <a:custGeom>
            <a:avLst/>
            <a:gdLst/>
            <a:ahLst/>
            <a:cxnLst>
              <a:cxn ang="0">
                <a:pos x="144" y="33"/>
              </a:cxn>
              <a:cxn ang="0">
                <a:pos x="128" y="441"/>
              </a:cxn>
              <a:cxn ang="0">
                <a:pos x="104" y="465"/>
              </a:cxn>
              <a:cxn ang="0">
                <a:pos x="48" y="601"/>
              </a:cxn>
              <a:cxn ang="0">
                <a:pos x="16" y="649"/>
              </a:cxn>
              <a:cxn ang="0">
                <a:pos x="0" y="673"/>
              </a:cxn>
              <a:cxn ang="0">
                <a:pos x="176" y="761"/>
              </a:cxn>
              <a:cxn ang="0">
                <a:pos x="224" y="649"/>
              </a:cxn>
              <a:cxn ang="0">
                <a:pos x="280" y="577"/>
              </a:cxn>
              <a:cxn ang="0">
                <a:pos x="352" y="465"/>
              </a:cxn>
              <a:cxn ang="0">
                <a:pos x="352" y="273"/>
              </a:cxn>
              <a:cxn ang="0">
                <a:pos x="264" y="265"/>
              </a:cxn>
              <a:cxn ang="0">
                <a:pos x="240" y="137"/>
              </a:cxn>
              <a:cxn ang="0">
                <a:pos x="192" y="129"/>
              </a:cxn>
              <a:cxn ang="0">
                <a:pos x="184" y="57"/>
              </a:cxn>
              <a:cxn ang="0">
                <a:pos x="144" y="33"/>
              </a:cxn>
            </a:cxnLst>
            <a:rect l="0" t="0" r="r" b="b"/>
            <a:pathLst>
              <a:path w="383" h="761">
                <a:moveTo>
                  <a:pt x="144" y="33"/>
                </a:moveTo>
                <a:cubicBezTo>
                  <a:pt x="141" y="169"/>
                  <a:pt x="203" y="328"/>
                  <a:pt x="128" y="441"/>
                </a:cubicBezTo>
                <a:cubicBezTo>
                  <a:pt x="122" y="450"/>
                  <a:pt x="111" y="456"/>
                  <a:pt x="104" y="465"/>
                </a:cubicBezTo>
                <a:cubicBezTo>
                  <a:pt x="76" y="504"/>
                  <a:pt x="71" y="559"/>
                  <a:pt x="48" y="601"/>
                </a:cubicBezTo>
                <a:cubicBezTo>
                  <a:pt x="39" y="618"/>
                  <a:pt x="27" y="633"/>
                  <a:pt x="16" y="649"/>
                </a:cubicBezTo>
                <a:cubicBezTo>
                  <a:pt x="11" y="657"/>
                  <a:pt x="0" y="673"/>
                  <a:pt x="0" y="673"/>
                </a:cubicBezTo>
                <a:cubicBezTo>
                  <a:pt x="47" y="744"/>
                  <a:pt x="93" y="752"/>
                  <a:pt x="176" y="761"/>
                </a:cubicBezTo>
                <a:cubicBezTo>
                  <a:pt x="199" y="726"/>
                  <a:pt x="201" y="684"/>
                  <a:pt x="224" y="649"/>
                </a:cubicBezTo>
                <a:cubicBezTo>
                  <a:pt x="252" y="608"/>
                  <a:pt x="259" y="641"/>
                  <a:pt x="280" y="577"/>
                </a:cubicBezTo>
                <a:cubicBezTo>
                  <a:pt x="294" y="535"/>
                  <a:pt x="314" y="490"/>
                  <a:pt x="352" y="465"/>
                </a:cubicBezTo>
                <a:cubicBezTo>
                  <a:pt x="364" y="406"/>
                  <a:pt x="383" y="325"/>
                  <a:pt x="352" y="273"/>
                </a:cubicBezTo>
                <a:cubicBezTo>
                  <a:pt x="337" y="248"/>
                  <a:pt x="293" y="268"/>
                  <a:pt x="264" y="265"/>
                </a:cubicBezTo>
                <a:cubicBezTo>
                  <a:pt x="263" y="259"/>
                  <a:pt x="259" y="153"/>
                  <a:pt x="240" y="137"/>
                </a:cubicBezTo>
                <a:cubicBezTo>
                  <a:pt x="228" y="126"/>
                  <a:pt x="208" y="132"/>
                  <a:pt x="192" y="129"/>
                </a:cubicBezTo>
                <a:cubicBezTo>
                  <a:pt x="189" y="105"/>
                  <a:pt x="190" y="80"/>
                  <a:pt x="184" y="57"/>
                </a:cubicBezTo>
                <a:cubicBezTo>
                  <a:pt x="183" y="54"/>
                  <a:pt x="144" y="0"/>
                  <a:pt x="144" y="33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9050" cap="flat" cmpd="sng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9986" name="Freeform 18"/>
          <p:cNvSpPr>
            <a:spLocks/>
          </p:cNvSpPr>
          <p:nvPr/>
        </p:nvSpPr>
        <p:spPr bwMode="auto">
          <a:xfrm>
            <a:off x="7245350" y="1743075"/>
            <a:ext cx="568325" cy="1193800"/>
          </a:xfrm>
          <a:custGeom>
            <a:avLst/>
            <a:gdLst/>
            <a:ahLst/>
            <a:cxnLst>
              <a:cxn ang="0">
                <a:pos x="164" y="720"/>
              </a:cxn>
              <a:cxn ang="0">
                <a:pos x="36" y="640"/>
              </a:cxn>
              <a:cxn ang="0">
                <a:pos x="4" y="632"/>
              </a:cxn>
              <a:cxn ang="0">
                <a:pos x="20" y="608"/>
              </a:cxn>
              <a:cxn ang="0">
                <a:pos x="60" y="536"/>
              </a:cxn>
              <a:cxn ang="0">
                <a:pos x="100" y="464"/>
              </a:cxn>
              <a:cxn ang="0">
                <a:pos x="12" y="440"/>
              </a:cxn>
              <a:cxn ang="0">
                <a:pos x="36" y="392"/>
              </a:cxn>
              <a:cxn ang="0">
                <a:pos x="52" y="344"/>
              </a:cxn>
              <a:cxn ang="0">
                <a:pos x="68" y="296"/>
              </a:cxn>
              <a:cxn ang="0">
                <a:pos x="76" y="248"/>
              </a:cxn>
              <a:cxn ang="0">
                <a:pos x="124" y="240"/>
              </a:cxn>
              <a:cxn ang="0">
                <a:pos x="116" y="128"/>
              </a:cxn>
              <a:cxn ang="0">
                <a:pos x="108" y="104"/>
              </a:cxn>
              <a:cxn ang="0">
                <a:pos x="132" y="88"/>
              </a:cxn>
              <a:cxn ang="0">
                <a:pos x="140" y="48"/>
              </a:cxn>
              <a:cxn ang="0">
                <a:pos x="156" y="0"/>
              </a:cxn>
              <a:cxn ang="0">
                <a:pos x="172" y="24"/>
              </a:cxn>
              <a:cxn ang="0">
                <a:pos x="180" y="64"/>
              </a:cxn>
              <a:cxn ang="0">
                <a:pos x="220" y="72"/>
              </a:cxn>
              <a:cxn ang="0">
                <a:pos x="228" y="136"/>
              </a:cxn>
              <a:cxn ang="0">
                <a:pos x="252" y="144"/>
              </a:cxn>
              <a:cxn ang="0">
                <a:pos x="284" y="208"/>
              </a:cxn>
              <a:cxn ang="0">
                <a:pos x="356" y="440"/>
              </a:cxn>
              <a:cxn ang="0">
                <a:pos x="348" y="576"/>
              </a:cxn>
              <a:cxn ang="0">
                <a:pos x="284" y="672"/>
              </a:cxn>
              <a:cxn ang="0">
                <a:pos x="212" y="680"/>
              </a:cxn>
              <a:cxn ang="0">
                <a:pos x="188" y="776"/>
              </a:cxn>
              <a:cxn ang="0">
                <a:pos x="180" y="744"/>
              </a:cxn>
              <a:cxn ang="0">
                <a:pos x="172" y="720"/>
              </a:cxn>
              <a:cxn ang="0">
                <a:pos x="164" y="720"/>
              </a:cxn>
            </a:cxnLst>
            <a:rect l="0" t="0" r="r" b="b"/>
            <a:pathLst>
              <a:path w="358" h="776">
                <a:moveTo>
                  <a:pt x="164" y="720"/>
                </a:moveTo>
                <a:cubicBezTo>
                  <a:pt x="153" y="585"/>
                  <a:pt x="177" y="628"/>
                  <a:pt x="36" y="640"/>
                </a:cubicBezTo>
                <a:cubicBezTo>
                  <a:pt x="25" y="637"/>
                  <a:pt x="9" y="642"/>
                  <a:pt x="4" y="632"/>
                </a:cubicBezTo>
                <a:cubicBezTo>
                  <a:pt x="0" y="623"/>
                  <a:pt x="16" y="617"/>
                  <a:pt x="20" y="608"/>
                </a:cubicBezTo>
                <a:cubicBezTo>
                  <a:pt x="32" y="583"/>
                  <a:pt x="60" y="536"/>
                  <a:pt x="60" y="536"/>
                </a:cubicBezTo>
                <a:cubicBezTo>
                  <a:pt x="73" y="485"/>
                  <a:pt x="85" y="509"/>
                  <a:pt x="100" y="464"/>
                </a:cubicBezTo>
                <a:cubicBezTo>
                  <a:pt x="71" y="454"/>
                  <a:pt x="37" y="458"/>
                  <a:pt x="12" y="440"/>
                </a:cubicBezTo>
                <a:cubicBezTo>
                  <a:pt x="1" y="432"/>
                  <a:pt x="27" y="411"/>
                  <a:pt x="36" y="392"/>
                </a:cubicBezTo>
                <a:cubicBezTo>
                  <a:pt x="43" y="377"/>
                  <a:pt x="47" y="360"/>
                  <a:pt x="52" y="344"/>
                </a:cubicBezTo>
                <a:cubicBezTo>
                  <a:pt x="57" y="328"/>
                  <a:pt x="63" y="312"/>
                  <a:pt x="68" y="296"/>
                </a:cubicBezTo>
                <a:cubicBezTo>
                  <a:pt x="73" y="281"/>
                  <a:pt x="65" y="259"/>
                  <a:pt x="76" y="248"/>
                </a:cubicBezTo>
                <a:cubicBezTo>
                  <a:pt x="87" y="237"/>
                  <a:pt x="108" y="243"/>
                  <a:pt x="124" y="240"/>
                </a:cubicBezTo>
                <a:cubicBezTo>
                  <a:pt x="121" y="203"/>
                  <a:pt x="120" y="165"/>
                  <a:pt x="116" y="128"/>
                </a:cubicBezTo>
                <a:cubicBezTo>
                  <a:pt x="115" y="120"/>
                  <a:pt x="105" y="112"/>
                  <a:pt x="108" y="104"/>
                </a:cubicBezTo>
                <a:cubicBezTo>
                  <a:pt x="112" y="95"/>
                  <a:pt x="124" y="93"/>
                  <a:pt x="132" y="88"/>
                </a:cubicBezTo>
                <a:cubicBezTo>
                  <a:pt x="135" y="75"/>
                  <a:pt x="136" y="61"/>
                  <a:pt x="140" y="48"/>
                </a:cubicBezTo>
                <a:cubicBezTo>
                  <a:pt x="144" y="32"/>
                  <a:pt x="156" y="0"/>
                  <a:pt x="156" y="0"/>
                </a:cubicBezTo>
                <a:cubicBezTo>
                  <a:pt x="161" y="8"/>
                  <a:pt x="169" y="15"/>
                  <a:pt x="172" y="24"/>
                </a:cubicBezTo>
                <a:cubicBezTo>
                  <a:pt x="177" y="37"/>
                  <a:pt x="170" y="54"/>
                  <a:pt x="180" y="64"/>
                </a:cubicBezTo>
                <a:cubicBezTo>
                  <a:pt x="190" y="74"/>
                  <a:pt x="207" y="69"/>
                  <a:pt x="220" y="72"/>
                </a:cubicBezTo>
                <a:cubicBezTo>
                  <a:pt x="223" y="93"/>
                  <a:pt x="219" y="116"/>
                  <a:pt x="228" y="136"/>
                </a:cubicBezTo>
                <a:cubicBezTo>
                  <a:pt x="231" y="144"/>
                  <a:pt x="248" y="136"/>
                  <a:pt x="252" y="144"/>
                </a:cubicBezTo>
                <a:cubicBezTo>
                  <a:pt x="289" y="218"/>
                  <a:pt x="230" y="190"/>
                  <a:pt x="284" y="208"/>
                </a:cubicBezTo>
                <a:cubicBezTo>
                  <a:pt x="334" y="308"/>
                  <a:pt x="234" y="416"/>
                  <a:pt x="356" y="440"/>
                </a:cubicBezTo>
                <a:cubicBezTo>
                  <a:pt x="353" y="485"/>
                  <a:pt x="358" y="532"/>
                  <a:pt x="348" y="576"/>
                </a:cubicBezTo>
                <a:cubicBezTo>
                  <a:pt x="343" y="600"/>
                  <a:pt x="300" y="648"/>
                  <a:pt x="284" y="672"/>
                </a:cubicBezTo>
                <a:cubicBezTo>
                  <a:pt x="271" y="692"/>
                  <a:pt x="236" y="677"/>
                  <a:pt x="212" y="680"/>
                </a:cubicBezTo>
                <a:cubicBezTo>
                  <a:pt x="205" y="713"/>
                  <a:pt x="199" y="744"/>
                  <a:pt x="188" y="776"/>
                </a:cubicBezTo>
                <a:cubicBezTo>
                  <a:pt x="185" y="765"/>
                  <a:pt x="177" y="754"/>
                  <a:pt x="180" y="744"/>
                </a:cubicBezTo>
                <a:cubicBezTo>
                  <a:pt x="188" y="719"/>
                  <a:pt x="242" y="734"/>
                  <a:pt x="172" y="720"/>
                </a:cubicBezTo>
                <a:cubicBezTo>
                  <a:pt x="169" y="719"/>
                  <a:pt x="167" y="720"/>
                  <a:pt x="164" y="72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9050" cap="flat" cmpd="sng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9989" name="Freeform 21"/>
          <p:cNvSpPr>
            <a:spLocks/>
          </p:cNvSpPr>
          <p:nvPr/>
        </p:nvSpPr>
        <p:spPr bwMode="auto">
          <a:xfrm>
            <a:off x="6632575" y="1733550"/>
            <a:ext cx="600075" cy="601663"/>
          </a:xfrm>
          <a:custGeom>
            <a:avLst/>
            <a:gdLst/>
            <a:ahLst/>
            <a:cxnLst>
              <a:cxn ang="0">
                <a:pos x="168" y="0"/>
              </a:cxn>
              <a:cxn ang="0">
                <a:pos x="48" y="24"/>
              </a:cxn>
              <a:cxn ang="0">
                <a:pos x="0" y="80"/>
              </a:cxn>
              <a:cxn ang="0">
                <a:pos x="16" y="232"/>
              </a:cxn>
              <a:cxn ang="0">
                <a:pos x="192" y="320"/>
              </a:cxn>
              <a:cxn ang="0">
                <a:pos x="264" y="304"/>
              </a:cxn>
              <a:cxn ang="0">
                <a:pos x="280" y="280"/>
              </a:cxn>
              <a:cxn ang="0">
                <a:pos x="328" y="272"/>
              </a:cxn>
              <a:cxn ang="0">
                <a:pos x="336" y="160"/>
              </a:cxn>
              <a:cxn ang="0">
                <a:pos x="328" y="80"/>
              </a:cxn>
              <a:cxn ang="0">
                <a:pos x="216" y="40"/>
              </a:cxn>
              <a:cxn ang="0">
                <a:pos x="192" y="24"/>
              </a:cxn>
              <a:cxn ang="0">
                <a:pos x="168" y="0"/>
              </a:cxn>
            </a:cxnLst>
            <a:rect l="0" t="0" r="r" b="b"/>
            <a:pathLst>
              <a:path w="344" h="331">
                <a:moveTo>
                  <a:pt x="168" y="0"/>
                </a:moveTo>
                <a:cubicBezTo>
                  <a:pt x="125" y="11"/>
                  <a:pt x="93" y="18"/>
                  <a:pt x="48" y="24"/>
                </a:cubicBezTo>
                <a:cubicBezTo>
                  <a:pt x="16" y="35"/>
                  <a:pt x="10" y="49"/>
                  <a:pt x="0" y="80"/>
                </a:cubicBezTo>
                <a:cubicBezTo>
                  <a:pt x="5" y="131"/>
                  <a:pt x="11" y="181"/>
                  <a:pt x="16" y="232"/>
                </a:cubicBezTo>
                <a:cubicBezTo>
                  <a:pt x="22" y="291"/>
                  <a:pt x="155" y="316"/>
                  <a:pt x="192" y="320"/>
                </a:cubicBezTo>
                <a:cubicBezTo>
                  <a:pt x="225" y="331"/>
                  <a:pt x="235" y="323"/>
                  <a:pt x="264" y="304"/>
                </a:cubicBezTo>
                <a:cubicBezTo>
                  <a:pt x="269" y="296"/>
                  <a:pt x="271" y="284"/>
                  <a:pt x="280" y="280"/>
                </a:cubicBezTo>
                <a:cubicBezTo>
                  <a:pt x="295" y="273"/>
                  <a:pt x="321" y="287"/>
                  <a:pt x="328" y="272"/>
                </a:cubicBezTo>
                <a:cubicBezTo>
                  <a:pt x="344" y="238"/>
                  <a:pt x="333" y="197"/>
                  <a:pt x="336" y="160"/>
                </a:cubicBezTo>
                <a:cubicBezTo>
                  <a:pt x="333" y="133"/>
                  <a:pt x="336" y="105"/>
                  <a:pt x="328" y="80"/>
                </a:cubicBezTo>
                <a:cubicBezTo>
                  <a:pt x="320" y="57"/>
                  <a:pt x="220" y="41"/>
                  <a:pt x="216" y="40"/>
                </a:cubicBezTo>
                <a:cubicBezTo>
                  <a:pt x="208" y="35"/>
                  <a:pt x="201" y="27"/>
                  <a:pt x="192" y="24"/>
                </a:cubicBezTo>
                <a:cubicBezTo>
                  <a:pt x="144" y="8"/>
                  <a:pt x="125" y="29"/>
                  <a:pt x="168" y="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9050" cap="flat" cmpd="sng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9990" name="Freeform 22"/>
          <p:cNvSpPr>
            <a:spLocks/>
          </p:cNvSpPr>
          <p:nvPr/>
        </p:nvSpPr>
        <p:spPr bwMode="auto">
          <a:xfrm>
            <a:off x="6651625" y="2333625"/>
            <a:ext cx="555625" cy="571500"/>
          </a:xfrm>
          <a:custGeom>
            <a:avLst/>
            <a:gdLst/>
            <a:ahLst/>
            <a:cxnLst>
              <a:cxn ang="0">
                <a:pos x="152" y="0"/>
              </a:cxn>
              <a:cxn ang="0">
                <a:pos x="112" y="72"/>
              </a:cxn>
              <a:cxn ang="0">
                <a:pos x="104" y="104"/>
              </a:cxn>
              <a:cxn ang="0">
                <a:pos x="72" y="152"/>
              </a:cxn>
              <a:cxn ang="0">
                <a:pos x="32" y="256"/>
              </a:cxn>
              <a:cxn ang="0">
                <a:pos x="0" y="304"/>
              </a:cxn>
              <a:cxn ang="0">
                <a:pos x="104" y="360"/>
              </a:cxn>
              <a:cxn ang="0">
                <a:pos x="144" y="352"/>
              </a:cxn>
              <a:cxn ang="0">
                <a:pos x="160" y="328"/>
              </a:cxn>
              <a:cxn ang="0">
                <a:pos x="184" y="320"/>
              </a:cxn>
              <a:cxn ang="0">
                <a:pos x="232" y="280"/>
              </a:cxn>
              <a:cxn ang="0">
                <a:pos x="328" y="200"/>
              </a:cxn>
              <a:cxn ang="0">
                <a:pos x="328" y="112"/>
              </a:cxn>
              <a:cxn ang="0">
                <a:pos x="320" y="88"/>
              </a:cxn>
              <a:cxn ang="0">
                <a:pos x="272" y="72"/>
              </a:cxn>
              <a:cxn ang="0">
                <a:pos x="264" y="40"/>
              </a:cxn>
              <a:cxn ang="0">
                <a:pos x="192" y="32"/>
              </a:cxn>
              <a:cxn ang="0">
                <a:pos x="168" y="16"/>
              </a:cxn>
              <a:cxn ang="0">
                <a:pos x="144" y="8"/>
              </a:cxn>
              <a:cxn ang="0">
                <a:pos x="152" y="0"/>
              </a:cxn>
            </a:cxnLst>
            <a:rect l="0" t="0" r="r" b="b"/>
            <a:pathLst>
              <a:path w="350" h="360">
                <a:moveTo>
                  <a:pt x="152" y="0"/>
                </a:moveTo>
                <a:cubicBezTo>
                  <a:pt x="132" y="59"/>
                  <a:pt x="148" y="36"/>
                  <a:pt x="112" y="72"/>
                </a:cubicBezTo>
                <a:cubicBezTo>
                  <a:pt x="109" y="83"/>
                  <a:pt x="109" y="94"/>
                  <a:pt x="104" y="104"/>
                </a:cubicBezTo>
                <a:cubicBezTo>
                  <a:pt x="95" y="121"/>
                  <a:pt x="72" y="152"/>
                  <a:pt x="72" y="152"/>
                </a:cubicBezTo>
                <a:cubicBezTo>
                  <a:pt x="63" y="190"/>
                  <a:pt x="45" y="218"/>
                  <a:pt x="32" y="256"/>
                </a:cubicBezTo>
                <a:cubicBezTo>
                  <a:pt x="26" y="274"/>
                  <a:pt x="0" y="304"/>
                  <a:pt x="0" y="304"/>
                </a:cubicBezTo>
                <a:cubicBezTo>
                  <a:pt x="16" y="352"/>
                  <a:pt x="58" y="352"/>
                  <a:pt x="104" y="360"/>
                </a:cubicBezTo>
                <a:cubicBezTo>
                  <a:pt x="117" y="357"/>
                  <a:pt x="132" y="359"/>
                  <a:pt x="144" y="352"/>
                </a:cubicBezTo>
                <a:cubicBezTo>
                  <a:pt x="152" y="347"/>
                  <a:pt x="152" y="334"/>
                  <a:pt x="160" y="328"/>
                </a:cubicBezTo>
                <a:cubicBezTo>
                  <a:pt x="167" y="323"/>
                  <a:pt x="176" y="323"/>
                  <a:pt x="184" y="320"/>
                </a:cubicBezTo>
                <a:cubicBezTo>
                  <a:pt x="199" y="305"/>
                  <a:pt x="222" y="298"/>
                  <a:pt x="232" y="280"/>
                </a:cubicBezTo>
                <a:cubicBezTo>
                  <a:pt x="285" y="183"/>
                  <a:pt x="210" y="213"/>
                  <a:pt x="328" y="200"/>
                </a:cubicBezTo>
                <a:cubicBezTo>
                  <a:pt x="339" y="145"/>
                  <a:pt x="350" y="157"/>
                  <a:pt x="328" y="112"/>
                </a:cubicBezTo>
                <a:cubicBezTo>
                  <a:pt x="324" y="104"/>
                  <a:pt x="327" y="93"/>
                  <a:pt x="320" y="88"/>
                </a:cubicBezTo>
                <a:cubicBezTo>
                  <a:pt x="306" y="78"/>
                  <a:pt x="288" y="77"/>
                  <a:pt x="272" y="72"/>
                </a:cubicBezTo>
                <a:cubicBezTo>
                  <a:pt x="269" y="61"/>
                  <a:pt x="274" y="45"/>
                  <a:pt x="264" y="40"/>
                </a:cubicBezTo>
                <a:cubicBezTo>
                  <a:pt x="242" y="29"/>
                  <a:pt x="215" y="38"/>
                  <a:pt x="192" y="32"/>
                </a:cubicBezTo>
                <a:cubicBezTo>
                  <a:pt x="183" y="30"/>
                  <a:pt x="177" y="20"/>
                  <a:pt x="168" y="16"/>
                </a:cubicBezTo>
                <a:cubicBezTo>
                  <a:pt x="160" y="12"/>
                  <a:pt x="150" y="14"/>
                  <a:pt x="144" y="8"/>
                </a:cubicBezTo>
                <a:cubicBezTo>
                  <a:pt x="141" y="5"/>
                  <a:pt x="149" y="3"/>
                  <a:pt x="152" y="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9050" cap="flat" cmpd="sng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9991" name="Freeform 23"/>
          <p:cNvSpPr>
            <a:spLocks/>
          </p:cNvSpPr>
          <p:nvPr/>
        </p:nvSpPr>
        <p:spPr bwMode="auto">
          <a:xfrm>
            <a:off x="7794625" y="2933700"/>
            <a:ext cx="600075" cy="608013"/>
          </a:xfrm>
          <a:custGeom>
            <a:avLst/>
            <a:gdLst/>
            <a:ahLst/>
            <a:cxnLst>
              <a:cxn ang="0">
                <a:pos x="176" y="0"/>
              </a:cxn>
              <a:cxn ang="0">
                <a:pos x="88" y="104"/>
              </a:cxn>
              <a:cxn ang="0">
                <a:pos x="40" y="136"/>
              </a:cxn>
              <a:cxn ang="0">
                <a:pos x="64" y="304"/>
              </a:cxn>
              <a:cxn ang="0">
                <a:pos x="80" y="336"/>
              </a:cxn>
              <a:cxn ang="0">
                <a:pos x="184" y="352"/>
              </a:cxn>
              <a:cxn ang="0">
                <a:pos x="224" y="368"/>
              </a:cxn>
              <a:cxn ang="0">
                <a:pos x="256" y="376"/>
              </a:cxn>
              <a:cxn ang="0">
                <a:pos x="272" y="328"/>
              </a:cxn>
              <a:cxn ang="0">
                <a:pos x="296" y="312"/>
              </a:cxn>
              <a:cxn ang="0">
                <a:pos x="304" y="288"/>
              </a:cxn>
              <a:cxn ang="0">
                <a:pos x="328" y="256"/>
              </a:cxn>
              <a:cxn ang="0">
                <a:pos x="336" y="208"/>
              </a:cxn>
              <a:cxn ang="0">
                <a:pos x="352" y="160"/>
              </a:cxn>
              <a:cxn ang="0">
                <a:pos x="344" y="88"/>
              </a:cxn>
              <a:cxn ang="0">
                <a:pos x="320" y="80"/>
              </a:cxn>
              <a:cxn ang="0">
                <a:pos x="200" y="32"/>
              </a:cxn>
              <a:cxn ang="0">
                <a:pos x="176" y="0"/>
              </a:cxn>
            </a:cxnLst>
            <a:rect l="0" t="0" r="r" b="b"/>
            <a:pathLst>
              <a:path w="353" h="383">
                <a:moveTo>
                  <a:pt x="176" y="0"/>
                </a:moveTo>
                <a:cubicBezTo>
                  <a:pt x="146" y="39"/>
                  <a:pt x="124" y="68"/>
                  <a:pt x="88" y="104"/>
                </a:cubicBezTo>
                <a:cubicBezTo>
                  <a:pt x="74" y="118"/>
                  <a:pt x="40" y="136"/>
                  <a:pt x="40" y="136"/>
                </a:cubicBezTo>
                <a:cubicBezTo>
                  <a:pt x="0" y="196"/>
                  <a:pt x="29" y="252"/>
                  <a:pt x="64" y="304"/>
                </a:cubicBezTo>
                <a:cubicBezTo>
                  <a:pt x="71" y="314"/>
                  <a:pt x="70" y="330"/>
                  <a:pt x="80" y="336"/>
                </a:cubicBezTo>
                <a:cubicBezTo>
                  <a:pt x="110" y="355"/>
                  <a:pt x="149" y="347"/>
                  <a:pt x="184" y="352"/>
                </a:cubicBezTo>
                <a:cubicBezTo>
                  <a:pt x="197" y="357"/>
                  <a:pt x="210" y="363"/>
                  <a:pt x="224" y="368"/>
                </a:cubicBezTo>
                <a:cubicBezTo>
                  <a:pt x="234" y="371"/>
                  <a:pt x="248" y="383"/>
                  <a:pt x="256" y="376"/>
                </a:cubicBezTo>
                <a:cubicBezTo>
                  <a:pt x="269" y="365"/>
                  <a:pt x="258" y="337"/>
                  <a:pt x="272" y="328"/>
                </a:cubicBezTo>
                <a:cubicBezTo>
                  <a:pt x="280" y="323"/>
                  <a:pt x="288" y="317"/>
                  <a:pt x="296" y="312"/>
                </a:cubicBezTo>
                <a:cubicBezTo>
                  <a:pt x="299" y="304"/>
                  <a:pt x="300" y="295"/>
                  <a:pt x="304" y="288"/>
                </a:cubicBezTo>
                <a:cubicBezTo>
                  <a:pt x="311" y="276"/>
                  <a:pt x="323" y="268"/>
                  <a:pt x="328" y="256"/>
                </a:cubicBezTo>
                <a:cubicBezTo>
                  <a:pt x="334" y="241"/>
                  <a:pt x="332" y="224"/>
                  <a:pt x="336" y="208"/>
                </a:cubicBezTo>
                <a:cubicBezTo>
                  <a:pt x="340" y="192"/>
                  <a:pt x="352" y="160"/>
                  <a:pt x="352" y="160"/>
                </a:cubicBezTo>
                <a:cubicBezTo>
                  <a:pt x="349" y="136"/>
                  <a:pt x="353" y="110"/>
                  <a:pt x="344" y="88"/>
                </a:cubicBezTo>
                <a:cubicBezTo>
                  <a:pt x="341" y="80"/>
                  <a:pt x="328" y="84"/>
                  <a:pt x="320" y="80"/>
                </a:cubicBezTo>
                <a:cubicBezTo>
                  <a:pt x="277" y="58"/>
                  <a:pt x="249" y="40"/>
                  <a:pt x="200" y="32"/>
                </a:cubicBezTo>
                <a:cubicBezTo>
                  <a:pt x="172" y="13"/>
                  <a:pt x="176" y="26"/>
                  <a:pt x="176" y="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9050" cap="flat" cmpd="sng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9992" name="Freeform 24"/>
          <p:cNvSpPr>
            <a:spLocks/>
          </p:cNvSpPr>
          <p:nvPr/>
        </p:nvSpPr>
        <p:spPr bwMode="auto">
          <a:xfrm>
            <a:off x="7804150" y="3543300"/>
            <a:ext cx="338138" cy="561975"/>
          </a:xfrm>
          <a:custGeom>
            <a:avLst/>
            <a:gdLst/>
            <a:ahLst/>
            <a:cxnLst>
              <a:cxn ang="0">
                <a:pos x="97" y="0"/>
              </a:cxn>
              <a:cxn ang="0">
                <a:pos x="73" y="16"/>
              </a:cxn>
              <a:cxn ang="0">
                <a:pos x="33" y="80"/>
              </a:cxn>
              <a:cxn ang="0">
                <a:pos x="25" y="288"/>
              </a:cxn>
              <a:cxn ang="0">
                <a:pos x="73" y="304"/>
              </a:cxn>
              <a:cxn ang="0">
                <a:pos x="81" y="360"/>
              </a:cxn>
              <a:cxn ang="0">
                <a:pos x="113" y="352"/>
              </a:cxn>
              <a:cxn ang="0">
                <a:pos x="129" y="280"/>
              </a:cxn>
              <a:cxn ang="0">
                <a:pos x="161" y="200"/>
              </a:cxn>
              <a:cxn ang="0">
                <a:pos x="97" y="0"/>
              </a:cxn>
            </a:cxnLst>
            <a:rect l="0" t="0" r="r" b="b"/>
            <a:pathLst>
              <a:path w="177" h="368">
                <a:moveTo>
                  <a:pt x="97" y="0"/>
                </a:moveTo>
                <a:cubicBezTo>
                  <a:pt x="89" y="5"/>
                  <a:pt x="78" y="8"/>
                  <a:pt x="73" y="16"/>
                </a:cubicBezTo>
                <a:cubicBezTo>
                  <a:pt x="49" y="52"/>
                  <a:pt x="86" y="62"/>
                  <a:pt x="33" y="80"/>
                </a:cubicBezTo>
                <a:cubicBezTo>
                  <a:pt x="21" y="115"/>
                  <a:pt x="0" y="252"/>
                  <a:pt x="25" y="288"/>
                </a:cubicBezTo>
                <a:cubicBezTo>
                  <a:pt x="35" y="302"/>
                  <a:pt x="73" y="304"/>
                  <a:pt x="73" y="304"/>
                </a:cubicBezTo>
                <a:cubicBezTo>
                  <a:pt x="76" y="323"/>
                  <a:pt x="69" y="346"/>
                  <a:pt x="81" y="360"/>
                </a:cubicBezTo>
                <a:cubicBezTo>
                  <a:pt x="88" y="368"/>
                  <a:pt x="104" y="359"/>
                  <a:pt x="113" y="352"/>
                </a:cubicBezTo>
                <a:cubicBezTo>
                  <a:pt x="132" y="337"/>
                  <a:pt x="123" y="304"/>
                  <a:pt x="129" y="280"/>
                </a:cubicBezTo>
                <a:cubicBezTo>
                  <a:pt x="142" y="223"/>
                  <a:pt x="137" y="236"/>
                  <a:pt x="161" y="200"/>
                </a:cubicBezTo>
                <a:cubicBezTo>
                  <a:pt x="156" y="111"/>
                  <a:pt x="177" y="40"/>
                  <a:pt x="97" y="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9050" cap="flat" cmpd="sng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39994" name="Freeform 26"/>
          <p:cNvSpPr>
            <a:spLocks/>
          </p:cNvSpPr>
          <p:nvPr/>
        </p:nvSpPr>
        <p:spPr bwMode="auto">
          <a:xfrm>
            <a:off x="8089900" y="3552825"/>
            <a:ext cx="361950" cy="520700"/>
          </a:xfrm>
          <a:custGeom>
            <a:avLst/>
            <a:gdLst/>
            <a:ahLst/>
            <a:cxnLst>
              <a:cxn ang="0">
                <a:pos x="72" y="0"/>
              </a:cxn>
              <a:cxn ang="0">
                <a:pos x="32" y="80"/>
              </a:cxn>
              <a:cxn ang="0">
                <a:pos x="48" y="328"/>
              </a:cxn>
              <a:cxn ang="0">
                <a:pos x="104" y="320"/>
              </a:cxn>
              <a:cxn ang="0">
                <a:pos x="112" y="296"/>
              </a:cxn>
              <a:cxn ang="0">
                <a:pos x="136" y="280"/>
              </a:cxn>
              <a:cxn ang="0">
                <a:pos x="88" y="88"/>
              </a:cxn>
              <a:cxn ang="0">
                <a:pos x="72" y="0"/>
              </a:cxn>
            </a:cxnLst>
            <a:rect l="0" t="0" r="r" b="b"/>
            <a:pathLst>
              <a:path w="169" h="328">
                <a:moveTo>
                  <a:pt x="72" y="0"/>
                </a:moveTo>
                <a:cubicBezTo>
                  <a:pt x="35" y="25"/>
                  <a:pt x="45" y="40"/>
                  <a:pt x="32" y="80"/>
                </a:cubicBezTo>
                <a:cubicBezTo>
                  <a:pt x="20" y="162"/>
                  <a:pt x="0" y="256"/>
                  <a:pt x="48" y="328"/>
                </a:cubicBezTo>
                <a:cubicBezTo>
                  <a:pt x="67" y="325"/>
                  <a:pt x="87" y="328"/>
                  <a:pt x="104" y="320"/>
                </a:cubicBezTo>
                <a:cubicBezTo>
                  <a:pt x="112" y="316"/>
                  <a:pt x="107" y="303"/>
                  <a:pt x="112" y="296"/>
                </a:cubicBezTo>
                <a:cubicBezTo>
                  <a:pt x="118" y="288"/>
                  <a:pt x="128" y="285"/>
                  <a:pt x="136" y="280"/>
                </a:cubicBezTo>
                <a:cubicBezTo>
                  <a:pt x="160" y="207"/>
                  <a:pt x="169" y="108"/>
                  <a:pt x="88" y="88"/>
                </a:cubicBezTo>
                <a:cubicBezTo>
                  <a:pt x="72" y="64"/>
                  <a:pt x="46" y="26"/>
                  <a:pt x="72" y="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9050" cap="flat" cmpd="sng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40014" name="Freeform 46"/>
          <p:cNvSpPr>
            <a:spLocks/>
          </p:cNvSpPr>
          <p:nvPr/>
        </p:nvSpPr>
        <p:spPr bwMode="auto">
          <a:xfrm>
            <a:off x="2414588" y="1481138"/>
            <a:ext cx="1073150" cy="398462"/>
          </a:xfrm>
          <a:custGeom>
            <a:avLst/>
            <a:gdLst/>
            <a:ahLst/>
            <a:cxnLst>
              <a:cxn ang="0">
                <a:pos x="0" y="250"/>
              </a:cxn>
              <a:cxn ang="0">
                <a:pos x="0" y="0"/>
              </a:cxn>
              <a:cxn ang="0">
                <a:pos x="562" y="0"/>
              </a:cxn>
              <a:cxn ang="0">
                <a:pos x="562" y="250"/>
              </a:cxn>
              <a:cxn ang="0">
                <a:pos x="0" y="250"/>
              </a:cxn>
            </a:cxnLst>
            <a:rect l="0" t="0" r="r" b="b"/>
            <a:pathLst>
              <a:path w="563" h="251">
                <a:moveTo>
                  <a:pt x="0" y="250"/>
                </a:moveTo>
                <a:lnTo>
                  <a:pt x="0" y="0"/>
                </a:lnTo>
                <a:lnTo>
                  <a:pt x="562" y="0"/>
                </a:lnTo>
                <a:lnTo>
                  <a:pt x="562" y="250"/>
                </a:lnTo>
                <a:lnTo>
                  <a:pt x="0" y="250"/>
                </a:lnTo>
              </a:path>
            </a:pathLst>
          </a:custGeom>
          <a:solidFill>
            <a:schemeClr val="accent1"/>
          </a:solidFill>
          <a:ln w="1905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0015" name="Freeform 47"/>
          <p:cNvSpPr>
            <a:spLocks/>
          </p:cNvSpPr>
          <p:nvPr/>
        </p:nvSpPr>
        <p:spPr bwMode="auto">
          <a:xfrm>
            <a:off x="2533650" y="1471613"/>
            <a:ext cx="1588" cy="3984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250"/>
              </a:cxn>
              <a:cxn ang="0">
                <a:pos x="0" y="0"/>
              </a:cxn>
            </a:cxnLst>
            <a:rect l="0" t="0" r="r" b="b"/>
            <a:pathLst>
              <a:path w="1" h="251">
                <a:moveTo>
                  <a:pt x="0" y="0"/>
                </a:moveTo>
                <a:lnTo>
                  <a:pt x="0" y="25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0016" name="Freeform 48"/>
          <p:cNvSpPr>
            <a:spLocks/>
          </p:cNvSpPr>
          <p:nvPr/>
        </p:nvSpPr>
        <p:spPr bwMode="auto">
          <a:xfrm>
            <a:off x="3344863" y="1476375"/>
            <a:ext cx="1587" cy="39846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250"/>
              </a:cxn>
              <a:cxn ang="0">
                <a:pos x="0" y="0"/>
              </a:cxn>
            </a:cxnLst>
            <a:rect l="0" t="0" r="r" b="b"/>
            <a:pathLst>
              <a:path w="1" h="251">
                <a:moveTo>
                  <a:pt x="0" y="0"/>
                </a:moveTo>
                <a:lnTo>
                  <a:pt x="0" y="25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0023" name="Freeform 55"/>
          <p:cNvSpPr>
            <a:spLocks/>
          </p:cNvSpPr>
          <p:nvPr/>
        </p:nvSpPr>
        <p:spPr bwMode="auto">
          <a:xfrm>
            <a:off x="2049463" y="1357313"/>
            <a:ext cx="325437" cy="10001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04" y="62"/>
              </a:cxn>
              <a:cxn ang="0">
                <a:pos x="0" y="0"/>
              </a:cxn>
            </a:cxnLst>
            <a:rect l="0" t="0" r="r" b="b"/>
            <a:pathLst>
              <a:path w="205" h="63">
                <a:moveTo>
                  <a:pt x="0" y="0"/>
                </a:moveTo>
                <a:lnTo>
                  <a:pt x="204" y="62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0024" name="Freeform 56"/>
          <p:cNvSpPr>
            <a:spLocks/>
          </p:cNvSpPr>
          <p:nvPr/>
        </p:nvSpPr>
        <p:spPr bwMode="auto">
          <a:xfrm>
            <a:off x="2244725" y="1390650"/>
            <a:ext cx="130175" cy="66675"/>
          </a:xfrm>
          <a:custGeom>
            <a:avLst/>
            <a:gdLst/>
            <a:ahLst/>
            <a:cxnLst>
              <a:cxn ang="0">
                <a:pos x="12" y="0"/>
              </a:cxn>
              <a:cxn ang="0">
                <a:pos x="81" y="41"/>
              </a:cxn>
              <a:cxn ang="0">
                <a:pos x="0" y="37"/>
              </a:cxn>
              <a:cxn ang="0">
                <a:pos x="12" y="0"/>
              </a:cxn>
            </a:cxnLst>
            <a:rect l="0" t="0" r="r" b="b"/>
            <a:pathLst>
              <a:path w="82" h="42">
                <a:moveTo>
                  <a:pt x="12" y="0"/>
                </a:moveTo>
                <a:lnTo>
                  <a:pt x="81" y="41"/>
                </a:lnTo>
                <a:lnTo>
                  <a:pt x="0" y="37"/>
                </a:lnTo>
                <a:lnTo>
                  <a:pt x="12" y="0"/>
                </a:lnTo>
              </a:path>
            </a:pathLst>
          </a:custGeom>
          <a:solidFill>
            <a:schemeClr val="tx1"/>
          </a:solidFill>
          <a:ln w="19050" cap="rnd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0029" name="Rectangle 61"/>
          <p:cNvSpPr>
            <a:spLocks noChangeArrowheads="1"/>
          </p:cNvSpPr>
          <p:nvPr/>
        </p:nvSpPr>
        <p:spPr bwMode="auto">
          <a:xfrm>
            <a:off x="2514600" y="1524000"/>
            <a:ext cx="830263" cy="30162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algn="ctr" eaLnBrk="0" hangingPunct="0"/>
            <a:r>
              <a:rPr lang="en-US" sz="1400" b="1">
                <a:solidFill>
                  <a:schemeClr val="tx2"/>
                </a:solidFill>
                <a:latin typeface="Arial" charset="0"/>
              </a:rPr>
              <a:t>( 6 , 3 )</a:t>
            </a:r>
          </a:p>
        </p:txBody>
      </p:sp>
      <p:sp>
        <p:nvSpPr>
          <p:cNvPr id="340030" name="Rectangle 62"/>
          <p:cNvSpPr>
            <a:spLocks noChangeArrowheads="1"/>
          </p:cNvSpPr>
          <p:nvPr/>
        </p:nvSpPr>
        <p:spPr bwMode="auto">
          <a:xfrm>
            <a:off x="1427163" y="1257300"/>
            <a:ext cx="584200" cy="30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400" b="1">
                <a:solidFill>
                  <a:schemeClr val="tx2"/>
                </a:solidFill>
                <a:latin typeface="Arial" charset="0"/>
              </a:rPr>
              <a:t>Root</a:t>
            </a:r>
          </a:p>
        </p:txBody>
      </p:sp>
      <p:sp>
        <p:nvSpPr>
          <p:cNvPr id="340031" name="Freeform 63"/>
          <p:cNvSpPr>
            <a:spLocks/>
          </p:cNvSpPr>
          <p:nvPr/>
        </p:nvSpPr>
        <p:spPr bwMode="auto">
          <a:xfrm>
            <a:off x="1254125" y="2509838"/>
            <a:ext cx="1073150" cy="398462"/>
          </a:xfrm>
          <a:custGeom>
            <a:avLst/>
            <a:gdLst/>
            <a:ahLst/>
            <a:cxnLst>
              <a:cxn ang="0">
                <a:pos x="0" y="250"/>
              </a:cxn>
              <a:cxn ang="0">
                <a:pos x="0" y="0"/>
              </a:cxn>
              <a:cxn ang="0">
                <a:pos x="562" y="0"/>
              </a:cxn>
              <a:cxn ang="0">
                <a:pos x="562" y="250"/>
              </a:cxn>
              <a:cxn ang="0">
                <a:pos x="0" y="250"/>
              </a:cxn>
            </a:cxnLst>
            <a:rect l="0" t="0" r="r" b="b"/>
            <a:pathLst>
              <a:path w="563" h="251">
                <a:moveTo>
                  <a:pt x="0" y="250"/>
                </a:moveTo>
                <a:lnTo>
                  <a:pt x="0" y="0"/>
                </a:lnTo>
                <a:lnTo>
                  <a:pt x="562" y="0"/>
                </a:lnTo>
                <a:lnTo>
                  <a:pt x="562" y="250"/>
                </a:lnTo>
                <a:lnTo>
                  <a:pt x="0" y="250"/>
                </a:lnTo>
              </a:path>
            </a:pathLst>
          </a:custGeom>
          <a:solidFill>
            <a:schemeClr val="accent1"/>
          </a:solidFill>
          <a:ln w="1905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0032" name="Freeform 64"/>
          <p:cNvSpPr>
            <a:spLocks/>
          </p:cNvSpPr>
          <p:nvPr/>
        </p:nvSpPr>
        <p:spPr bwMode="auto">
          <a:xfrm>
            <a:off x="1373188" y="2500313"/>
            <a:ext cx="1587" cy="3984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250"/>
              </a:cxn>
              <a:cxn ang="0">
                <a:pos x="0" y="0"/>
              </a:cxn>
            </a:cxnLst>
            <a:rect l="0" t="0" r="r" b="b"/>
            <a:pathLst>
              <a:path w="1" h="251">
                <a:moveTo>
                  <a:pt x="0" y="0"/>
                </a:moveTo>
                <a:lnTo>
                  <a:pt x="0" y="25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0033" name="Freeform 65"/>
          <p:cNvSpPr>
            <a:spLocks/>
          </p:cNvSpPr>
          <p:nvPr/>
        </p:nvSpPr>
        <p:spPr bwMode="auto">
          <a:xfrm>
            <a:off x="2184400" y="2505075"/>
            <a:ext cx="1588" cy="39846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250"/>
              </a:cxn>
              <a:cxn ang="0">
                <a:pos x="0" y="0"/>
              </a:cxn>
            </a:cxnLst>
            <a:rect l="0" t="0" r="r" b="b"/>
            <a:pathLst>
              <a:path w="1" h="251">
                <a:moveTo>
                  <a:pt x="0" y="0"/>
                </a:moveTo>
                <a:lnTo>
                  <a:pt x="0" y="25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0035" name="Rectangle 67"/>
          <p:cNvSpPr>
            <a:spLocks noChangeArrowheads="1"/>
          </p:cNvSpPr>
          <p:nvPr/>
        </p:nvSpPr>
        <p:spPr bwMode="auto">
          <a:xfrm>
            <a:off x="1354138" y="2552700"/>
            <a:ext cx="830262" cy="30162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algn="ctr" eaLnBrk="0" hangingPunct="0"/>
            <a:r>
              <a:rPr lang="en-US" sz="1400" b="1">
                <a:solidFill>
                  <a:schemeClr val="tx2"/>
                </a:solidFill>
                <a:latin typeface="Arial" charset="0"/>
              </a:rPr>
              <a:t>( 7 , 4 )</a:t>
            </a:r>
          </a:p>
        </p:txBody>
      </p:sp>
      <p:sp>
        <p:nvSpPr>
          <p:cNvPr id="340036" name="Freeform 68"/>
          <p:cNvSpPr>
            <a:spLocks/>
          </p:cNvSpPr>
          <p:nvPr/>
        </p:nvSpPr>
        <p:spPr bwMode="auto">
          <a:xfrm>
            <a:off x="3540125" y="2509838"/>
            <a:ext cx="1073150" cy="398462"/>
          </a:xfrm>
          <a:custGeom>
            <a:avLst/>
            <a:gdLst/>
            <a:ahLst/>
            <a:cxnLst>
              <a:cxn ang="0">
                <a:pos x="0" y="250"/>
              </a:cxn>
              <a:cxn ang="0">
                <a:pos x="0" y="0"/>
              </a:cxn>
              <a:cxn ang="0">
                <a:pos x="562" y="0"/>
              </a:cxn>
              <a:cxn ang="0">
                <a:pos x="562" y="250"/>
              </a:cxn>
              <a:cxn ang="0">
                <a:pos x="0" y="250"/>
              </a:cxn>
            </a:cxnLst>
            <a:rect l="0" t="0" r="r" b="b"/>
            <a:pathLst>
              <a:path w="563" h="251">
                <a:moveTo>
                  <a:pt x="0" y="250"/>
                </a:moveTo>
                <a:lnTo>
                  <a:pt x="0" y="0"/>
                </a:lnTo>
                <a:lnTo>
                  <a:pt x="562" y="0"/>
                </a:lnTo>
                <a:lnTo>
                  <a:pt x="562" y="250"/>
                </a:lnTo>
                <a:lnTo>
                  <a:pt x="0" y="250"/>
                </a:lnTo>
              </a:path>
            </a:pathLst>
          </a:custGeom>
          <a:solidFill>
            <a:schemeClr val="accent1"/>
          </a:solidFill>
          <a:ln w="1905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0037" name="Freeform 69"/>
          <p:cNvSpPr>
            <a:spLocks/>
          </p:cNvSpPr>
          <p:nvPr/>
        </p:nvSpPr>
        <p:spPr bwMode="auto">
          <a:xfrm>
            <a:off x="3659188" y="2500313"/>
            <a:ext cx="1587" cy="3984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250"/>
              </a:cxn>
              <a:cxn ang="0">
                <a:pos x="0" y="0"/>
              </a:cxn>
            </a:cxnLst>
            <a:rect l="0" t="0" r="r" b="b"/>
            <a:pathLst>
              <a:path w="1" h="251">
                <a:moveTo>
                  <a:pt x="0" y="0"/>
                </a:moveTo>
                <a:lnTo>
                  <a:pt x="0" y="25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0038" name="Freeform 70"/>
          <p:cNvSpPr>
            <a:spLocks/>
          </p:cNvSpPr>
          <p:nvPr/>
        </p:nvSpPr>
        <p:spPr bwMode="auto">
          <a:xfrm>
            <a:off x="4470400" y="2505075"/>
            <a:ext cx="1588" cy="39846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250"/>
              </a:cxn>
              <a:cxn ang="0">
                <a:pos x="0" y="0"/>
              </a:cxn>
            </a:cxnLst>
            <a:rect l="0" t="0" r="r" b="b"/>
            <a:pathLst>
              <a:path w="1" h="251">
                <a:moveTo>
                  <a:pt x="0" y="0"/>
                </a:moveTo>
                <a:lnTo>
                  <a:pt x="0" y="25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0040" name="Rectangle 72"/>
          <p:cNvSpPr>
            <a:spLocks noChangeArrowheads="1"/>
          </p:cNvSpPr>
          <p:nvPr/>
        </p:nvSpPr>
        <p:spPr bwMode="auto">
          <a:xfrm>
            <a:off x="3640138" y="2552700"/>
            <a:ext cx="830262" cy="30162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algn="ctr" eaLnBrk="0" hangingPunct="0"/>
            <a:r>
              <a:rPr lang="en-US" sz="1400" b="1">
                <a:solidFill>
                  <a:schemeClr val="tx2"/>
                </a:solidFill>
                <a:latin typeface="Arial" charset="0"/>
              </a:rPr>
              <a:t>( 6 , 3 )</a:t>
            </a:r>
          </a:p>
        </p:txBody>
      </p:sp>
      <p:sp>
        <p:nvSpPr>
          <p:cNvPr id="340041" name="Line 73"/>
          <p:cNvSpPr>
            <a:spLocks noChangeShapeType="1"/>
          </p:cNvSpPr>
          <p:nvPr/>
        </p:nvSpPr>
        <p:spPr bwMode="auto">
          <a:xfrm flipH="1">
            <a:off x="1811338" y="1714500"/>
            <a:ext cx="685800" cy="76200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 type="triangle" w="med" len="lg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40042" name="Line 74"/>
          <p:cNvSpPr>
            <a:spLocks noChangeShapeType="1"/>
          </p:cNvSpPr>
          <p:nvPr/>
        </p:nvSpPr>
        <p:spPr bwMode="auto">
          <a:xfrm>
            <a:off x="3411538" y="1714500"/>
            <a:ext cx="533400" cy="76200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 type="triangle" w="med" len="lg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40043" name="Rectangle 75" descr="Dark upward diagonal"/>
          <p:cNvSpPr>
            <a:spLocks noChangeArrowheads="1"/>
          </p:cNvSpPr>
          <p:nvPr/>
        </p:nvSpPr>
        <p:spPr bwMode="auto">
          <a:xfrm>
            <a:off x="773113" y="3467100"/>
            <a:ext cx="914400" cy="1219200"/>
          </a:xfrm>
          <a:prstGeom prst="rect">
            <a:avLst/>
          </a:prstGeom>
          <a:pattFill prst="dkUpDiag">
            <a:fgClr>
              <a:srgbClr val="99CCFF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0044" name="Rectangle 76"/>
          <p:cNvSpPr>
            <a:spLocks noChangeArrowheads="1"/>
          </p:cNvSpPr>
          <p:nvPr/>
        </p:nvSpPr>
        <p:spPr bwMode="auto">
          <a:xfrm>
            <a:off x="773113" y="3505200"/>
            <a:ext cx="830262" cy="115252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algn="ctr" eaLnBrk="0" hangingPunct="0"/>
            <a:r>
              <a:rPr lang="en-US" sz="1400" b="1">
                <a:solidFill>
                  <a:schemeClr val="tx2"/>
                </a:solidFill>
                <a:latin typeface="Arial" charset="0"/>
              </a:rPr>
              <a:t>( 0 , 2 )</a:t>
            </a:r>
          </a:p>
          <a:p>
            <a:pPr algn="ctr" eaLnBrk="0" hangingPunct="0"/>
            <a:endParaRPr lang="en-US" sz="1400" b="1">
              <a:solidFill>
                <a:schemeClr val="tx2"/>
              </a:solidFill>
              <a:latin typeface="Arial" charset="0"/>
            </a:endParaRPr>
          </a:p>
          <a:p>
            <a:pPr algn="ctr" eaLnBrk="0" hangingPunct="0"/>
            <a:r>
              <a:rPr lang="en-US" sz="1400" b="1">
                <a:solidFill>
                  <a:schemeClr val="tx2"/>
                </a:solidFill>
                <a:latin typeface="Arial" charset="0"/>
              </a:rPr>
              <a:t>( 2 , 3 )</a:t>
            </a:r>
          </a:p>
          <a:p>
            <a:pPr algn="ctr" eaLnBrk="0" hangingPunct="0"/>
            <a:endParaRPr lang="en-US" sz="1400" b="1">
              <a:solidFill>
                <a:schemeClr val="tx2"/>
              </a:solidFill>
              <a:latin typeface="Arial" charset="0"/>
            </a:endParaRPr>
          </a:p>
          <a:p>
            <a:pPr algn="ctr" eaLnBrk="0" hangingPunct="0"/>
            <a:r>
              <a:rPr lang="en-US" sz="1400" b="1">
                <a:solidFill>
                  <a:schemeClr val="tx2"/>
                </a:solidFill>
                <a:latin typeface="Arial" charset="0"/>
              </a:rPr>
              <a:t>( 6 , 4 )</a:t>
            </a:r>
          </a:p>
        </p:txBody>
      </p:sp>
      <p:sp>
        <p:nvSpPr>
          <p:cNvPr id="340054" name="Rectangle 86" descr="Zig zag"/>
          <p:cNvSpPr>
            <a:spLocks noChangeArrowheads="1"/>
          </p:cNvSpPr>
          <p:nvPr/>
        </p:nvSpPr>
        <p:spPr bwMode="auto">
          <a:xfrm>
            <a:off x="1982788" y="3467100"/>
            <a:ext cx="914400" cy="1219200"/>
          </a:xfrm>
          <a:prstGeom prst="rect">
            <a:avLst/>
          </a:prstGeom>
          <a:pattFill prst="zigZag">
            <a:fgClr>
              <a:srgbClr val="FFC1C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0055" name="Rectangle 87"/>
          <p:cNvSpPr>
            <a:spLocks noChangeArrowheads="1"/>
          </p:cNvSpPr>
          <p:nvPr/>
        </p:nvSpPr>
        <p:spPr bwMode="auto">
          <a:xfrm>
            <a:off x="2011363" y="3505200"/>
            <a:ext cx="830262" cy="115252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algn="ctr" eaLnBrk="0" hangingPunct="0"/>
            <a:r>
              <a:rPr lang="en-US" sz="1400" b="1">
                <a:solidFill>
                  <a:schemeClr val="tx2"/>
                </a:solidFill>
                <a:latin typeface="Arial" charset="0"/>
              </a:rPr>
              <a:t>( 7 , 4 )</a:t>
            </a:r>
          </a:p>
          <a:p>
            <a:pPr algn="ctr" eaLnBrk="0" hangingPunct="0"/>
            <a:endParaRPr lang="en-US" sz="1400" b="1">
              <a:solidFill>
                <a:schemeClr val="tx2"/>
              </a:solidFill>
              <a:latin typeface="Arial" charset="0"/>
            </a:endParaRPr>
          </a:p>
          <a:p>
            <a:pPr algn="ctr" eaLnBrk="0" hangingPunct="0"/>
            <a:r>
              <a:rPr lang="en-US" sz="1400" b="1">
                <a:solidFill>
                  <a:schemeClr val="tx2"/>
                </a:solidFill>
                <a:latin typeface="Arial" charset="0"/>
              </a:rPr>
              <a:t>( 4 , 3 )</a:t>
            </a:r>
          </a:p>
          <a:p>
            <a:pPr algn="ctr" eaLnBrk="0" hangingPunct="0"/>
            <a:endParaRPr lang="en-US" sz="1400" b="1">
              <a:solidFill>
                <a:schemeClr val="tx2"/>
              </a:solidFill>
              <a:latin typeface="Arial" charset="0"/>
            </a:endParaRPr>
          </a:p>
          <a:p>
            <a:pPr algn="ctr" eaLnBrk="0" hangingPunct="0"/>
            <a:r>
              <a:rPr lang="en-US" sz="1400" b="1">
                <a:solidFill>
                  <a:schemeClr val="tx2"/>
                </a:solidFill>
                <a:latin typeface="Arial" charset="0"/>
              </a:rPr>
              <a:t>( 20,5 )</a:t>
            </a:r>
          </a:p>
        </p:txBody>
      </p:sp>
      <p:sp>
        <p:nvSpPr>
          <p:cNvPr id="340056" name="Rectangle 88" descr="Weave"/>
          <p:cNvSpPr>
            <a:spLocks noChangeArrowheads="1"/>
          </p:cNvSpPr>
          <p:nvPr/>
        </p:nvSpPr>
        <p:spPr bwMode="auto">
          <a:xfrm>
            <a:off x="3030538" y="3467100"/>
            <a:ext cx="914400" cy="1219200"/>
          </a:xfrm>
          <a:prstGeom prst="rect">
            <a:avLst/>
          </a:prstGeom>
          <a:pattFill prst="weave">
            <a:fgClr>
              <a:srgbClr val="99CC00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0057" name="Rectangle 89"/>
          <p:cNvSpPr>
            <a:spLocks noChangeArrowheads="1"/>
          </p:cNvSpPr>
          <p:nvPr/>
        </p:nvSpPr>
        <p:spPr bwMode="auto">
          <a:xfrm>
            <a:off x="3068638" y="3749675"/>
            <a:ext cx="830262" cy="7270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algn="ctr" eaLnBrk="0" hangingPunct="0"/>
            <a:r>
              <a:rPr lang="en-US" sz="1400" b="1">
                <a:solidFill>
                  <a:schemeClr val="tx2"/>
                </a:solidFill>
                <a:latin typeface="Arial" charset="0"/>
              </a:rPr>
              <a:t>( 21,5 )</a:t>
            </a:r>
          </a:p>
          <a:p>
            <a:pPr algn="ctr" eaLnBrk="0" hangingPunct="0"/>
            <a:endParaRPr lang="en-US" sz="1400" b="1">
              <a:solidFill>
                <a:schemeClr val="tx2"/>
              </a:solidFill>
              <a:latin typeface="Arial" charset="0"/>
            </a:endParaRPr>
          </a:p>
          <a:p>
            <a:pPr algn="ctr" eaLnBrk="0" hangingPunct="0"/>
            <a:r>
              <a:rPr lang="en-US" sz="1400" b="1">
                <a:solidFill>
                  <a:schemeClr val="tx2"/>
                </a:solidFill>
                <a:latin typeface="Arial" charset="0"/>
              </a:rPr>
              <a:t>( 11 ,4 )</a:t>
            </a:r>
          </a:p>
        </p:txBody>
      </p:sp>
      <p:sp>
        <p:nvSpPr>
          <p:cNvPr id="340058" name="Rectangle 90" descr="Large grid"/>
          <p:cNvSpPr>
            <a:spLocks noChangeArrowheads="1"/>
          </p:cNvSpPr>
          <p:nvPr/>
        </p:nvSpPr>
        <p:spPr bwMode="auto">
          <a:xfrm>
            <a:off x="4249738" y="3467100"/>
            <a:ext cx="914400" cy="1219200"/>
          </a:xfrm>
          <a:prstGeom prst="rect">
            <a:avLst/>
          </a:prstGeom>
          <a:pattFill prst="lgGrid">
            <a:fgClr>
              <a:srgbClr val="CC99FF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0059" name="Rectangle 91"/>
          <p:cNvSpPr>
            <a:spLocks noChangeArrowheads="1"/>
          </p:cNvSpPr>
          <p:nvPr/>
        </p:nvSpPr>
        <p:spPr bwMode="auto">
          <a:xfrm>
            <a:off x="4278313" y="3749675"/>
            <a:ext cx="830262" cy="7270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algn="ctr" eaLnBrk="0" hangingPunct="0"/>
            <a:r>
              <a:rPr lang="en-US" sz="1400" b="1">
                <a:solidFill>
                  <a:schemeClr val="tx2"/>
                </a:solidFill>
                <a:latin typeface="Arial" charset="0"/>
              </a:rPr>
              <a:t>( 6 , 3 )</a:t>
            </a:r>
          </a:p>
          <a:p>
            <a:pPr algn="ctr" eaLnBrk="0" hangingPunct="0"/>
            <a:endParaRPr lang="en-US" sz="1400" b="1">
              <a:solidFill>
                <a:schemeClr val="tx2"/>
              </a:solidFill>
              <a:latin typeface="Arial" charset="0"/>
            </a:endParaRPr>
          </a:p>
          <a:p>
            <a:pPr algn="ctr" eaLnBrk="0" hangingPunct="0"/>
            <a:r>
              <a:rPr lang="en-US" sz="1400" b="1">
                <a:solidFill>
                  <a:schemeClr val="tx2"/>
                </a:solidFill>
                <a:latin typeface="Arial" charset="0"/>
              </a:rPr>
              <a:t>( 7 , 3 )</a:t>
            </a:r>
          </a:p>
        </p:txBody>
      </p:sp>
      <p:sp>
        <p:nvSpPr>
          <p:cNvPr id="340060" name="Line 92"/>
          <p:cNvSpPr>
            <a:spLocks noChangeShapeType="1"/>
          </p:cNvSpPr>
          <p:nvPr/>
        </p:nvSpPr>
        <p:spPr bwMode="auto">
          <a:xfrm flipH="1">
            <a:off x="1220788" y="2705100"/>
            <a:ext cx="76200" cy="76200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 type="triangle" w="med" len="lg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40061" name="Line 93"/>
          <p:cNvSpPr>
            <a:spLocks noChangeShapeType="1"/>
          </p:cNvSpPr>
          <p:nvPr/>
        </p:nvSpPr>
        <p:spPr bwMode="auto">
          <a:xfrm>
            <a:off x="2268538" y="2705100"/>
            <a:ext cx="152400" cy="76200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 type="triangle" w="med" len="lg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40062" name="Line 94"/>
          <p:cNvSpPr>
            <a:spLocks noChangeShapeType="1"/>
          </p:cNvSpPr>
          <p:nvPr/>
        </p:nvSpPr>
        <p:spPr bwMode="auto">
          <a:xfrm flipH="1">
            <a:off x="3382963" y="2705100"/>
            <a:ext cx="228600" cy="76200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 type="triangle" w="med" len="lg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40063" name="Line 95"/>
          <p:cNvSpPr>
            <a:spLocks noChangeShapeType="1"/>
          </p:cNvSpPr>
          <p:nvPr/>
        </p:nvSpPr>
        <p:spPr bwMode="auto">
          <a:xfrm>
            <a:off x="4554538" y="2705100"/>
            <a:ext cx="152400" cy="76200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 type="triangle" w="med" len="lg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40064" name="Freeform 96"/>
          <p:cNvSpPr>
            <a:spLocks/>
          </p:cNvSpPr>
          <p:nvPr/>
        </p:nvSpPr>
        <p:spPr bwMode="auto">
          <a:xfrm>
            <a:off x="838200" y="5029200"/>
            <a:ext cx="1190625" cy="1182688"/>
          </a:xfrm>
          <a:custGeom>
            <a:avLst/>
            <a:gdLst/>
            <a:ahLst/>
            <a:cxnLst>
              <a:cxn ang="0">
                <a:pos x="421" y="0"/>
              </a:cxn>
              <a:cxn ang="0">
                <a:pos x="293" y="152"/>
              </a:cxn>
              <a:cxn ang="0">
                <a:pos x="285" y="192"/>
              </a:cxn>
              <a:cxn ang="0">
                <a:pos x="149" y="272"/>
              </a:cxn>
              <a:cxn ang="0">
                <a:pos x="101" y="296"/>
              </a:cxn>
              <a:cxn ang="0">
                <a:pos x="61" y="392"/>
              </a:cxn>
              <a:cxn ang="0">
                <a:pos x="53" y="424"/>
              </a:cxn>
              <a:cxn ang="0">
                <a:pos x="29" y="440"/>
              </a:cxn>
              <a:cxn ang="0">
                <a:pos x="77" y="624"/>
              </a:cxn>
              <a:cxn ang="0">
                <a:pos x="141" y="696"/>
              </a:cxn>
              <a:cxn ang="0">
                <a:pos x="221" y="728"/>
              </a:cxn>
              <a:cxn ang="0">
                <a:pos x="269" y="744"/>
              </a:cxn>
              <a:cxn ang="0">
                <a:pos x="509" y="720"/>
              </a:cxn>
              <a:cxn ang="0">
                <a:pos x="557" y="664"/>
              </a:cxn>
              <a:cxn ang="0">
                <a:pos x="589" y="616"/>
              </a:cxn>
              <a:cxn ang="0">
                <a:pos x="605" y="592"/>
              </a:cxn>
              <a:cxn ang="0">
                <a:pos x="653" y="472"/>
              </a:cxn>
              <a:cxn ang="0">
                <a:pos x="685" y="280"/>
              </a:cxn>
              <a:cxn ang="0">
                <a:pos x="653" y="136"/>
              </a:cxn>
              <a:cxn ang="0">
                <a:pos x="645" y="96"/>
              </a:cxn>
              <a:cxn ang="0">
                <a:pos x="565" y="88"/>
              </a:cxn>
              <a:cxn ang="0">
                <a:pos x="557" y="56"/>
              </a:cxn>
              <a:cxn ang="0">
                <a:pos x="517" y="48"/>
              </a:cxn>
              <a:cxn ang="0">
                <a:pos x="493" y="32"/>
              </a:cxn>
              <a:cxn ang="0">
                <a:pos x="421" y="0"/>
              </a:cxn>
            </a:cxnLst>
            <a:rect l="0" t="0" r="r" b="b"/>
            <a:pathLst>
              <a:path w="685" h="745">
                <a:moveTo>
                  <a:pt x="421" y="0"/>
                </a:moveTo>
                <a:cubicBezTo>
                  <a:pt x="364" y="38"/>
                  <a:pt x="350" y="114"/>
                  <a:pt x="293" y="152"/>
                </a:cubicBezTo>
                <a:cubicBezTo>
                  <a:pt x="290" y="165"/>
                  <a:pt x="289" y="179"/>
                  <a:pt x="285" y="192"/>
                </a:cubicBezTo>
                <a:cubicBezTo>
                  <a:pt x="257" y="296"/>
                  <a:pt x="278" y="263"/>
                  <a:pt x="149" y="272"/>
                </a:cubicBezTo>
                <a:cubicBezTo>
                  <a:pt x="133" y="277"/>
                  <a:pt x="112" y="282"/>
                  <a:pt x="101" y="296"/>
                </a:cubicBezTo>
                <a:cubicBezTo>
                  <a:pt x="88" y="313"/>
                  <a:pt x="67" y="375"/>
                  <a:pt x="61" y="392"/>
                </a:cubicBezTo>
                <a:cubicBezTo>
                  <a:pt x="58" y="402"/>
                  <a:pt x="59" y="415"/>
                  <a:pt x="53" y="424"/>
                </a:cubicBezTo>
                <a:cubicBezTo>
                  <a:pt x="48" y="432"/>
                  <a:pt x="37" y="435"/>
                  <a:pt x="29" y="440"/>
                </a:cubicBezTo>
                <a:cubicBezTo>
                  <a:pt x="0" y="528"/>
                  <a:pt x="34" y="564"/>
                  <a:pt x="77" y="624"/>
                </a:cubicBezTo>
                <a:cubicBezTo>
                  <a:pt x="97" y="653"/>
                  <a:pt x="105" y="680"/>
                  <a:pt x="141" y="696"/>
                </a:cubicBezTo>
                <a:cubicBezTo>
                  <a:pt x="167" y="708"/>
                  <a:pt x="194" y="717"/>
                  <a:pt x="221" y="728"/>
                </a:cubicBezTo>
                <a:cubicBezTo>
                  <a:pt x="237" y="734"/>
                  <a:pt x="269" y="744"/>
                  <a:pt x="269" y="744"/>
                </a:cubicBezTo>
                <a:cubicBezTo>
                  <a:pt x="348" y="735"/>
                  <a:pt x="434" y="745"/>
                  <a:pt x="509" y="720"/>
                </a:cubicBezTo>
                <a:cubicBezTo>
                  <a:pt x="519" y="689"/>
                  <a:pt x="525" y="675"/>
                  <a:pt x="557" y="664"/>
                </a:cubicBezTo>
                <a:cubicBezTo>
                  <a:pt x="568" y="648"/>
                  <a:pt x="578" y="632"/>
                  <a:pt x="589" y="616"/>
                </a:cubicBezTo>
                <a:cubicBezTo>
                  <a:pt x="594" y="608"/>
                  <a:pt x="605" y="592"/>
                  <a:pt x="605" y="592"/>
                </a:cubicBezTo>
                <a:cubicBezTo>
                  <a:pt x="616" y="497"/>
                  <a:pt x="611" y="535"/>
                  <a:pt x="653" y="472"/>
                </a:cubicBezTo>
                <a:cubicBezTo>
                  <a:pt x="662" y="310"/>
                  <a:pt x="655" y="369"/>
                  <a:pt x="685" y="280"/>
                </a:cubicBezTo>
                <a:cubicBezTo>
                  <a:pt x="679" y="229"/>
                  <a:pt x="664" y="185"/>
                  <a:pt x="653" y="136"/>
                </a:cubicBezTo>
                <a:cubicBezTo>
                  <a:pt x="650" y="123"/>
                  <a:pt x="657" y="103"/>
                  <a:pt x="645" y="96"/>
                </a:cubicBezTo>
                <a:cubicBezTo>
                  <a:pt x="621" y="83"/>
                  <a:pt x="592" y="91"/>
                  <a:pt x="565" y="88"/>
                </a:cubicBezTo>
                <a:cubicBezTo>
                  <a:pt x="562" y="77"/>
                  <a:pt x="565" y="63"/>
                  <a:pt x="557" y="56"/>
                </a:cubicBezTo>
                <a:cubicBezTo>
                  <a:pt x="547" y="47"/>
                  <a:pt x="530" y="53"/>
                  <a:pt x="517" y="48"/>
                </a:cubicBezTo>
                <a:cubicBezTo>
                  <a:pt x="508" y="45"/>
                  <a:pt x="502" y="35"/>
                  <a:pt x="493" y="32"/>
                </a:cubicBezTo>
                <a:cubicBezTo>
                  <a:pt x="419" y="10"/>
                  <a:pt x="452" y="46"/>
                  <a:pt x="421" y="0"/>
                </a:cubicBezTo>
                <a:close/>
              </a:path>
            </a:pathLst>
          </a:custGeom>
          <a:solidFill>
            <a:schemeClr val="accent1"/>
          </a:solidFill>
          <a:ln w="19050" cap="flat" cmpd="sng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40065" name="Freeform 97"/>
          <p:cNvSpPr>
            <a:spLocks/>
          </p:cNvSpPr>
          <p:nvPr/>
        </p:nvSpPr>
        <p:spPr bwMode="auto">
          <a:xfrm>
            <a:off x="4343400" y="4953000"/>
            <a:ext cx="608013" cy="1257300"/>
          </a:xfrm>
          <a:custGeom>
            <a:avLst/>
            <a:gdLst/>
            <a:ahLst/>
            <a:cxnLst>
              <a:cxn ang="0">
                <a:pos x="144" y="33"/>
              </a:cxn>
              <a:cxn ang="0">
                <a:pos x="128" y="441"/>
              </a:cxn>
              <a:cxn ang="0">
                <a:pos x="104" y="465"/>
              </a:cxn>
              <a:cxn ang="0">
                <a:pos x="48" y="601"/>
              </a:cxn>
              <a:cxn ang="0">
                <a:pos x="16" y="649"/>
              </a:cxn>
              <a:cxn ang="0">
                <a:pos x="0" y="673"/>
              </a:cxn>
              <a:cxn ang="0">
                <a:pos x="176" y="761"/>
              </a:cxn>
              <a:cxn ang="0">
                <a:pos x="224" y="649"/>
              </a:cxn>
              <a:cxn ang="0">
                <a:pos x="280" y="577"/>
              </a:cxn>
              <a:cxn ang="0">
                <a:pos x="352" y="465"/>
              </a:cxn>
              <a:cxn ang="0">
                <a:pos x="352" y="273"/>
              </a:cxn>
              <a:cxn ang="0">
                <a:pos x="264" y="265"/>
              </a:cxn>
              <a:cxn ang="0">
                <a:pos x="240" y="137"/>
              </a:cxn>
              <a:cxn ang="0">
                <a:pos x="192" y="129"/>
              </a:cxn>
              <a:cxn ang="0">
                <a:pos x="184" y="57"/>
              </a:cxn>
              <a:cxn ang="0">
                <a:pos x="144" y="33"/>
              </a:cxn>
            </a:cxnLst>
            <a:rect l="0" t="0" r="r" b="b"/>
            <a:pathLst>
              <a:path w="383" h="761">
                <a:moveTo>
                  <a:pt x="144" y="33"/>
                </a:moveTo>
                <a:cubicBezTo>
                  <a:pt x="141" y="169"/>
                  <a:pt x="203" y="328"/>
                  <a:pt x="128" y="441"/>
                </a:cubicBezTo>
                <a:cubicBezTo>
                  <a:pt x="122" y="450"/>
                  <a:pt x="111" y="456"/>
                  <a:pt x="104" y="465"/>
                </a:cubicBezTo>
                <a:cubicBezTo>
                  <a:pt x="76" y="504"/>
                  <a:pt x="71" y="559"/>
                  <a:pt x="48" y="601"/>
                </a:cubicBezTo>
                <a:cubicBezTo>
                  <a:pt x="39" y="618"/>
                  <a:pt x="27" y="633"/>
                  <a:pt x="16" y="649"/>
                </a:cubicBezTo>
                <a:cubicBezTo>
                  <a:pt x="11" y="657"/>
                  <a:pt x="0" y="673"/>
                  <a:pt x="0" y="673"/>
                </a:cubicBezTo>
                <a:cubicBezTo>
                  <a:pt x="47" y="744"/>
                  <a:pt x="93" y="752"/>
                  <a:pt x="176" y="761"/>
                </a:cubicBezTo>
                <a:cubicBezTo>
                  <a:pt x="199" y="726"/>
                  <a:pt x="201" y="684"/>
                  <a:pt x="224" y="649"/>
                </a:cubicBezTo>
                <a:cubicBezTo>
                  <a:pt x="252" y="608"/>
                  <a:pt x="259" y="641"/>
                  <a:pt x="280" y="577"/>
                </a:cubicBezTo>
                <a:cubicBezTo>
                  <a:pt x="294" y="535"/>
                  <a:pt x="314" y="490"/>
                  <a:pt x="352" y="465"/>
                </a:cubicBezTo>
                <a:cubicBezTo>
                  <a:pt x="364" y="406"/>
                  <a:pt x="383" y="325"/>
                  <a:pt x="352" y="273"/>
                </a:cubicBezTo>
                <a:cubicBezTo>
                  <a:pt x="337" y="248"/>
                  <a:pt x="293" y="268"/>
                  <a:pt x="264" y="265"/>
                </a:cubicBezTo>
                <a:cubicBezTo>
                  <a:pt x="263" y="259"/>
                  <a:pt x="259" y="153"/>
                  <a:pt x="240" y="137"/>
                </a:cubicBezTo>
                <a:cubicBezTo>
                  <a:pt x="228" y="126"/>
                  <a:pt x="208" y="132"/>
                  <a:pt x="192" y="129"/>
                </a:cubicBezTo>
                <a:cubicBezTo>
                  <a:pt x="189" y="105"/>
                  <a:pt x="190" y="80"/>
                  <a:pt x="184" y="57"/>
                </a:cubicBezTo>
                <a:cubicBezTo>
                  <a:pt x="183" y="54"/>
                  <a:pt x="144" y="0"/>
                  <a:pt x="144" y="33"/>
                </a:cubicBezTo>
                <a:close/>
              </a:path>
            </a:pathLst>
          </a:custGeom>
          <a:solidFill>
            <a:schemeClr val="accent1"/>
          </a:solidFill>
          <a:ln w="19050" cap="flat" cmpd="sng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40069" name="Rectangle 101"/>
          <p:cNvSpPr>
            <a:spLocks noChangeArrowheads="1"/>
          </p:cNvSpPr>
          <p:nvPr/>
        </p:nvSpPr>
        <p:spPr bwMode="auto">
          <a:xfrm>
            <a:off x="5724525" y="4267200"/>
            <a:ext cx="3114675" cy="30162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algn="ctr" eaLnBrk="0" hangingPunct="0"/>
            <a:r>
              <a:rPr lang="en-US" sz="1400" b="1">
                <a:solidFill>
                  <a:schemeClr val="tx2"/>
                </a:solidFill>
                <a:latin typeface="Arial" charset="0"/>
              </a:rPr>
              <a:t>( 0 , 2 ) ≤ ( 7 , 4 ) ≤</a:t>
            </a:r>
            <a:r>
              <a:rPr lang="en-US" sz="1400">
                <a:latin typeface="Arial" charset="0"/>
              </a:rPr>
              <a:t> </a:t>
            </a:r>
            <a:r>
              <a:rPr lang="en-US" sz="1400" b="1">
                <a:solidFill>
                  <a:schemeClr val="tx2"/>
                </a:solidFill>
                <a:latin typeface="Arial" charset="0"/>
              </a:rPr>
              <a:t>( 7 , 4 ) ≤</a:t>
            </a:r>
            <a:r>
              <a:rPr lang="en-US" sz="1400">
                <a:latin typeface="Arial" charset="0"/>
              </a:rPr>
              <a:t> </a:t>
            </a:r>
            <a:r>
              <a:rPr lang="en-US" sz="1400" b="1">
                <a:solidFill>
                  <a:schemeClr val="tx2"/>
                </a:solidFill>
                <a:latin typeface="Arial" charset="0"/>
              </a:rPr>
              <a:t>( 6 , 3 )</a:t>
            </a:r>
            <a:endParaRPr lang="en-US" sz="1400">
              <a:latin typeface="Arial" charset="0"/>
            </a:endParaRPr>
          </a:p>
        </p:txBody>
      </p:sp>
      <p:sp>
        <p:nvSpPr>
          <p:cNvPr id="340070" name="Rectangle 102"/>
          <p:cNvSpPr>
            <a:spLocks noChangeArrowheads="1"/>
          </p:cNvSpPr>
          <p:nvPr/>
        </p:nvSpPr>
        <p:spPr bwMode="auto">
          <a:xfrm>
            <a:off x="5724525" y="4610100"/>
            <a:ext cx="3114675" cy="30162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algn="ctr" eaLnBrk="0" hangingPunct="0"/>
            <a:r>
              <a:rPr lang="en-US" sz="1400" b="1">
                <a:solidFill>
                  <a:schemeClr val="tx2"/>
                </a:solidFill>
                <a:latin typeface="Arial" charset="0"/>
              </a:rPr>
              <a:t>( 2 , 3 ) ≤ ( 7 , 4 ) ≤</a:t>
            </a:r>
            <a:r>
              <a:rPr lang="en-US" sz="1400">
                <a:latin typeface="Arial" charset="0"/>
              </a:rPr>
              <a:t> </a:t>
            </a:r>
            <a:r>
              <a:rPr lang="en-US" sz="1400" b="1">
                <a:solidFill>
                  <a:schemeClr val="tx2"/>
                </a:solidFill>
                <a:latin typeface="Arial" charset="0"/>
              </a:rPr>
              <a:t>( 4 , 3 ) ≤</a:t>
            </a:r>
            <a:r>
              <a:rPr lang="en-US" sz="1400">
                <a:latin typeface="Arial" charset="0"/>
              </a:rPr>
              <a:t> </a:t>
            </a:r>
            <a:r>
              <a:rPr lang="en-US" sz="1400" b="1">
                <a:solidFill>
                  <a:schemeClr val="tx2"/>
                </a:solidFill>
                <a:latin typeface="Arial" charset="0"/>
              </a:rPr>
              <a:t>( 6 , 3 )</a:t>
            </a:r>
            <a:endParaRPr lang="en-US" sz="1400">
              <a:latin typeface="Arial" charset="0"/>
            </a:endParaRPr>
          </a:p>
        </p:txBody>
      </p:sp>
      <p:sp>
        <p:nvSpPr>
          <p:cNvPr id="340071" name="Rectangle 103"/>
          <p:cNvSpPr>
            <a:spLocks noChangeArrowheads="1"/>
          </p:cNvSpPr>
          <p:nvPr/>
        </p:nvSpPr>
        <p:spPr bwMode="auto">
          <a:xfrm>
            <a:off x="5715000" y="4953000"/>
            <a:ext cx="3114675" cy="30162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algn="ctr" eaLnBrk="0" hangingPunct="0"/>
            <a:r>
              <a:rPr lang="en-US" sz="1400" b="1">
                <a:solidFill>
                  <a:schemeClr val="tx2"/>
                </a:solidFill>
                <a:latin typeface="Arial" charset="0"/>
              </a:rPr>
              <a:t>( 6 , 4 ) ≤ ( 7 , 4 ) ≤</a:t>
            </a:r>
            <a:r>
              <a:rPr lang="en-US" sz="1400">
                <a:latin typeface="Arial" charset="0"/>
              </a:rPr>
              <a:t> </a:t>
            </a:r>
            <a:r>
              <a:rPr lang="en-US" sz="1400" b="1">
                <a:solidFill>
                  <a:schemeClr val="tx2"/>
                </a:solidFill>
                <a:latin typeface="Arial" charset="0"/>
              </a:rPr>
              <a:t>( 20 , 5 ) ≤</a:t>
            </a:r>
            <a:r>
              <a:rPr lang="en-US" sz="1400">
                <a:latin typeface="Arial" charset="0"/>
              </a:rPr>
              <a:t> </a:t>
            </a:r>
            <a:r>
              <a:rPr lang="en-US" sz="1400" b="1">
                <a:solidFill>
                  <a:schemeClr val="tx2"/>
                </a:solidFill>
                <a:latin typeface="Arial" charset="0"/>
              </a:rPr>
              <a:t>( 6 , 3 )</a:t>
            </a:r>
            <a:endParaRPr lang="en-US" sz="1400">
              <a:latin typeface="Arial" charset="0"/>
            </a:endParaRPr>
          </a:p>
        </p:txBody>
      </p:sp>
      <p:sp>
        <p:nvSpPr>
          <p:cNvPr id="340072" name="Rectangle 104"/>
          <p:cNvSpPr>
            <a:spLocks noChangeArrowheads="1"/>
          </p:cNvSpPr>
          <p:nvPr/>
        </p:nvSpPr>
        <p:spPr bwMode="auto">
          <a:xfrm>
            <a:off x="5486400" y="5638800"/>
            <a:ext cx="3505200" cy="6985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algn="ctr" eaLnBrk="0" hangingPunct="0"/>
            <a:r>
              <a:rPr lang="en-US" sz="2000">
                <a:solidFill>
                  <a:schemeClr val="tx2"/>
                </a:solidFill>
                <a:latin typeface="Book Antiqua" pitchFamily="18" charset="0"/>
              </a:rPr>
              <a:t>Exact representations stored in a different location</a:t>
            </a:r>
            <a:endParaRPr lang="en-US" sz="2000">
              <a:latin typeface="Book Antiqua" pitchFamily="18" charset="0"/>
            </a:endParaRPr>
          </a:p>
        </p:txBody>
      </p:sp>
      <p:sp>
        <p:nvSpPr>
          <p:cNvPr id="340073" name="Rectangle 105"/>
          <p:cNvSpPr>
            <a:spLocks noChangeArrowheads="1"/>
          </p:cNvSpPr>
          <p:nvPr/>
        </p:nvSpPr>
        <p:spPr bwMode="auto">
          <a:xfrm>
            <a:off x="685800" y="4876800"/>
            <a:ext cx="4572000" cy="1447800"/>
          </a:xfrm>
          <a:prstGeom prst="rect">
            <a:avLst/>
          </a:prstGeom>
          <a:noFill/>
          <a:ln w="12700">
            <a:solidFill>
              <a:schemeClr val="hlink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0074" name="Line 106"/>
          <p:cNvSpPr>
            <a:spLocks noChangeShapeType="1"/>
          </p:cNvSpPr>
          <p:nvPr/>
        </p:nvSpPr>
        <p:spPr bwMode="auto">
          <a:xfrm flipH="1" flipV="1">
            <a:off x="5257800" y="5943600"/>
            <a:ext cx="533400" cy="152400"/>
          </a:xfrm>
          <a:prstGeom prst="line">
            <a:avLst/>
          </a:prstGeom>
          <a:noFill/>
          <a:ln w="12700">
            <a:solidFill>
              <a:schemeClr val="hlink"/>
            </a:solidFill>
            <a:miter lim="800000"/>
            <a:headEnd/>
            <a:tailEnd type="triangle" w="med" len="lg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40075" name="Oval 107"/>
          <p:cNvSpPr>
            <a:spLocks noChangeArrowheads="1"/>
          </p:cNvSpPr>
          <p:nvPr/>
        </p:nvSpPr>
        <p:spPr bwMode="auto">
          <a:xfrm>
            <a:off x="2743200" y="5638800"/>
            <a:ext cx="76200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0076" name="Oval 108"/>
          <p:cNvSpPr>
            <a:spLocks noChangeArrowheads="1"/>
          </p:cNvSpPr>
          <p:nvPr/>
        </p:nvSpPr>
        <p:spPr bwMode="auto">
          <a:xfrm>
            <a:off x="3048000" y="5638800"/>
            <a:ext cx="76200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0077" name="Oval 109"/>
          <p:cNvSpPr>
            <a:spLocks noChangeArrowheads="1"/>
          </p:cNvSpPr>
          <p:nvPr/>
        </p:nvSpPr>
        <p:spPr bwMode="auto">
          <a:xfrm>
            <a:off x="3352800" y="5638800"/>
            <a:ext cx="76200" cy="762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0078" name="Freeform 110"/>
          <p:cNvSpPr>
            <a:spLocks/>
          </p:cNvSpPr>
          <p:nvPr/>
        </p:nvSpPr>
        <p:spPr bwMode="auto">
          <a:xfrm>
            <a:off x="609600" y="3657600"/>
            <a:ext cx="304800" cy="1905000"/>
          </a:xfrm>
          <a:custGeom>
            <a:avLst/>
            <a:gdLst/>
            <a:ahLst/>
            <a:cxnLst>
              <a:cxn ang="0">
                <a:pos x="144" y="0"/>
              </a:cxn>
              <a:cxn ang="0">
                <a:pos x="0" y="0"/>
              </a:cxn>
              <a:cxn ang="0">
                <a:pos x="0" y="1200"/>
              </a:cxn>
              <a:cxn ang="0">
                <a:pos x="192" y="1200"/>
              </a:cxn>
            </a:cxnLst>
            <a:rect l="0" t="0" r="r" b="b"/>
            <a:pathLst>
              <a:path w="192" h="1200">
                <a:moveTo>
                  <a:pt x="144" y="0"/>
                </a:moveTo>
                <a:lnTo>
                  <a:pt x="0" y="0"/>
                </a:lnTo>
                <a:lnTo>
                  <a:pt x="0" y="1200"/>
                </a:lnTo>
                <a:lnTo>
                  <a:pt x="192" y="1200"/>
                </a:lnTo>
              </a:path>
            </a:pathLst>
          </a:custGeom>
          <a:noFill/>
          <a:ln w="19050" cap="flat" cmpd="sng">
            <a:solidFill>
              <a:schemeClr val="tx2"/>
            </a:solidFill>
            <a:prstDash val="solid"/>
            <a:miter lim="800000"/>
            <a:headEnd type="none" w="med" len="med"/>
            <a:tailEnd type="triangle" w="med" len="lg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40079" name="Freeform 111"/>
          <p:cNvSpPr>
            <a:spLocks/>
          </p:cNvSpPr>
          <p:nvPr/>
        </p:nvSpPr>
        <p:spPr bwMode="auto">
          <a:xfrm>
            <a:off x="4953000" y="3657600"/>
            <a:ext cx="381000" cy="1828800"/>
          </a:xfrm>
          <a:custGeom>
            <a:avLst/>
            <a:gdLst/>
            <a:ahLst/>
            <a:cxnLst>
              <a:cxn ang="0">
                <a:pos x="48" y="0"/>
              </a:cxn>
              <a:cxn ang="0">
                <a:pos x="240" y="0"/>
              </a:cxn>
              <a:cxn ang="0">
                <a:pos x="240" y="1152"/>
              </a:cxn>
              <a:cxn ang="0">
                <a:pos x="0" y="1152"/>
              </a:cxn>
            </a:cxnLst>
            <a:rect l="0" t="0" r="r" b="b"/>
            <a:pathLst>
              <a:path w="240" h="1152">
                <a:moveTo>
                  <a:pt x="48" y="0"/>
                </a:moveTo>
                <a:lnTo>
                  <a:pt x="240" y="0"/>
                </a:lnTo>
                <a:lnTo>
                  <a:pt x="240" y="1152"/>
                </a:lnTo>
                <a:lnTo>
                  <a:pt x="0" y="1152"/>
                </a:lnTo>
              </a:path>
            </a:pathLst>
          </a:custGeom>
          <a:noFill/>
          <a:ln w="19050" cap="flat" cmpd="sng">
            <a:solidFill>
              <a:schemeClr val="tx2"/>
            </a:solidFill>
            <a:prstDash val="solid"/>
            <a:miter lim="800000"/>
            <a:headEnd type="none" w="med" len="med"/>
            <a:tailEnd type="triangle" w="med" len="lg"/>
          </a:ln>
          <a:effectLst/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4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609600" y="533400"/>
            <a:ext cx="8534400" cy="762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Mapping to a B</a:t>
            </a:r>
            <a:r>
              <a:rPr lang="en-US" baseline="30000"/>
              <a:t>+</a:t>
            </a:r>
            <a:r>
              <a:rPr lang="en-US"/>
              <a:t>-Tree  -  Window Query</a:t>
            </a:r>
            <a:endParaRPr lang="bg-BG"/>
          </a:p>
        </p:txBody>
      </p:sp>
      <p:sp>
        <p:nvSpPr>
          <p:cNvPr id="3409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0075" y="1133475"/>
            <a:ext cx="8458200" cy="5181600"/>
          </a:xfrm>
          <a:noFill/>
          <a:ln/>
        </p:spPr>
        <p:txBody>
          <a:bodyPr/>
          <a:lstStyle/>
          <a:p>
            <a:pPr marL="228600" indent="-228600">
              <a:buFont typeface="Wingdings" pitchFamily="2" charset="2"/>
              <a:buChar char="n"/>
            </a:pPr>
            <a:r>
              <a:rPr lang="en-US" sz="2800"/>
              <a:t> </a:t>
            </a:r>
            <a:r>
              <a:rPr lang="bg-BG" sz="2800"/>
              <a:t>Window Query </a:t>
            </a:r>
            <a:r>
              <a:rPr lang="bg-BG" sz="2800">
                <a:sym typeface="Symbol" pitchFamily="18" charset="2"/>
              </a:rPr>
              <a:t></a:t>
            </a:r>
            <a:r>
              <a:rPr lang="en-US" sz="2800">
                <a:sym typeface="Symbol" pitchFamily="18" charset="2"/>
              </a:rPr>
              <a:t> </a:t>
            </a:r>
            <a:r>
              <a:rPr lang="bg-BG" sz="2800"/>
              <a:t>Range Query in the B</a:t>
            </a:r>
            <a:r>
              <a:rPr lang="bg-BG" sz="2800" baseline="30000"/>
              <a:t>+</a:t>
            </a:r>
            <a:r>
              <a:rPr lang="bg-BG" sz="2800"/>
              <a:t>-tree</a:t>
            </a:r>
          </a:p>
          <a:p>
            <a:pPr marL="749300" lvl="1" indent="-177800"/>
            <a:r>
              <a:rPr lang="en-US" sz="2400"/>
              <a:t> </a:t>
            </a:r>
            <a:r>
              <a:rPr lang="bg-BG" sz="2400"/>
              <a:t>find all entries (Z-Values) in the range [</a:t>
            </a:r>
            <a:r>
              <a:rPr lang="bg-BG" sz="2400" i="1"/>
              <a:t>l</a:t>
            </a:r>
            <a:r>
              <a:rPr lang="bg-BG" sz="2400"/>
              <a:t>, </a:t>
            </a:r>
            <a:r>
              <a:rPr lang="bg-BG" sz="2400" i="1"/>
              <a:t>u</a:t>
            </a:r>
            <a:r>
              <a:rPr lang="bg-BG" sz="2400"/>
              <a:t>] where</a:t>
            </a:r>
          </a:p>
          <a:p>
            <a:pPr marL="1790700" lvl="2" indent="-457200"/>
            <a:r>
              <a:rPr lang="bg-BG" sz="2000" i="1"/>
              <a:t>l </a:t>
            </a:r>
            <a:r>
              <a:rPr lang="bg-BG" sz="2000"/>
              <a:t>= smallest Z-Value of the window (bottom left corner)</a:t>
            </a:r>
          </a:p>
          <a:p>
            <a:pPr marL="1790700" lvl="2" indent="-457200"/>
            <a:r>
              <a:rPr lang="bg-BG" sz="2000" i="1"/>
              <a:t>u </a:t>
            </a:r>
            <a:r>
              <a:rPr lang="bg-BG" sz="2000"/>
              <a:t>= largest Z-Value of the window (top right corner)</a:t>
            </a:r>
          </a:p>
          <a:p>
            <a:pPr marL="1790700" lvl="2" indent="-457200"/>
            <a:r>
              <a:rPr lang="bg-BG" sz="2000" i="1"/>
              <a:t>l </a:t>
            </a:r>
            <a:r>
              <a:rPr lang="bg-BG" sz="2000"/>
              <a:t>and </a:t>
            </a:r>
            <a:r>
              <a:rPr lang="bg-BG" sz="2000" i="1"/>
              <a:t>u </a:t>
            </a:r>
            <a:r>
              <a:rPr lang="bg-BG" sz="2000"/>
              <a:t>are computed with respect to the maximum</a:t>
            </a:r>
            <a:r>
              <a:rPr lang="en-US" sz="2000"/>
              <a:t> </a:t>
            </a:r>
            <a:r>
              <a:rPr lang="bg-BG" sz="2000"/>
              <a:t>resolution/length of the Z-values in the tree (here:</a:t>
            </a:r>
            <a:r>
              <a:rPr lang="en-US" sz="2000"/>
              <a:t> </a:t>
            </a:r>
            <a:r>
              <a:rPr lang="bg-BG" sz="2000"/>
              <a:t>6)</a:t>
            </a:r>
          </a:p>
        </p:txBody>
      </p:sp>
      <p:sp>
        <p:nvSpPr>
          <p:cNvPr id="340997" name="Rectangle 5"/>
          <p:cNvSpPr>
            <a:spLocks noChangeArrowheads="1"/>
          </p:cNvSpPr>
          <p:nvPr/>
        </p:nvSpPr>
        <p:spPr bwMode="auto">
          <a:xfrm>
            <a:off x="6032500" y="3629025"/>
            <a:ext cx="2376488" cy="2376488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0998" name="Rectangle 6" descr="Dark upward diagonal"/>
          <p:cNvSpPr>
            <a:spLocks noChangeArrowheads="1"/>
          </p:cNvSpPr>
          <p:nvPr/>
        </p:nvSpPr>
        <p:spPr bwMode="auto">
          <a:xfrm>
            <a:off x="6032500" y="4822825"/>
            <a:ext cx="1189038" cy="1189038"/>
          </a:xfrm>
          <a:prstGeom prst="rect">
            <a:avLst/>
          </a:prstGeom>
          <a:pattFill prst="dkUpDiag">
            <a:fgClr>
              <a:srgbClr val="99CCFF"/>
            </a:fgClr>
            <a:bgClr>
              <a:schemeClr val="bg1"/>
            </a:bgClr>
          </a:patt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0999" name="Rectangle 7" descr="Dark upward diagonal"/>
          <p:cNvSpPr>
            <a:spLocks noChangeArrowheads="1"/>
          </p:cNvSpPr>
          <p:nvPr/>
        </p:nvSpPr>
        <p:spPr bwMode="auto">
          <a:xfrm>
            <a:off x="6629400" y="4238625"/>
            <a:ext cx="593725" cy="593725"/>
          </a:xfrm>
          <a:prstGeom prst="rect">
            <a:avLst/>
          </a:prstGeom>
          <a:pattFill prst="dkUpDiag">
            <a:fgClr>
              <a:srgbClr val="99CCFF"/>
            </a:fgClr>
            <a:bgClr>
              <a:schemeClr val="bg1"/>
            </a:bgClr>
          </a:patt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1000" name="Freeform 8"/>
          <p:cNvSpPr>
            <a:spLocks/>
          </p:cNvSpPr>
          <p:nvPr/>
        </p:nvSpPr>
        <p:spPr bwMode="auto">
          <a:xfrm>
            <a:off x="6019800" y="4821238"/>
            <a:ext cx="1190625" cy="1182687"/>
          </a:xfrm>
          <a:custGeom>
            <a:avLst/>
            <a:gdLst/>
            <a:ahLst/>
            <a:cxnLst>
              <a:cxn ang="0">
                <a:pos x="421" y="0"/>
              </a:cxn>
              <a:cxn ang="0">
                <a:pos x="293" y="152"/>
              </a:cxn>
              <a:cxn ang="0">
                <a:pos x="285" y="192"/>
              </a:cxn>
              <a:cxn ang="0">
                <a:pos x="149" y="272"/>
              </a:cxn>
              <a:cxn ang="0">
                <a:pos x="101" y="296"/>
              </a:cxn>
              <a:cxn ang="0">
                <a:pos x="61" y="392"/>
              </a:cxn>
              <a:cxn ang="0">
                <a:pos x="53" y="424"/>
              </a:cxn>
              <a:cxn ang="0">
                <a:pos x="29" y="440"/>
              </a:cxn>
              <a:cxn ang="0">
                <a:pos x="77" y="624"/>
              </a:cxn>
              <a:cxn ang="0">
                <a:pos x="141" y="696"/>
              </a:cxn>
              <a:cxn ang="0">
                <a:pos x="221" y="728"/>
              </a:cxn>
              <a:cxn ang="0">
                <a:pos x="269" y="744"/>
              </a:cxn>
              <a:cxn ang="0">
                <a:pos x="509" y="720"/>
              </a:cxn>
              <a:cxn ang="0">
                <a:pos x="557" y="664"/>
              </a:cxn>
              <a:cxn ang="0">
                <a:pos x="589" y="616"/>
              </a:cxn>
              <a:cxn ang="0">
                <a:pos x="605" y="592"/>
              </a:cxn>
              <a:cxn ang="0">
                <a:pos x="653" y="472"/>
              </a:cxn>
              <a:cxn ang="0">
                <a:pos x="685" y="280"/>
              </a:cxn>
              <a:cxn ang="0">
                <a:pos x="653" y="136"/>
              </a:cxn>
              <a:cxn ang="0">
                <a:pos x="645" y="96"/>
              </a:cxn>
              <a:cxn ang="0">
                <a:pos x="565" y="88"/>
              </a:cxn>
              <a:cxn ang="0">
                <a:pos x="557" y="56"/>
              </a:cxn>
              <a:cxn ang="0">
                <a:pos x="517" y="48"/>
              </a:cxn>
              <a:cxn ang="0">
                <a:pos x="493" y="32"/>
              </a:cxn>
              <a:cxn ang="0">
                <a:pos x="421" y="0"/>
              </a:cxn>
            </a:cxnLst>
            <a:rect l="0" t="0" r="r" b="b"/>
            <a:pathLst>
              <a:path w="685" h="745">
                <a:moveTo>
                  <a:pt x="421" y="0"/>
                </a:moveTo>
                <a:cubicBezTo>
                  <a:pt x="364" y="38"/>
                  <a:pt x="350" y="114"/>
                  <a:pt x="293" y="152"/>
                </a:cubicBezTo>
                <a:cubicBezTo>
                  <a:pt x="290" y="165"/>
                  <a:pt x="289" y="179"/>
                  <a:pt x="285" y="192"/>
                </a:cubicBezTo>
                <a:cubicBezTo>
                  <a:pt x="257" y="296"/>
                  <a:pt x="278" y="263"/>
                  <a:pt x="149" y="272"/>
                </a:cubicBezTo>
                <a:cubicBezTo>
                  <a:pt x="133" y="277"/>
                  <a:pt x="112" y="282"/>
                  <a:pt x="101" y="296"/>
                </a:cubicBezTo>
                <a:cubicBezTo>
                  <a:pt x="88" y="313"/>
                  <a:pt x="67" y="375"/>
                  <a:pt x="61" y="392"/>
                </a:cubicBezTo>
                <a:cubicBezTo>
                  <a:pt x="58" y="402"/>
                  <a:pt x="59" y="415"/>
                  <a:pt x="53" y="424"/>
                </a:cubicBezTo>
                <a:cubicBezTo>
                  <a:pt x="48" y="432"/>
                  <a:pt x="37" y="435"/>
                  <a:pt x="29" y="440"/>
                </a:cubicBezTo>
                <a:cubicBezTo>
                  <a:pt x="0" y="528"/>
                  <a:pt x="34" y="564"/>
                  <a:pt x="77" y="624"/>
                </a:cubicBezTo>
                <a:cubicBezTo>
                  <a:pt x="97" y="653"/>
                  <a:pt x="105" y="680"/>
                  <a:pt x="141" y="696"/>
                </a:cubicBezTo>
                <a:cubicBezTo>
                  <a:pt x="167" y="708"/>
                  <a:pt x="194" y="717"/>
                  <a:pt x="221" y="728"/>
                </a:cubicBezTo>
                <a:cubicBezTo>
                  <a:pt x="237" y="734"/>
                  <a:pt x="269" y="744"/>
                  <a:pt x="269" y="744"/>
                </a:cubicBezTo>
                <a:cubicBezTo>
                  <a:pt x="348" y="735"/>
                  <a:pt x="434" y="745"/>
                  <a:pt x="509" y="720"/>
                </a:cubicBezTo>
                <a:cubicBezTo>
                  <a:pt x="519" y="689"/>
                  <a:pt x="525" y="675"/>
                  <a:pt x="557" y="664"/>
                </a:cubicBezTo>
                <a:cubicBezTo>
                  <a:pt x="568" y="648"/>
                  <a:pt x="578" y="632"/>
                  <a:pt x="589" y="616"/>
                </a:cubicBezTo>
                <a:cubicBezTo>
                  <a:pt x="594" y="608"/>
                  <a:pt x="605" y="592"/>
                  <a:pt x="605" y="592"/>
                </a:cubicBezTo>
                <a:cubicBezTo>
                  <a:pt x="616" y="497"/>
                  <a:pt x="611" y="535"/>
                  <a:pt x="653" y="472"/>
                </a:cubicBezTo>
                <a:cubicBezTo>
                  <a:pt x="662" y="310"/>
                  <a:pt x="655" y="369"/>
                  <a:pt x="685" y="280"/>
                </a:cubicBezTo>
                <a:cubicBezTo>
                  <a:pt x="679" y="229"/>
                  <a:pt x="664" y="185"/>
                  <a:pt x="653" y="136"/>
                </a:cubicBezTo>
                <a:cubicBezTo>
                  <a:pt x="650" y="123"/>
                  <a:pt x="657" y="103"/>
                  <a:pt x="645" y="96"/>
                </a:cubicBezTo>
                <a:cubicBezTo>
                  <a:pt x="621" y="83"/>
                  <a:pt x="592" y="91"/>
                  <a:pt x="565" y="88"/>
                </a:cubicBezTo>
                <a:cubicBezTo>
                  <a:pt x="562" y="77"/>
                  <a:pt x="565" y="63"/>
                  <a:pt x="557" y="56"/>
                </a:cubicBezTo>
                <a:cubicBezTo>
                  <a:pt x="547" y="47"/>
                  <a:pt x="530" y="53"/>
                  <a:pt x="517" y="48"/>
                </a:cubicBezTo>
                <a:cubicBezTo>
                  <a:pt x="508" y="45"/>
                  <a:pt x="502" y="35"/>
                  <a:pt x="493" y="32"/>
                </a:cubicBezTo>
                <a:cubicBezTo>
                  <a:pt x="419" y="10"/>
                  <a:pt x="452" y="46"/>
                  <a:pt x="421" y="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9050" cap="flat" cmpd="sng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41001" name="Rectangle 9" descr="Dark upward diagonal"/>
          <p:cNvSpPr>
            <a:spLocks noChangeArrowheads="1"/>
          </p:cNvSpPr>
          <p:nvPr/>
        </p:nvSpPr>
        <p:spPr bwMode="auto">
          <a:xfrm>
            <a:off x="6032500" y="3629025"/>
            <a:ext cx="593725" cy="1203325"/>
          </a:xfrm>
          <a:prstGeom prst="rect">
            <a:avLst/>
          </a:prstGeom>
          <a:pattFill prst="dkUpDiag">
            <a:fgClr>
              <a:srgbClr val="99CCFF"/>
            </a:fgClr>
            <a:bgClr>
              <a:schemeClr val="bg1"/>
            </a:bgClr>
          </a:patt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1002" name="Rectangle 10" descr="Wave"/>
          <p:cNvSpPr>
            <a:spLocks noChangeArrowheads="1"/>
          </p:cNvSpPr>
          <p:nvPr/>
        </p:nvSpPr>
        <p:spPr bwMode="auto">
          <a:xfrm>
            <a:off x="6629400" y="3641725"/>
            <a:ext cx="593725" cy="593725"/>
          </a:xfrm>
          <a:prstGeom prst="rect">
            <a:avLst/>
          </a:prstGeom>
          <a:pattFill prst="wave">
            <a:fgClr>
              <a:srgbClr val="FFC1C1"/>
            </a:fgClr>
            <a:bgClr>
              <a:schemeClr val="bg1"/>
            </a:bgClr>
          </a:patt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1003" name="Rectangle 11" descr="Wave"/>
          <p:cNvSpPr>
            <a:spLocks noChangeArrowheads="1"/>
          </p:cNvSpPr>
          <p:nvPr/>
        </p:nvSpPr>
        <p:spPr bwMode="auto">
          <a:xfrm>
            <a:off x="7226300" y="4835525"/>
            <a:ext cx="593725" cy="1165225"/>
          </a:xfrm>
          <a:prstGeom prst="rect">
            <a:avLst/>
          </a:prstGeom>
          <a:pattFill prst="wave">
            <a:fgClr>
              <a:srgbClr val="FFC1C1"/>
            </a:fgClr>
            <a:bgClr>
              <a:schemeClr val="bg1"/>
            </a:bgClr>
          </a:patt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1004" name="Rectangle 12" descr="Large grid"/>
          <p:cNvSpPr>
            <a:spLocks noChangeArrowheads="1"/>
          </p:cNvSpPr>
          <p:nvPr/>
        </p:nvSpPr>
        <p:spPr bwMode="auto">
          <a:xfrm>
            <a:off x="7229475" y="3629025"/>
            <a:ext cx="593725" cy="1219200"/>
          </a:xfrm>
          <a:prstGeom prst="rect">
            <a:avLst/>
          </a:prstGeom>
          <a:pattFill prst="lgGrid">
            <a:fgClr>
              <a:srgbClr val="CC99FF"/>
            </a:fgClr>
            <a:bgClr>
              <a:schemeClr val="bg1"/>
            </a:bgClr>
          </a:patt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1005" name="Rectangle 13" descr="Large grid"/>
          <p:cNvSpPr>
            <a:spLocks noChangeArrowheads="1"/>
          </p:cNvSpPr>
          <p:nvPr/>
        </p:nvSpPr>
        <p:spPr bwMode="auto">
          <a:xfrm>
            <a:off x="7823200" y="3629025"/>
            <a:ext cx="593725" cy="1219200"/>
          </a:xfrm>
          <a:prstGeom prst="rect">
            <a:avLst/>
          </a:prstGeom>
          <a:pattFill prst="lgGrid">
            <a:fgClr>
              <a:srgbClr val="CC99FF"/>
            </a:fgClr>
            <a:bgClr>
              <a:schemeClr val="bg1"/>
            </a:bgClr>
          </a:patt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1006" name="Rectangle 14" descr="Weave"/>
          <p:cNvSpPr>
            <a:spLocks noChangeArrowheads="1"/>
          </p:cNvSpPr>
          <p:nvPr/>
        </p:nvSpPr>
        <p:spPr bwMode="auto">
          <a:xfrm>
            <a:off x="7823200" y="4851400"/>
            <a:ext cx="593725" cy="593725"/>
          </a:xfrm>
          <a:prstGeom prst="rect">
            <a:avLst/>
          </a:prstGeom>
          <a:pattFill prst="weave">
            <a:fgClr>
              <a:srgbClr val="99CC00"/>
            </a:fgClr>
            <a:bgClr>
              <a:schemeClr val="bg1"/>
            </a:bgClr>
          </a:patt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1007" name="Rectangle 15" descr="Wave"/>
          <p:cNvSpPr>
            <a:spLocks noChangeArrowheads="1"/>
          </p:cNvSpPr>
          <p:nvPr/>
        </p:nvSpPr>
        <p:spPr bwMode="auto">
          <a:xfrm>
            <a:off x="7826375" y="5448300"/>
            <a:ext cx="301625" cy="558800"/>
          </a:xfrm>
          <a:prstGeom prst="rect">
            <a:avLst/>
          </a:prstGeom>
          <a:pattFill prst="wave">
            <a:fgClr>
              <a:srgbClr val="FFC1C1"/>
            </a:fgClr>
            <a:bgClr>
              <a:schemeClr val="bg1"/>
            </a:bgClr>
          </a:patt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1008" name="Rectangle 16" descr="Weave"/>
          <p:cNvSpPr>
            <a:spLocks noChangeArrowheads="1"/>
          </p:cNvSpPr>
          <p:nvPr/>
        </p:nvSpPr>
        <p:spPr bwMode="auto">
          <a:xfrm>
            <a:off x="8118475" y="5445125"/>
            <a:ext cx="301625" cy="558800"/>
          </a:xfrm>
          <a:prstGeom prst="rect">
            <a:avLst/>
          </a:prstGeom>
          <a:pattFill prst="weave">
            <a:fgClr>
              <a:srgbClr val="99CC00"/>
            </a:fgClr>
            <a:bgClr>
              <a:schemeClr val="bg1"/>
            </a:bgClr>
          </a:patt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1009" name="Freeform 17"/>
          <p:cNvSpPr>
            <a:spLocks/>
          </p:cNvSpPr>
          <p:nvPr/>
        </p:nvSpPr>
        <p:spPr bwMode="auto">
          <a:xfrm>
            <a:off x="6051550" y="3638550"/>
            <a:ext cx="585788" cy="1190625"/>
          </a:xfrm>
          <a:custGeom>
            <a:avLst/>
            <a:gdLst/>
            <a:ahLst/>
            <a:cxnLst>
              <a:cxn ang="0">
                <a:pos x="160" y="0"/>
              </a:cxn>
              <a:cxn ang="0">
                <a:pos x="80" y="96"/>
              </a:cxn>
              <a:cxn ang="0">
                <a:pos x="32" y="224"/>
              </a:cxn>
              <a:cxn ang="0">
                <a:pos x="16" y="248"/>
              </a:cxn>
              <a:cxn ang="0">
                <a:pos x="0" y="296"/>
              </a:cxn>
              <a:cxn ang="0">
                <a:pos x="8" y="456"/>
              </a:cxn>
              <a:cxn ang="0">
                <a:pos x="152" y="728"/>
              </a:cxn>
              <a:cxn ang="0">
                <a:pos x="232" y="736"/>
              </a:cxn>
              <a:cxn ang="0">
                <a:pos x="328" y="640"/>
              </a:cxn>
              <a:cxn ang="0">
                <a:pos x="336" y="504"/>
              </a:cxn>
              <a:cxn ang="0">
                <a:pos x="352" y="456"/>
              </a:cxn>
              <a:cxn ang="0">
                <a:pos x="336" y="280"/>
              </a:cxn>
              <a:cxn ang="0">
                <a:pos x="288" y="240"/>
              </a:cxn>
              <a:cxn ang="0">
                <a:pos x="240" y="224"/>
              </a:cxn>
              <a:cxn ang="0">
                <a:pos x="232" y="112"/>
              </a:cxn>
              <a:cxn ang="0">
                <a:pos x="224" y="56"/>
              </a:cxn>
              <a:cxn ang="0">
                <a:pos x="184" y="48"/>
              </a:cxn>
              <a:cxn ang="0">
                <a:pos x="160" y="0"/>
              </a:cxn>
            </a:cxnLst>
            <a:rect l="0" t="0" r="r" b="b"/>
            <a:pathLst>
              <a:path w="369" h="750">
                <a:moveTo>
                  <a:pt x="160" y="0"/>
                </a:moveTo>
                <a:cubicBezTo>
                  <a:pt x="144" y="49"/>
                  <a:pt x="130" y="79"/>
                  <a:pt x="80" y="96"/>
                </a:cubicBezTo>
                <a:cubicBezTo>
                  <a:pt x="54" y="135"/>
                  <a:pt x="57" y="186"/>
                  <a:pt x="32" y="224"/>
                </a:cubicBezTo>
                <a:cubicBezTo>
                  <a:pt x="27" y="232"/>
                  <a:pt x="20" y="239"/>
                  <a:pt x="16" y="248"/>
                </a:cubicBezTo>
                <a:cubicBezTo>
                  <a:pt x="9" y="263"/>
                  <a:pt x="0" y="296"/>
                  <a:pt x="0" y="296"/>
                </a:cubicBezTo>
                <a:cubicBezTo>
                  <a:pt x="3" y="349"/>
                  <a:pt x="4" y="403"/>
                  <a:pt x="8" y="456"/>
                </a:cubicBezTo>
                <a:cubicBezTo>
                  <a:pt x="18" y="590"/>
                  <a:pt x="83" y="625"/>
                  <a:pt x="152" y="728"/>
                </a:cubicBezTo>
                <a:cubicBezTo>
                  <a:pt x="167" y="750"/>
                  <a:pt x="205" y="733"/>
                  <a:pt x="232" y="736"/>
                </a:cubicBezTo>
                <a:cubicBezTo>
                  <a:pt x="297" y="723"/>
                  <a:pt x="308" y="701"/>
                  <a:pt x="328" y="640"/>
                </a:cubicBezTo>
                <a:cubicBezTo>
                  <a:pt x="331" y="595"/>
                  <a:pt x="330" y="549"/>
                  <a:pt x="336" y="504"/>
                </a:cubicBezTo>
                <a:cubicBezTo>
                  <a:pt x="338" y="487"/>
                  <a:pt x="352" y="456"/>
                  <a:pt x="352" y="456"/>
                </a:cubicBezTo>
                <a:cubicBezTo>
                  <a:pt x="349" y="397"/>
                  <a:pt x="369" y="329"/>
                  <a:pt x="336" y="280"/>
                </a:cubicBezTo>
                <a:cubicBezTo>
                  <a:pt x="328" y="268"/>
                  <a:pt x="302" y="246"/>
                  <a:pt x="288" y="240"/>
                </a:cubicBezTo>
                <a:cubicBezTo>
                  <a:pt x="273" y="233"/>
                  <a:pt x="240" y="224"/>
                  <a:pt x="240" y="224"/>
                </a:cubicBezTo>
                <a:cubicBezTo>
                  <a:pt x="237" y="187"/>
                  <a:pt x="236" y="149"/>
                  <a:pt x="232" y="112"/>
                </a:cubicBezTo>
                <a:cubicBezTo>
                  <a:pt x="230" y="93"/>
                  <a:pt x="235" y="71"/>
                  <a:pt x="224" y="56"/>
                </a:cubicBezTo>
                <a:cubicBezTo>
                  <a:pt x="216" y="45"/>
                  <a:pt x="197" y="51"/>
                  <a:pt x="184" y="48"/>
                </a:cubicBezTo>
                <a:cubicBezTo>
                  <a:pt x="151" y="26"/>
                  <a:pt x="160" y="42"/>
                  <a:pt x="160" y="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9050" cap="flat" cmpd="sng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41010" name="Freeform 18"/>
          <p:cNvSpPr>
            <a:spLocks/>
          </p:cNvSpPr>
          <p:nvPr/>
        </p:nvSpPr>
        <p:spPr bwMode="auto">
          <a:xfrm>
            <a:off x="7251700" y="4819650"/>
            <a:ext cx="649288" cy="1231900"/>
          </a:xfrm>
          <a:custGeom>
            <a:avLst/>
            <a:gdLst/>
            <a:ahLst/>
            <a:cxnLst>
              <a:cxn ang="0">
                <a:pos x="168" y="16"/>
              </a:cxn>
              <a:cxn ang="0">
                <a:pos x="104" y="88"/>
              </a:cxn>
              <a:cxn ang="0">
                <a:pos x="144" y="296"/>
              </a:cxn>
              <a:cxn ang="0">
                <a:pos x="224" y="320"/>
              </a:cxn>
              <a:cxn ang="0">
                <a:pos x="216" y="560"/>
              </a:cxn>
              <a:cxn ang="0">
                <a:pos x="168" y="608"/>
              </a:cxn>
              <a:cxn ang="0">
                <a:pos x="0" y="704"/>
              </a:cxn>
              <a:cxn ang="0">
                <a:pos x="152" y="736"/>
              </a:cxn>
              <a:cxn ang="0">
                <a:pos x="216" y="688"/>
              </a:cxn>
              <a:cxn ang="0">
                <a:pos x="248" y="600"/>
              </a:cxn>
              <a:cxn ang="0">
                <a:pos x="264" y="552"/>
              </a:cxn>
              <a:cxn ang="0">
                <a:pos x="272" y="496"/>
              </a:cxn>
              <a:cxn ang="0">
                <a:pos x="288" y="472"/>
              </a:cxn>
              <a:cxn ang="0">
                <a:pos x="304" y="424"/>
              </a:cxn>
              <a:cxn ang="0">
                <a:pos x="312" y="392"/>
              </a:cxn>
              <a:cxn ang="0">
                <a:pos x="328" y="344"/>
              </a:cxn>
              <a:cxn ang="0">
                <a:pos x="264" y="48"/>
              </a:cxn>
              <a:cxn ang="0">
                <a:pos x="216" y="24"/>
              </a:cxn>
              <a:cxn ang="0">
                <a:pos x="168" y="16"/>
              </a:cxn>
            </a:cxnLst>
            <a:rect l="0" t="0" r="r" b="b"/>
            <a:pathLst>
              <a:path w="409" h="776">
                <a:moveTo>
                  <a:pt x="168" y="16"/>
                </a:moveTo>
                <a:cubicBezTo>
                  <a:pt x="144" y="64"/>
                  <a:pt x="131" y="47"/>
                  <a:pt x="104" y="88"/>
                </a:cubicBezTo>
                <a:cubicBezTo>
                  <a:pt x="105" y="119"/>
                  <a:pt x="78" y="274"/>
                  <a:pt x="144" y="296"/>
                </a:cubicBezTo>
                <a:cubicBezTo>
                  <a:pt x="187" y="289"/>
                  <a:pt x="209" y="276"/>
                  <a:pt x="224" y="320"/>
                </a:cubicBezTo>
                <a:cubicBezTo>
                  <a:pt x="221" y="400"/>
                  <a:pt x="231" y="481"/>
                  <a:pt x="216" y="560"/>
                </a:cubicBezTo>
                <a:cubicBezTo>
                  <a:pt x="212" y="582"/>
                  <a:pt x="187" y="595"/>
                  <a:pt x="168" y="608"/>
                </a:cubicBezTo>
                <a:cubicBezTo>
                  <a:pt x="116" y="643"/>
                  <a:pt x="59" y="684"/>
                  <a:pt x="0" y="704"/>
                </a:cubicBezTo>
                <a:cubicBezTo>
                  <a:pt x="18" y="776"/>
                  <a:pt x="76" y="741"/>
                  <a:pt x="152" y="736"/>
                </a:cubicBezTo>
                <a:cubicBezTo>
                  <a:pt x="164" y="700"/>
                  <a:pt x="180" y="697"/>
                  <a:pt x="216" y="688"/>
                </a:cubicBezTo>
                <a:cubicBezTo>
                  <a:pt x="226" y="658"/>
                  <a:pt x="239" y="631"/>
                  <a:pt x="248" y="600"/>
                </a:cubicBezTo>
                <a:cubicBezTo>
                  <a:pt x="253" y="584"/>
                  <a:pt x="264" y="552"/>
                  <a:pt x="264" y="552"/>
                </a:cubicBezTo>
                <a:cubicBezTo>
                  <a:pt x="267" y="533"/>
                  <a:pt x="267" y="514"/>
                  <a:pt x="272" y="496"/>
                </a:cubicBezTo>
                <a:cubicBezTo>
                  <a:pt x="275" y="487"/>
                  <a:pt x="284" y="481"/>
                  <a:pt x="288" y="472"/>
                </a:cubicBezTo>
                <a:cubicBezTo>
                  <a:pt x="295" y="457"/>
                  <a:pt x="300" y="440"/>
                  <a:pt x="304" y="424"/>
                </a:cubicBezTo>
                <a:cubicBezTo>
                  <a:pt x="307" y="413"/>
                  <a:pt x="309" y="403"/>
                  <a:pt x="312" y="392"/>
                </a:cubicBezTo>
                <a:cubicBezTo>
                  <a:pt x="317" y="376"/>
                  <a:pt x="328" y="344"/>
                  <a:pt x="328" y="344"/>
                </a:cubicBezTo>
                <a:cubicBezTo>
                  <a:pt x="326" y="267"/>
                  <a:pt x="409" y="0"/>
                  <a:pt x="264" y="48"/>
                </a:cubicBezTo>
                <a:cubicBezTo>
                  <a:pt x="252" y="40"/>
                  <a:pt x="233" y="24"/>
                  <a:pt x="216" y="24"/>
                </a:cubicBezTo>
                <a:cubicBezTo>
                  <a:pt x="166" y="24"/>
                  <a:pt x="218" y="49"/>
                  <a:pt x="168" y="16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9050" cap="flat" cmpd="sng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41011" name="Freeform 19"/>
          <p:cNvSpPr>
            <a:spLocks/>
          </p:cNvSpPr>
          <p:nvPr/>
        </p:nvSpPr>
        <p:spPr bwMode="auto">
          <a:xfrm>
            <a:off x="7823200" y="3581400"/>
            <a:ext cx="608013" cy="1257300"/>
          </a:xfrm>
          <a:custGeom>
            <a:avLst/>
            <a:gdLst/>
            <a:ahLst/>
            <a:cxnLst>
              <a:cxn ang="0">
                <a:pos x="144" y="33"/>
              </a:cxn>
              <a:cxn ang="0">
                <a:pos x="128" y="441"/>
              </a:cxn>
              <a:cxn ang="0">
                <a:pos x="104" y="465"/>
              </a:cxn>
              <a:cxn ang="0">
                <a:pos x="48" y="601"/>
              </a:cxn>
              <a:cxn ang="0">
                <a:pos x="16" y="649"/>
              </a:cxn>
              <a:cxn ang="0">
                <a:pos x="0" y="673"/>
              </a:cxn>
              <a:cxn ang="0">
                <a:pos x="176" y="761"/>
              </a:cxn>
              <a:cxn ang="0">
                <a:pos x="224" y="649"/>
              </a:cxn>
              <a:cxn ang="0">
                <a:pos x="280" y="577"/>
              </a:cxn>
              <a:cxn ang="0">
                <a:pos x="352" y="465"/>
              </a:cxn>
              <a:cxn ang="0">
                <a:pos x="352" y="273"/>
              </a:cxn>
              <a:cxn ang="0">
                <a:pos x="264" y="265"/>
              </a:cxn>
              <a:cxn ang="0">
                <a:pos x="240" y="137"/>
              </a:cxn>
              <a:cxn ang="0">
                <a:pos x="192" y="129"/>
              </a:cxn>
              <a:cxn ang="0">
                <a:pos x="184" y="57"/>
              </a:cxn>
              <a:cxn ang="0">
                <a:pos x="144" y="33"/>
              </a:cxn>
            </a:cxnLst>
            <a:rect l="0" t="0" r="r" b="b"/>
            <a:pathLst>
              <a:path w="383" h="761">
                <a:moveTo>
                  <a:pt x="144" y="33"/>
                </a:moveTo>
                <a:cubicBezTo>
                  <a:pt x="141" y="169"/>
                  <a:pt x="203" y="328"/>
                  <a:pt x="128" y="441"/>
                </a:cubicBezTo>
                <a:cubicBezTo>
                  <a:pt x="122" y="450"/>
                  <a:pt x="111" y="456"/>
                  <a:pt x="104" y="465"/>
                </a:cubicBezTo>
                <a:cubicBezTo>
                  <a:pt x="76" y="504"/>
                  <a:pt x="71" y="559"/>
                  <a:pt x="48" y="601"/>
                </a:cubicBezTo>
                <a:cubicBezTo>
                  <a:pt x="39" y="618"/>
                  <a:pt x="27" y="633"/>
                  <a:pt x="16" y="649"/>
                </a:cubicBezTo>
                <a:cubicBezTo>
                  <a:pt x="11" y="657"/>
                  <a:pt x="0" y="673"/>
                  <a:pt x="0" y="673"/>
                </a:cubicBezTo>
                <a:cubicBezTo>
                  <a:pt x="47" y="744"/>
                  <a:pt x="93" y="752"/>
                  <a:pt x="176" y="761"/>
                </a:cubicBezTo>
                <a:cubicBezTo>
                  <a:pt x="199" y="726"/>
                  <a:pt x="201" y="684"/>
                  <a:pt x="224" y="649"/>
                </a:cubicBezTo>
                <a:cubicBezTo>
                  <a:pt x="252" y="608"/>
                  <a:pt x="259" y="641"/>
                  <a:pt x="280" y="577"/>
                </a:cubicBezTo>
                <a:cubicBezTo>
                  <a:pt x="294" y="535"/>
                  <a:pt x="314" y="490"/>
                  <a:pt x="352" y="465"/>
                </a:cubicBezTo>
                <a:cubicBezTo>
                  <a:pt x="364" y="406"/>
                  <a:pt x="383" y="325"/>
                  <a:pt x="352" y="273"/>
                </a:cubicBezTo>
                <a:cubicBezTo>
                  <a:pt x="337" y="248"/>
                  <a:pt x="293" y="268"/>
                  <a:pt x="264" y="265"/>
                </a:cubicBezTo>
                <a:cubicBezTo>
                  <a:pt x="263" y="259"/>
                  <a:pt x="259" y="153"/>
                  <a:pt x="240" y="137"/>
                </a:cubicBezTo>
                <a:cubicBezTo>
                  <a:pt x="228" y="126"/>
                  <a:pt x="208" y="132"/>
                  <a:pt x="192" y="129"/>
                </a:cubicBezTo>
                <a:cubicBezTo>
                  <a:pt x="189" y="105"/>
                  <a:pt x="190" y="80"/>
                  <a:pt x="184" y="57"/>
                </a:cubicBezTo>
                <a:cubicBezTo>
                  <a:pt x="183" y="54"/>
                  <a:pt x="144" y="0"/>
                  <a:pt x="144" y="33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9050" cap="flat" cmpd="sng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41012" name="Freeform 20"/>
          <p:cNvSpPr>
            <a:spLocks/>
          </p:cNvSpPr>
          <p:nvPr/>
        </p:nvSpPr>
        <p:spPr bwMode="auto">
          <a:xfrm>
            <a:off x="7245350" y="3648075"/>
            <a:ext cx="568325" cy="1193800"/>
          </a:xfrm>
          <a:custGeom>
            <a:avLst/>
            <a:gdLst/>
            <a:ahLst/>
            <a:cxnLst>
              <a:cxn ang="0">
                <a:pos x="164" y="720"/>
              </a:cxn>
              <a:cxn ang="0">
                <a:pos x="36" y="640"/>
              </a:cxn>
              <a:cxn ang="0">
                <a:pos x="4" y="632"/>
              </a:cxn>
              <a:cxn ang="0">
                <a:pos x="20" y="608"/>
              </a:cxn>
              <a:cxn ang="0">
                <a:pos x="60" y="536"/>
              </a:cxn>
              <a:cxn ang="0">
                <a:pos x="100" y="464"/>
              </a:cxn>
              <a:cxn ang="0">
                <a:pos x="12" y="440"/>
              </a:cxn>
              <a:cxn ang="0">
                <a:pos x="36" y="392"/>
              </a:cxn>
              <a:cxn ang="0">
                <a:pos x="52" y="344"/>
              </a:cxn>
              <a:cxn ang="0">
                <a:pos x="68" y="296"/>
              </a:cxn>
              <a:cxn ang="0">
                <a:pos x="76" y="248"/>
              </a:cxn>
              <a:cxn ang="0">
                <a:pos x="124" y="240"/>
              </a:cxn>
              <a:cxn ang="0">
                <a:pos x="116" y="128"/>
              </a:cxn>
              <a:cxn ang="0">
                <a:pos x="108" y="104"/>
              </a:cxn>
              <a:cxn ang="0">
                <a:pos x="132" y="88"/>
              </a:cxn>
              <a:cxn ang="0">
                <a:pos x="140" y="48"/>
              </a:cxn>
              <a:cxn ang="0">
                <a:pos x="156" y="0"/>
              </a:cxn>
              <a:cxn ang="0">
                <a:pos x="172" y="24"/>
              </a:cxn>
              <a:cxn ang="0">
                <a:pos x="180" y="64"/>
              </a:cxn>
              <a:cxn ang="0">
                <a:pos x="220" y="72"/>
              </a:cxn>
              <a:cxn ang="0">
                <a:pos x="228" y="136"/>
              </a:cxn>
              <a:cxn ang="0">
                <a:pos x="252" y="144"/>
              </a:cxn>
              <a:cxn ang="0">
                <a:pos x="284" y="208"/>
              </a:cxn>
              <a:cxn ang="0">
                <a:pos x="356" y="440"/>
              </a:cxn>
              <a:cxn ang="0">
                <a:pos x="348" y="576"/>
              </a:cxn>
              <a:cxn ang="0">
                <a:pos x="284" y="672"/>
              </a:cxn>
              <a:cxn ang="0">
                <a:pos x="212" y="680"/>
              </a:cxn>
              <a:cxn ang="0">
                <a:pos x="188" y="776"/>
              </a:cxn>
              <a:cxn ang="0">
                <a:pos x="180" y="744"/>
              </a:cxn>
              <a:cxn ang="0">
                <a:pos x="172" y="720"/>
              </a:cxn>
              <a:cxn ang="0">
                <a:pos x="164" y="720"/>
              </a:cxn>
            </a:cxnLst>
            <a:rect l="0" t="0" r="r" b="b"/>
            <a:pathLst>
              <a:path w="358" h="776">
                <a:moveTo>
                  <a:pt x="164" y="720"/>
                </a:moveTo>
                <a:cubicBezTo>
                  <a:pt x="153" y="585"/>
                  <a:pt x="177" y="628"/>
                  <a:pt x="36" y="640"/>
                </a:cubicBezTo>
                <a:cubicBezTo>
                  <a:pt x="25" y="637"/>
                  <a:pt x="9" y="642"/>
                  <a:pt x="4" y="632"/>
                </a:cubicBezTo>
                <a:cubicBezTo>
                  <a:pt x="0" y="623"/>
                  <a:pt x="16" y="617"/>
                  <a:pt x="20" y="608"/>
                </a:cubicBezTo>
                <a:cubicBezTo>
                  <a:pt x="32" y="583"/>
                  <a:pt x="60" y="536"/>
                  <a:pt x="60" y="536"/>
                </a:cubicBezTo>
                <a:cubicBezTo>
                  <a:pt x="73" y="485"/>
                  <a:pt x="85" y="509"/>
                  <a:pt x="100" y="464"/>
                </a:cubicBezTo>
                <a:cubicBezTo>
                  <a:pt x="71" y="454"/>
                  <a:pt x="37" y="458"/>
                  <a:pt x="12" y="440"/>
                </a:cubicBezTo>
                <a:cubicBezTo>
                  <a:pt x="1" y="432"/>
                  <a:pt x="27" y="411"/>
                  <a:pt x="36" y="392"/>
                </a:cubicBezTo>
                <a:cubicBezTo>
                  <a:pt x="43" y="377"/>
                  <a:pt x="47" y="360"/>
                  <a:pt x="52" y="344"/>
                </a:cubicBezTo>
                <a:cubicBezTo>
                  <a:pt x="57" y="328"/>
                  <a:pt x="63" y="312"/>
                  <a:pt x="68" y="296"/>
                </a:cubicBezTo>
                <a:cubicBezTo>
                  <a:pt x="73" y="281"/>
                  <a:pt x="65" y="259"/>
                  <a:pt x="76" y="248"/>
                </a:cubicBezTo>
                <a:cubicBezTo>
                  <a:pt x="87" y="237"/>
                  <a:pt x="108" y="243"/>
                  <a:pt x="124" y="240"/>
                </a:cubicBezTo>
                <a:cubicBezTo>
                  <a:pt x="121" y="203"/>
                  <a:pt x="120" y="165"/>
                  <a:pt x="116" y="128"/>
                </a:cubicBezTo>
                <a:cubicBezTo>
                  <a:pt x="115" y="120"/>
                  <a:pt x="105" y="112"/>
                  <a:pt x="108" y="104"/>
                </a:cubicBezTo>
                <a:cubicBezTo>
                  <a:pt x="112" y="95"/>
                  <a:pt x="124" y="93"/>
                  <a:pt x="132" y="88"/>
                </a:cubicBezTo>
                <a:cubicBezTo>
                  <a:pt x="135" y="75"/>
                  <a:pt x="136" y="61"/>
                  <a:pt x="140" y="48"/>
                </a:cubicBezTo>
                <a:cubicBezTo>
                  <a:pt x="144" y="32"/>
                  <a:pt x="156" y="0"/>
                  <a:pt x="156" y="0"/>
                </a:cubicBezTo>
                <a:cubicBezTo>
                  <a:pt x="161" y="8"/>
                  <a:pt x="169" y="15"/>
                  <a:pt x="172" y="24"/>
                </a:cubicBezTo>
                <a:cubicBezTo>
                  <a:pt x="177" y="37"/>
                  <a:pt x="170" y="54"/>
                  <a:pt x="180" y="64"/>
                </a:cubicBezTo>
                <a:cubicBezTo>
                  <a:pt x="190" y="74"/>
                  <a:pt x="207" y="69"/>
                  <a:pt x="220" y="72"/>
                </a:cubicBezTo>
                <a:cubicBezTo>
                  <a:pt x="223" y="93"/>
                  <a:pt x="219" y="116"/>
                  <a:pt x="228" y="136"/>
                </a:cubicBezTo>
                <a:cubicBezTo>
                  <a:pt x="231" y="144"/>
                  <a:pt x="248" y="136"/>
                  <a:pt x="252" y="144"/>
                </a:cubicBezTo>
                <a:cubicBezTo>
                  <a:pt x="289" y="218"/>
                  <a:pt x="230" y="190"/>
                  <a:pt x="284" y="208"/>
                </a:cubicBezTo>
                <a:cubicBezTo>
                  <a:pt x="334" y="308"/>
                  <a:pt x="234" y="416"/>
                  <a:pt x="356" y="440"/>
                </a:cubicBezTo>
                <a:cubicBezTo>
                  <a:pt x="353" y="485"/>
                  <a:pt x="358" y="532"/>
                  <a:pt x="348" y="576"/>
                </a:cubicBezTo>
                <a:cubicBezTo>
                  <a:pt x="343" y="600"/>
                  <a:pt x="300" y="648"/>
                  <a:pt x="284" y="672"/>
                </a:cubicBezTo>
                <a:cubicBezTo>
                  <a:pt x="271" y="692"/>
                  <a:pt x="236" y="677"/>
                  <a:pt x="212" y="680"/>
                </a:cubicBezTo>
                <a:cubicBezTo>
                  <a:pt x="205" y="713"/>
                  <a:pt x="199" y="744"/>
                  <a:pt x="188" y="776"/>
                </a:cubicBezTo>
                <a:cubicBezTo>
                  <a:pt x="185" y="765"/>
                  <a:pt x="177" y="754"/>
                  <a:pt x="180" y="744"/>
                </a:cubicBezTo>
                <a:cubicBezTo>
                  <a:pt x="188" y="719"/>
                  <a:pt x="242" y="734"/>
                  <a:pt x="172" y="720"/>
                </a:cubicBezTo>
                <a:cubicBezTo>
                  <a:pt x="169" y="719"/>
                  <a:pt x="167" y="720"/>
                  <a:pt x="164" y="72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9050" cap="flat" cmpd="sng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41013" name="Freeform 21"/>
          <p:cNvSpPr>
            <a:spLocks/>
          </p:cNvSpPr>
          <p:nvPr/>
        </p:nvSpPr>
        <p:spPr bwMode="auto">
          <a:xfrm>
            <a:off x="6632575" y="3638550"/>
            <a:ext cx="600075" cy="601663"/>
          </a:xfrm>
          <a:custGeom>
            <a:avLst/>
            <a:gdLst/>
            <a:ahLst/>
            <a:cxnLst>
              <a:cxn ang="0">
                <a:pos x="168" y="0"/>
              </a:cxn>
              <a:cxn ang="0">
                <a:pos x="48" y="24"/>
              </a:cxn>
              <a:cxn ang="0">
                <a:pos x="0" y="80"/>
              </a:cxn>
              <a:cxn ang="0">
                <a:pos x="16" y="232"/>
              </a:cxn>
              <a:cxn ang="0">
                <a:pos x="192" y="320"/>
              </a:cxn>
              <a:cxn ang="0">
                <a:pos x="264" y="304"/>
              </a:cxn>
              <a:cxn ang="0">
                <a:pos x="280" y="280"/>
              </a:cxn>
              <a:cxn ang="0">
                <a:pos x="328" y="272"/>
              </a:cxn>
              <a:cxn ang="0">
                <a:pos x="336" y="160"/>
              </a:cxn>
              <a:cxn ang="0">
                <a:pos x="328" y="80"/>
              </a:cxn>
              <a:cxn ang="0">
                <a:pos x="216" y="40"/>
              </a:cxn>
              <a:cxn ang="0">
                <a:pos x="192" y="24"/>
              </a:cxn>
              <a:cxn ang="0">
                <a:pos x="168" y="0"/>
              </a:cxn>
            </a:cxnLst>
            <a:rect l="0" t="0" r="r" b="b"/>
            <a:pathLst>
              <a:path w="344" h="331">
                <a:moveTo>
                  <a:pt x="168" y="0"/>
                </a:moveTo>
                <a:cubicBezTo>
                  <a:pt x="125" y="11"/>
                  <a:pt x="93" y="18"/>
                  <a:pt x="48" y="24"/>
                </a:cubicBezTo>
                <a:cubicBezTo>
                  <a:pt x="16" y="35"/>
                  <a:pt x="10" y="49"/>
                  <a:pt x="0" y="80"/>
                </a:cubicBezTo>
                <a:cubicBezTo>
                  <a:pt x="5" y="131"/>
                  <a:pt x="11" y="181"/>
                  <a:pt x="16" y="232"/>
                </a:cubicBezTo>
                <a:cubicBezTo>
                  <a:pt x="22" y="291"/>
                  <a:pt x="155" y="316"/>
                  <a:pt x="192" y="320"/>
                </a:cubicBezTo>
                <a:cubicBezTo>
                  <a:pt x="225" y="331"/>
                  <a:pt x="235" y="323"/>
                  <a:pt x="264" y="304"/>
                </a:cubicBezTo>
                <a:cubicBezTo>
                  <a:pt x="269" y="296"/>
                  <a:pt x="271" y="284"/>
                  <a:pt x="280" y="280"/>
                </a:cubicBezTo>
                <a:cubicBezTo>
                  <a:pt x="295" y="273"/>
                  <a:pt x="321" y="287"/>
                  <a:pt x="328" y="272"/>
                </a:cubicBezTo>
                <a:cubicBezTo>
                  <a:pt x="344" y="238"/>
                  <a:pt x="333" y="197"/>
                  <a:pt x="336" y="160"/>
                </a:cubicBezTo>
                <a:cubicBezTo>
                  <a:pt x="333" y="133"/>
                  <a:pt x="336" y="105"/>
                  <a:pt x="328" y="80"/>
                </a:cubicBezTo>
                <a:cubicBezTo>
                  <a:pt x="320" y="57"/>
                  <a:pt x="220" y="41"/>
                  <a:pt x="216" y="40"/>
                </a:cubicBezTo>
                <a:cubicBezTo>
                  <a:pt x="208" y="35"/>
                  <a:pt x="201" y="27"/>
                  <a:pt x="192" y="24"/>
                </a:cubicBezTo>
                <a:cubicBezTo>
                  <a:pt x="144" y="8"/>
                  <a:pt x="125" y="29"/>
                  <a:pt x="168" y="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9050" cap="flat" cmpd="sng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41014" name="Freeform 22"/>
          <p:cNvSpPr>
            <a:spLocks/>
          </p:cNvSpPr>
          <p:nvPr/>
        </p:nvSpPr>
        <p:spPr bwMode="auto">
          <a:xfrm>
            <a:off x="6651625" y="4238625"/>
            <a:ext cx="555625" cy="571500"/>
          </a:xfrm>
          <a:custGeom>
            <a:avLst/>
            <a:gdLst/>
            <a:ahLst/>
            <a:cxnLst>
              <a:cxn ang="0">
                <a:pos x="152" y="0"/>
              </a:cxn>
              <a:cxn ang="0">
                <a:pos x="112" y="72"/>
              </a:cxn>
              <a:cxn ang="0">
                <a:pos x="104" y="104"/>
              </a:cxn>
              <a:cxn ang="0">
                <a:pos x="72" y="152"/>
              </a:cxn>
              <a:cxn ang="0">
                <a:pos x="32" y="256"/>
              </a:cxn>
              <a:cxn ang="0">
                <a:pos x="0" y="304"/>
              </a:cxn>
              <a:cxn ang="0">
                <a:pos x="104" y="360"/>
              </a:cxn>
              <a:cxn ang="0">
                <a:pos x="144" y="352"/>
              </a:cxn>
              <a:cxn ang="0">
                <a:pos x="160" y="328"/>
              </a:cxn>
              <a:cxn ang="0">
                <a:pos x="184" y="320"/>
              </a:cxn>
              <a:cxn ang="0">
                <a:pos x="232" y="280"/>
              </a:cxn>
              <a:cxn ang="0">
                <a:pos x="328" y="200"/>
              </a:cxn>
              <a:cxn ang="0">
                <a:pos x="328" y="112"/>
              </a:cxn>
              <a:cxn ang="0">
                <a:pos x="320" y="88"/>
              </a:cxn>
              <a:cxn ang="0">
                <a:pos x="272" y="72"/>
              </a:cxn>
              <a:cxn ang="0">
                <a:pos x="264" y="40"/>
              </a:cxn>
              <a:cxn ang="0">
                <a:pos x="192" y="32"/>
              </a:cxn>
              <a:cxn ang="0">
                <a:pos x="168" y="16"/>
              </a:cxn>
              <a:cxn ang="0">
                <a:pos x="144" y="8"/>
              </a:cxn>
              <a:cxn ang="0">
                <a:pos x="152" y="0"/>
              </a:cxn>
            </a:cxnLst>
            <a:rect l="0" t="0" r="r" b="b"/>
            <a:pathLst>
              <a:path w="350" h="360">
                <a:moveTo>
                  <a:pt x="152" y="0"/>
                </a:moveTo>
                <a:cubicBezTo>
                  <a:pt x="132" y="59"/>
                  <a:pt x="148" y="36"/>
                  <a:pt x="112" y="72"/>
                </a:cubicBezTo>
                <a:cubicBezTo>
                  <a:pt x="109" y="83"/>
                  <a:pt x="109" y="94"/>
                  <a:pt x="104" y="104"/>
                </a:cubicBezTo>
                <a:cubicBezTo>
                  <a:pt x="95" y="121"/>
                  <a:pt x="72" y="152"/>
                  <a:pt x="72" y="152"/>
                </a:cubicBezTo>
                <a:cubicBezTo>
                  <a:pt x="63" y="190"/>
                  <a:pt x="45" y="218"/>
                  <a:pt x="32" y="256"/>
                </a:cubicBezTo>
                <a:cubicBezTo>
                  <a:pt x="26" y="274"/>
                  <a:pt x="0" y="304"/>
                  <a:pt x="0" y="304"/>
                </a:cubicBezTo>
                <a:cubicBezTo>
                  <a:pt x="16" y="352"/>
                  <a:pt x="58" y="352"/>
                  <a:pt x="104" y="360"/>
                </a:cubicBezTo>
                <a:cubicBezTo>
                  <a:pt x="117" y="357"/>
                  <a:pt x="132" y="359"/>
                  <a:pt x="144" y="352"/>
                </a:cubicBezTo>
                <a:cubicBezTo>
                  <a:pt x="152" y="347"/>
                  <a:pt x="152" y="334"/>
                  <a:pt x="160" y="328"/>
                </a:cubicBezTo>
                <a:cubicBezTo>
                  <a:pt x="167" y="323"/>
                  <a:pt x="176" y="323"/>
                  <a:pt x="184" y="320"/>
                </a:cubicBezTo>
                <a:cubicBezTo>
                  <a:pt x="199" y="305"/>
                  <a:pt x="222" y="298"/>
                  <a:pt x="232" y="280"/>
                </a:cubicBezTo>
                <a:cubicBezTo>
                  <a:pt x="285" y="183"/>
                  <a:pt x="210" y="213"/>
                  <a:pt x="328" y="200"/>
                </a:cubicBezTo>
                <a:cubicBezTo>
                  <a:pt x="339" y="145"/>
                  <a:pt x="350" y="157"/>
                  <a:pt x="328" y="112"/>
                </a:cubicBezTo>
                <a:cubicBezTo>
                  <a:pt x="324" y="104"/>
                  <a:pt x="327" y="93"/>
                  <a:pt x="320" y="88"/>
                </a:cubicBezTo>
                <a:cubicBezTo>
                  <a:pt x="306" y="78"/>
                  <a:pt x="288" y="77"/>
                  <a:pt x="272" y="72"/>
                </a:cubicBezTo>
                <a:cubicBezTo>
                  <a:pt x="269" y="61"/>
                  <a:pt x="274" y="45"/>
                  <a:pt x="264" y="40"/>
                </a:cubicBezTo>
                <a:cubicBezTo>
                  <a:pt x="242" y="29"/>
                  <a:pt x="215" y="38"/>
                  <a:pt x="192" y="32"/>
                </a:cubicBezTo>
                <a:cubicBezTo>
                  <a:pt x="183" y="30"/>
                  <a:pt x="177" y="20"/>
                  <a:pt x="168" y="16"/>
                </a:cubicBezTo>
                <a:cubicBezTo>
                  <a:pt x="160" y="12"/>
                  <a:pt x="150" y="14"/>
                  <a:pt x="144" y="8"/>
                </a:cubicBezTo>
                <a:cubicBezTo>
                  <a:pt x="141" y="5"/>
                  <a:pt x="149" y="3"/>
                  <a:pt x="152" y="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9050" cap="flat" cmpd="sng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41015" name="Freeform 23"/>
          <p:cNvSpPr>
            <a:spLocks/>
          </p:cNvSpPr>
          <p:nvPr/>
        </p:nvSpPr>
        <p:spPr bwMode="auto">
          <a:xfrm>
            <a:off x="7794625" y="4838700"/>
            <a:ext cx="600075" cy="608013"/>
          </a:xfrm>
          <a:custGeom>
            <a:avLst/>
            <a:gdLst/>
            <a:ahLst/>
            <a:cxnLst>
              <a:cxn ang="0">
                <a:pos x="176" y="0"/>
              </a:cxn>
              <a:cxn ang="0">
                <a:pos x="88" y="104"/>
              </a:cxn>
              <a:cxn ang="0">
                <a:pos x="40" y="136"/>
              </a:cxn>
              <a:cxn ang="0">
                <a:pos x="64" y="304"/>
              </a:cxn>
              <a:cxn ang="0">
                <a:pos x="80" y="336"/>
              </a:cxn>
              <a:cxn ang="0">
                <a:pos x="184" y="352"/>
              </a:cxn>
              <a:cxn ang="0">
                <a:pos x="224" y="368"/>
              </a:cxn>
              <a:cxn ang="0">
                <a:pos x="256" y="376"/>
              </a:cxn>
              <a:cxn ang="0">
                <a:pos x="272" y="328"/>
              </a:cxn>
              <a:cxn ang="0">
                <a:pos x="296" y="312"/>
              </a:cxn>
              <a:cxn ang="0">
                <a:pos x="304" y="288"/>
              </a:cxn>
              <a:cxn ang="0">
                <a:pos x="328" y="256"/>
              </a:cxn>
              <a:cxn ang="0">
                <a:pos x="336" y="208"/>
              </a:cxn>
              <a:cxn ang="0">
                <a:pos x="352" y="160"/>
              </a:cxn>
              <a:cxn ang="0">
                <a:pos x="344" y="88"/>
              </a:cxn>
              <a:cxn ang="0">
                <a:pos x="320" y="80"/>
              </a:cxn>
              <a:cxn ang="0">
                <a:pos x="200" y="32"/>
              </a:cxn>
              <a:cxn ang="0">
                <a:pos x="176" y="0"/>
              </a:cxn>
            </a:cxnLst>
            <a:rect l="0" t="0" r="r" b="b"/>
            <a:pathLst>
              <a:path w="353" h="383">
                <a:moveTo>
                  <a:pt x="176" y="0"/>
                </a:moveTo>
                <a:cubicBezTo>
                  <a:pt x="146" y="39"/>
                  <a:pt x="124" y="68"/>
                  <a:pt x="88" y="104"/>
                </a:cubicBezTo>
                <a:cubicBezTo>
                  <a:pt x="74" y="118"/>
                  <a:pt x="40" y="136"/>
                  <a:pt x="40" y="136"/>
                </a:cubicBezTo>
                <a:cubicBezTo>
                  <a:pt x="0" y="196"/>
                  <a:pt x="29" y="252"/>
                  <a:pt x="64" y="304"/>
                </a:cubicBezTo>
                <a:cubicBezTo>
                  <a:pt x="71" y="314"/>
                  <a:pt x="70" y="330"/>
                  <a:pt x="80" y="336"/>
                </a:cubicBezTo>
                <a:cubicBezTo>
                  <a:pt x="110" y="355"/>
                  <a:pt x="149" y="347"/>
                  <a:pt x="184" y="352"/>
                </a:cubicBezTo>
                <a:cubicBezTo>
                  <a:pt x="197" y="357"/>
                  <a:pt x="210" y="363"/>
                  <a:pt x="224" y="368"/>
                </a:cubicBezTo>
                <a:cubicBezTo>
                  <a:pt x="234" y="371"/>
                  <a:pt x="248" y="383"/>
                  <a:pt x="256" y="376"/>
                </a:cubicBezTo>
                <a:cubicBezTo>
                  <a:pt x="269" y="365"/>
                  <a:pt x="258" y="337"/>
                  <a:pt x="272" y="328"/>
                </a:cubicBezTo>
                <a:cubicBezTo>
                  <a:pt x="280" y="323"/>
                  <a:pt x="288" y="317"/>
                  <a:pt x="296" y="312"/>
                </a:cubicBezTo>
                <a:cubicBezTo>
                  <a:pt x="299" y="304"/>
                  <a:pt x="300" y="295"/>
                  <a:pt x="304" y="288"/>
                </a:cubicBezTo>
                <a:cubicBezTo>
                  <a:pt x="311" y="276"/>
                  <a:pt x="323" y="268"/>
                  <a:pt x="328" y="256"/>
                </a:cubicBezTo>
                <a:cubicBezTo>
                  <a:pt x="334" y="241"/>
                  <a:pt x="332" y="224"/>
                  <a:pt x="336" y="208"/>
                </a:cubicBezTo>
                <a:cubicBezTo>
                  <a:pt x="340" y="192"/>
                  <a:pt x="352" y="160"/>
                  <a:pt x="352" y="160"/>
                </a:cubicBezTo>
                <a:cubicBezTo>
                  <a:pt x="349" y="136"/>
                  <a:pt x="353" y="110"/>
                  <a:pt x="344" y="88"/>
                </a:cubicBezTo>
                <a:cubicBezTo>
                  <a:pt x="341" y="80"/>
                  <a:pt x="328" y="84"/>
                  <a:pt x="320" y="80"/>
                </a:cubicBezTo>
                <a:cubicBezTo>
                  <a:pt x="277" y="58"/>
                  <a:pt x="249" y="40"/>
                  <a:pt x="200" y="32"/>
                </a:cubicBezTo>
                <a:cubicBezTo>
                  <a:pt x="172" y="13"/>
                  <a:pt x="176" y="26"/>
                  <a:pt x="176" y="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9050" cap="flat" cmpd="sng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41016" name="Freeform 24"/>
          <p:cNvSpPr>
            <a:spLocks/>
          </p:cNvSpPr>
          <p:nvPr/>
        </p:nvSpPr>
        <p:spPr bwMode="auto">
          <a:xfrm>
            <a:off x="7804150" y="5448300"/>
            <a:ext cx="338138" cy="561975"/>
          </a:xfrm>
          <a:custGeom>
            <a:avLst/>
            <a:gdLst/>
            <a:ahLst/>
            <a:cxnLst>
              <a:cxn ang="0">
                <a:pos x="97" y="0"/>
              </a:cxn>
              <a:cxn ang="0">
                <a:pos x="73" y="16"/>
              </a:cxn>
              <a:cxn ang="0">
                <a:pos x="33" y="80"/>
              </a:cxn>
              <a:cxn ang="0">
                <a:pos x="25" y="288"/>
              </a:cxn>
              <a:cxn ang="0">
                <a:pos x="73" y="304"/>
              </a:cxn>
              <a:cxn ang="0">
                <a:pos x="81" y="360"/>
              </a:cxn>
              <a:cxn ang="0">
                <a:pos x="113" y="352"/>
              </a:cxn>
              <a:cxn ang="0">
                <a:pos x="129" y="280"/>
              </a:cxn>
              <a:cxn ang="0">
                <a:pos x="161" y="200"/>
              </a:cxn>
              <a:cxn ang="0">
                <a:pos x="97" y="0"/>
              </a:cxn>
            </a:cxnLst>
            <a:rect l="0" t="0" r="r" b="b"/>
            <a:pathLst>
              <a:path w="177" h="368">
                <a:moveTo>
                  <a:pt x="97" y="0"/>
                </a:moveTo>
                <a:cubicBezTo>
                  <a:pt x="89" y="5"/>
                  <a:pt x="78" y="8"/>
                  <a:pt x="73" y="16"/>
                </a:cubicBezTo>
                <a:cubicBezTo>
                  <a:pt x="49" y="52"/>
                  <a:pt x="86" y="62"/>
                  <a:pt x="33" y="80"/>
                </a:cubicBezTo>
                <a:cubicBezTo>
                  <a:pt x="21" y="115"/>
                  <a:pt x="0" y="252"/>
                  <a:pt x="25" y="288"/>
                </a:cubicBezTo>
                <a:cubicBezTo>
                  <a:pt x="35" y="302"/>
                  <a:pt x="73" y="304"/>
                  <a:pt x="73" y="304"/>
                </a:cubicBezTo>
                <a:cubicBezTo>
                  <a:pt x="76" y="323"/>
                  <a:pt x="69" y="346"/>
                  <a:pt x="81" y="360"/>
                </a:cubicBezTo>
                <a:cubicBezTo>
                  <a:pt x="88" y="368"/>
                  <a:pt x="104" y="359"/>
                  <a:pt x="113" y="352"/>
                </a:cubicBezTo>
                <a:cubicBezTo>
                  <a:pt x="132" y="337"/>
                  <a:pt x="123" y="304"/>
                  <a:pt x="129" y="280"/>
                </a:cubicBezTo>
                <a:cubicBezTo>
                  <a:pt x="142" y="223"/>
                  <a:pt x="137" y="236"/>
                  <a:pt x="161" y="200"/>
                </a:cubicBezTo>
                <a:cubicBezTo>
                  <a:pt x="156" y="111"/>
                  <a:pt x="177" y="40"/>
                  <a:pt x="97" y="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9050" cap="flat" cmpd="sng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41017" name="Freeform 25"/>
          <p:cNvSpPr>
            <a:spLocks/>
          </p:cNvSpPr>
          <p:nvPr/>
        </p:nvSpPr>
        <p:spPr bwMode="auto">
          <a:xfrm>
            <a:off x="8089900" y="5457825"/>
            <a:ext cx="361950" cy="520700"/>
          </a:xfrm>
          <a:custGeom>
            <a:avLst/>
            <a:gdLst/>
            <a:ahLst/>
            <a:cxnLst>
              <a:cxn ang="0">
                <a:pos x="72" y="0"/>
              </a:cxn>
              <a:cxn ang="0">
                <a:pos x="32" y="80"/>
              </a:cxn>
              <a:cxn ang="0">
                <a:pos x="48" y="328"/>
              </a:cxn>
              <a:cxn ang="0">
                <a:pos x="104" y="320"/>
              </a:cxn>
              <a:cxn ang="0">
                <a:pos x="112" y="296"/>
              </a:cxn>
              <a:cxn ang="0">
                <a:pos x="136" y="280"/>
              </a:cxn>
              <a:cxn ang="0">
                <a:pos x="88" y="88"/>
              </a:cxn>
              <a:cxn ang="0">
                <a:pos x="72" y="0"/>
              </a:cxn>
            </a:cxnLst>
            <a:rect l="0" t="0" r="r" b="b"/>
            <a:pathLst>
              <a:path w="169" h="328">
                <a:moveTo>
                  <a:pt x="72" y="0"/>
                </a:moveTo>
                <a:cubicBezTo>
                  <a:pt x="35" y="25"/>
                  <a:pt x="45" y="40"/>
                  <a:pt x="32" y="80"/>
                </a:cubicBezTo>
                <a:cubicBezTo>
                  <a:pt x="20" y="162"/>
                  <a:pt x="0" y="256"/>
                  <a:pt x="48" y="328"/>
                </a:cubicBezTo>
                <a:cubicBezTo>
                  <a:pt x="67" y="325"/>
                  <a:pt x="87" y="328"/>
                  <a:pt x="104" y="320"/>
                </a:cubicBezTo>
                <a:cubicBezTo>
                  <a:pt x="112" y="316"/>
                  <a:pt x="107" y="303"/>
                  <a:pt x="112" y="296"/>
                </a:cubicBezTo>
                <a:cubicBezTo>
                  <a:pt x="118" y="288"/>
                  <a:pt x="128" y="285"/>
                  <a:pt x="136" y="280"/>
                </a:cubicBezTo>
                <a:cubicBezTo>
                  <a:pt x="160" y="207"/>
                  <a:pt x="169" y="108"/>
                  <a:pt x="88" y="88"/>
                </a:cubicBezTo>
                <a:cubicBezTo>
                  <a:pt x="72" y="64"/>
                  <a:pt x="46" y="26"/>
                  <a:pt x="72" y="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9050" cap="flat" cmpd="sng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41018" name="Freeform 26"/>
          <p:cNvSpPr>
            <a:spLocks/>
          </p:cNvSpPr>
          <p:nvPr/>
        </p:nvSpPr>
        <p:spPr bwMode="auto">
          <a:xfrm>
            <a:off x="2414588" y="3716338"/>
            <a:ext cx="1073150" cy="398462"/>
          </a:xfrm>
          <a:custGeom>
            <a:avLst/>
            <a:gdLst/>
            <a:ahLst/>
            <a:cxnLst>
              <a:cxn ang="0">
                <a:pos x="0" y="250"/>
              </a:cxn>
              <a:cxn ang="0">
                <a:pos x="0" y="0"/>
              </a:cxn>
              <a:cxn ang="0">
                <a:pos x="562" y="0"/>
              </a:cxn>
              <a:cxn ang="0">
                <a:pos x="562" y="250"/>
              </a:cxn>
              <a:cxn ang="0">
                <a:pos x="0" y="250"/>
              </a:cxn>
            </a:cxnLst>
            <a:rect l="0" t="0" r="r" b="b"/>
            <a:pathLst>
              <a:path w="563" h="251">
                <a:moveTo>
                  <a:pt x="0" y="250"/>
                </a:moveTo>
                <a:lnTo>
                  <a:pt x="0" y="0"/>
                </a:lnTo>
                <a:lnTo>
                  <a:pt x="562" y="0"/>
                </a:lnTo>
                <a:lnTo>
                  <a:pt x="562" y="250"/>
                </a:lnTo>
                <a:lnTo>
                  <a:pt x="0" y="250"/>
                </a:lnTo>
              </a:path>
            </a:pathLst>
          </a:custGeom>
          <a:solidFill>
            <a:schemeClr val="accent1"/>
          </a:solidFill>
          <a:ln w="1905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1019" name="Freeform 27"/>
          <p:cNvSpPr>
            <a:spLocks/>
          </p:cNvSpPr>
          <p:nvPr/>
        </p:nvSpPr>
        <p:spPr bwMode="auto">
          <a:xfrm>
            <a:off x="2533650" y="3706813"/>
            <a:ext cx="1588" cy="3984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250"/>
              </a:cxn>
              <a:cxn ang="0">
                <a:pos x="0" y="0"/>
              </a:cxn>
            </a:cxnLst>
            <a:rect l="0" t="0" r="r" b="b"/>
            <a:pathLst>
              <a:path w="1" h="251">
                <a:moveTo>
                  <a:pt x="0" y="0"/>
                </a:moveTo>
                <a:lnTo>
                  <a:pt x="0" y="25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1020" name="Freeform 28"/>
          <p:cNvSpPr>
            <a:spLocks/>
          </p:cNvSpPr>
          <p:nvPr/>
        </p:nvSpPr>
        <p:spPr bwMode="auto">
          <a:xfrm>
            <a:off x="3344863" y="3711575"/>
            <a:ext cx="1587" cy="39846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250"/>
              </a:cxn>
              <a:cxn ang="0">
                <a:pos x="0" y="0"/>
              </a:cxn>
            </a:cxnLst>
            <a:rect l="0" t="0" r="r" b="b"/>
            <a:pathLst>
              <a:path w="1" h="251">
                <a:moveTo>
                  <a:pt x="0" y="0"/>
                </a:moveTo>
                <a:lnTo>
                  <a:pt x="0" y="25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1023" name="Rectangle 31"/>
          <p:cNvSpPr>
            <a:spLocks noChangeArrowheads="1"/>
          </p:cNvSpPr>
          <p:nvPr/>
        </p:nvSpPr>
        <p:spPr bwMode="auto">
          <a:xfrm>
            <a:off x="2514600" y="3759200"/>
            <a:ext cx="830263" cy="30162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algn="ctr" eaLnBrk="0" hangingPunct="0"/>
            <a:r>
              <a:rPr lang="en-US" sz="1400" b="1">
                <a:solidFill>
                  <a:schemeClr val="tx2"/>
                </a:solidFill>
                <a:latin typeface="Arial" charset="0"/>
              </a:rPr>
              <a:t>( 6 , 3 )</a:t>
            </a:r>
          </a:p>
        </p:txBody>
      </p:sp>
      <p:sp>
        <p:nvSpPr>
          <p:cNvPr id="341025" name="Freeform 33"/>
          <p:cNvSpPr>
            <a:spLocks/>
          </p:cNvSpPr>
          <p:nvPr/>
        </p:nvSpPr>
        <p:spPr bwMode="auto">
          <a:xfrm>
            <a:off x="1254125" y="4224338"/>
            <a:ext cx="1073150" cy="398462"/>
          </a:xfrm>
          <a:custGeom>
            <a:avLst/>
            <a:gdLst/>
            <a:ahLst/>
            <a:cxnLst>
              <a:cxn ang="0">
                <a:pos x="0" y="250"/>
              </a:cxn>
              <a:cxn ang="0">
                <a:pos x="0" y="0"/>
              </a:cxn>
              <a:cxn ang="0">
                <a:pos x="562" y="0"/>
              </a:cxn>
              <a:cxn ang="0">
                <a:pos x="562" y="250"/>
              </a:cxn>
              <a:cxn ang="0">
                <a:pos x="0" y="250"/>
              </a:cxn>
            </a:cxnLst>
            <a:rect l="0" t="0" r="r" b="b"/>
            <a:pathLst>
              <a:path w="563" h="251">
                <a:moveTo>
                  <a:pt x="0" y="250"/>
                </a:moveTo>
                <a:lnTo>
                  <a:pt x="0" y="0"/>
                </a:lnTo>
                <a:lnTo>
                  <a:pt x="562" y="0"/>
                </a:lnTo>
                <a:lnTo>
                  <a:pt x="562" y="250"/>
                </a:lnTo>
                <a:lnTo>
                  <a:pt x="0" y="250"/>
                </a:lnTo>
              </a:path>
            </a:pathLst>
          </a:custGeom>
          <a:solidFill>
            <a:schemeClr val="accent1"/>
          </a:solidFill>
          <a:ln w="1905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1026" name="Freeform 34"/>
          <p:cNvSpPr>
            <a:spLocks/>
          </p:cNvSpPr>
          <p:nvPr/>
        </p:nvSpPr>
        <p:spPr bwMode="auto">
          <a:xfrm>
            <a:off x="1373188" y="4214813"/>
            <a:ext cx="1587" cy="3984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250"/>
              </a:cxn>
              <a:cxn ang="0">
                <a:pos x="0" y="0"/>
              </a:cxn>
            </a:cxnLst>
            <a:rect l="0" t="0" r="r" b="b"/>
            <a:pathLst>
              <a:path w="1" h="251">
                <a:moveTo>
                  <a:pt x="0" y="0"/>
                </a:moveTo>
                <a:lnTo>
                  <a:pt x="0" y="25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1027" name="Freeform 35"/>
          <p:cNvSpPr>
            <a:spLocks/>
          </p:cNvSpPr>
          <p:nvPr/>
        </p:nvSpPr>
        <p:spPr bwMode="auto">
          <a:xfrm>
            <a:off x="2184400" y="4219575"/>
            <a:ext cx="1588" cy="39846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250"/>
              </a:cxn>
              <a:cxn ang="0">
                <a:pos x="0" y="0"/>
              </a:cxn>
            </a:cxnLst>
            <a:rect l="0" t="0" r="r" b="b"/>
            <a:pathLst>
              <a:path w="1" h="251">
                <a:moveTo>
                  <a:pt x="0" y="0"/>
                </a:moveTo>
                <a:lnTo>
                  <a:pt x="0" y="25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1028" name="Rectangle 36"/>
          <p:cNvSpPr>
            <a:spLocks noChangeArrowheads="1"/>
          </p:cNvSpPr>
          <p:nvPr/>
        </p:nvSpPr>
        <p:spPr bwMode="auto">
          <a:xfrm>
            <a:off x="1354138" y="4267200"/>
            <a:ext cx="830262" cy="30162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algn="ctr" eaLnBrk="0" hangingPunct="0"/>
            <a:r>
              <a:rPr lang="en-US" sz="1400" b="1">
                <a:solidFill>
                  <a:schemeClr val="tx2"/>
                </a:solidFill>
                <a:latin typeface="Arial" charset="0"/>
              </a:rPr>
              <a:t>( 7 , 4 )</a:t>
            </a:r>
          </a:p>
        </p:txBody>
      </p:sp>
      <p:sp>
        <p:nvSpPr>
          <p:cNvPr id="341029" name="Freeform 37"/>
          <p:cNvSpPr>
            <a:spLocks/>
          </p:cNvSpPr>
          <p:nvPr/>
        </p:nvSpPr>
        <p:spPr bwMode="auto">
          <a:xfrm>
            <a:off x="3540125" y="4224338"/>
            <a:ext cx="1073150" cy="398462"/>
          </a:xfrm>
          <a:custGeom>
            <a:avLst/>
            <a:gdLst/>
            <a:ahLst/>
            <a:cxnLst>
              <a:cxn ang="0">
                <a:pos x="0" y="250"/>
              </a:cxn>
              <a:cxn ang="0">
                <a:pos x="0" y="0"/>
              </a:cxn>
              <a:cxn ang="0">
                <a:pos x="562" y="0"/>
              </a:cxn>
              <a:cxn ang="0">
                <a:pos x="562" y="250"/>
              </a:cxn>
              <a:cxn ang="0">
                <a:pos x="0" y="250"/>
              </a:cxn>
            </a:cxnLst>
            <a:rect l="0" t="0" r="r" b="b"/>
            <a:pathLst>
              <a:path w="563" h="251">
                <a:moveTo>
                  <a:pt x="0" y="250"/>
                </a:moveTo>
                <a:lnTo>
                  <a:pt x="0" y="0"/>
                </a:lnTo>
                <a:lnTo>
                  <a:pt x="562" y="0"/>
                </a:lnTo>
                <a:lnTo>
                  <a:pt x="562" y="250"/>
                </a:lnTo>
                <a:lnTo>
                  <a:pt x="0" y="250"/>
                </a:lnTo>
              </a:path>
            </a:pathLst>
          </a:custGeom>
          <a:solidFill>
            <a:schemeClr val="accent1"/>
          </a:solidFill>
          <a:ln w="1905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1030" name="Freeform 38"/>
          <p:cNvSpPr>
            <a:spLocks/>
          </p:cNvSpPr>
          <p:nvPr/>
        </p:nvSpPr>
        <p:spPr bwMode="auto">
          <a:xfrm>
            <a:off x="3659188" y="4214813"/>
            <a:ext cx="1587" cy="3984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250"/>
              </a:cxn>
              <a:cxn ang="0">
                <a:pos x="0" y="0"/>
              </a:cxn>
            </a:cxnLst>
            <a:rect l="0" t="0" r="r" b="b"/>
            <a:pathLst>
              <a:path w="1" h="251">
                <a:moveTo>
                  <a:pt x="0" y="0"/>
                </a:moveTo>
                <a:lnTo>
                  <a:pt x="0" y="25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1031" name="Freeform 39"/>
          <p:cNvSpPr>
            <a:spLocks/>
          </p:cNvSpPr>
          <p:nvPr/>
        </p:nvSpPr>
        <p:spPr bwMode="auto">
          <a:xfrm>
            <a:off x="4470400" y="4219575"/>
            <a:ext cx="1588" cy="39846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250"/>
              </a:cxn>
              <a:cxn ang="0">
                <a:pos x="0" y="0"/>
              </a:cxn>
            </a:cxnLst>
            <a:rect l="0" t="0" r="r" b="b"/>
            <a:pathLst>
              <a:path w="1" h="251">
                <a:moveTo>
                  <a:pt x="0" y="0"/>
                </a:moveTo>
                <a:lnTo>
                  <a:pt x="0" y="25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1032" name="Rectangle 40"/>
          <p:cNvSpPr>
            <a:spLocks noChangeArrowheads="1"/>
          </p:cNvSpPr>
          <p:nvPr/>
        </p:nvSpPr>
        <p:spPr bwMode="auto">
          <a:xfrm>
            <a:off x="3640138" y="4267200"/>
            <a:ext cx="830262" cy="30162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algn="ctr" eaLnBrk="0" hangingPunct="0"/>
            <a:r>
              <a:rPr lang="en-US" sz="1400" b="1">
                <a:solidFill>
                  <a:schemeClr val="tx2"/>
                </a:solidFill>
                <a:latin typeface="Arial" charset="0"/>
              </a:rPr>
              <a:t>( 6 , 3 )</a:t>
            </a:r>
          </a:p>
        </p:txBody>
      </p:sp>
      <p:sp>
        <p:nvSpPr>
          <p:cNvPr id="341033" name="Line 41"/>
          <p:cNvSpPr>
            <a:spLocks noChangeShapeType="1"/>
          </p:cNvSpPr>
          <p:nvPr/>
        </p:nvSpPr>
        <p:spPr bwMode="auto">
          <a:xfrm flipH="1">
            <a:off x="1811338" y="3886200"/>
            <a:ext cx="627062" cy="30480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 type="triangle" w="med" len="lg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41034" name="Line 42"/>
          <p:cNvSpPr>
            <a:spLocks noChangeShapeType="1"/>
          </p:cNvSpPr>
          <p:nvPr/>
        </p:nvSpPr>
        <p:spPr bwMode="auto">
          <a:xfrm>
            <a:off x="3408363" y="3905250"/>
            <a:ext cx="592137" cy="30480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 type="triangle" w="med" len="lg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41035" name="Rectangle 43" descr="Dark upward diagonal"/>
          <p:cNvSpPr>
            <a:spLocks noChangeArrowheads="1"/>
          </p:cNvSpPr>
          <p:nvPr/>
        </p:nvSpPr>
        <p:spPr bwMode="auto">
          <a:xfrm>
            <a:off x="773113" y="5181600"/>
            <a:ext cx="914400" cy="762000"/>
          </a:xfrm>
          <a:prstGeom prst="rect">
            <a:avLst/>
          </a:prstGeom>
          <a:pattFill prst="dkUpDiag">
            <a:fgClr>
              <a:srgbClr val="99CCFF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1036" name="Rectangle 44"/>
          <p:cNvSpPr>
            <a:spLocks noChangeArrowheads="1"/>
          </p:cNvSpPr>
          <p:nvPr/>
        </p:nvSpPr>
        <p:spPr bwMode="auto">
          <a:xfrm>
            <a:off x="773113" y="5181600"/>
            <a:ext cx="830262" cy="7270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algn="ctr" eaLnBrk="0" hangingPunct="0"/>
            <a:r>
              <a:rPr lang="en-US" sz="1400" b="1">
                <a:solidFill>
                  <a:schemeClr val="tx2"/>
                </a:solidFill>
                <a:latin typeface="Arial" charset="0"/>
              </a:rPr>
              <a:t>( 0 , 2 )</a:t>
            </a:r>
          </a:p>
          <a:p>
            <a:pPr algn="ctr" eaLnBrk="0" hangingPunct="0"/>
            <a:r>
              <a:rPr lang="en-US" sz="1400" b="1">
                <a:solidFill>
                  <a:schemeClr val="tx2"/>
                </a:solidFill>
                <a:latin typeface="Arial" charset="0"/>
              </a:rPr>
              <a:t>( 2 , 3 )</a:t>
            </a:r>
          </a:p>
          <a:p>
            <a:pPr algn="ctr" eaLnBrk="0" hangingPunct="0"/>
            <a:r>
              <a:rPr lang="en-US" sz="1400" b="1">
                <a:solidFill>
                  <a:schemeClr val="tx2"/>
                </a:solidFill>
                <a:latin typeface="Arial" charset="0"/>
              </a:rPr>
              <a:t>( 6 , 4 )</a:t>
            </a:r>
          </a:p>
        </p:txBody>
      </p:sp>
      <p:sp>
        <p:nvSpPr>
          <p:cNvPr id="341037" name="Rectangle 45" descr="Zig zag"/>
          <p:cNvSpPr>
            <a:spLocks noChangeArrowheads="1"/>
          </p:cNvSpPr>
          <p:nvPr/>
        </p:nvSpPr>
        <p:spPr bwMode="auto">
          <a:xfrm>
            <a:off x="1982788" y="5181600"/>
            <a:ext cx="914400" cy="762000"/>
          </a:xfrm>
          <a:prstGeom prst="rect">
            <a:avLst/>
          </a:prstGeom>
          <a:pattFill prst="zigZag">
            <a:fgClr>
              <a:srgbClr val="FFC1C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1038" name="Rectangle 46"/>
          <p:cNvSpPr>
            <a:spLocks noChangeArrowheads="1"/>
          </p:cNvSpPr>
          <p:nvPr/>
        </p:nvSpPr>
        <p:spPr bwMode="auto">
          <a:xfrm>
            <a:off x="2011363" y="5181600"/>
            <a:ext cx="830262" cy="7270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algn="ctr" eaLnBrk="0" hangingPunct="0"/>
            <a:r>
              <a:rPr lang="en-US" sz="1400" b="1">
                <a:solidFill>
                  <a:schemeClr val="tx2"/>
                </a:solidFill>
                <a:latin typeface="Arial" charset="0"/>
              </a:rPr>
              <a:t>( 7 , 4 )</a:t>
            </a:r>
          </a:p>
          <a:p>
            <a:pPr algn="ctr" eaLnBrk="0" hangingPunct="0"/>
            <a:r>
              <a:rPr lang="en-US" sz="1400" b="1">
                <a:solidFill>
                  <a:schemeClr val="tx2"/>
                </a:solidFill>
                <a:latin typeface="Arial" charset="0"/>
              </a:rPr>
              <a:t>( 4 , 3 )</a:t>
            </a:r>
          </a:p>
          <a:p>
            <a:pPr algn="ctr" eaLnBrk="0" hangingPunct="0"/>
            <a:r>
              <a:rPr lang="en-US" sz="1400" b="1">
                <a:solidFill>
                  <a:schemeClr val="tx2"/>
                </a:solidFill>
                <a:latin typeface="Arial" charset="0"/>
              </a:rPr>
              <a:t>( 20,5 )</a:t>
            </a:r>
          </a:p>
        </p:txBody>
      </p:sp>
      <p:sp>
        <p:nvSpPr>
          <p:cNvPr id="341039" name="Rectangle 47" descr="Weave"/>
          <p:cNvSpPr>
            <a:spLocks noChangeArrowheads="1"/>
          </p:cNvSpPr>
          <p:nvPr/>
        </p:nvSpPr>
        <p:spPr bwMode="auto">
          <a:xfrm>
            <a:off x="3030538" y="5181600"/>
            <a:ext cx="914400" cy="762000"/>
          </a:xfrm>
          <a:prstGeom prst="rect">
            <a:avLst/>
          </a:prstGeom>
          <a:pattFill prst="weave">
            <a:fgClr>
              <a:srgbClr val="99CC00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1040" name="Rectangle 48"/>
          <p:cNvSpPr>
            <a:spLocks noChangeArrowheads="1"/>
          </p:cNvSpPr>
          <p:nvPr/>
        </p:nvSpPr>
        <p:spPr bwMode="auto">
          <a:xfrm>
            <a:off x="3068638" y="5295900"/>
            <a:ext cx="830262" cy="51435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algn="ctr" eaLnBrk="0" hangingPunct="0"/>
            <a:r>
              <a:rPr lang="en-US" sz="1400" b="1">
                <a:solidFill>
                  <a:schemeClr val="tx2"/>
                </a:solidFill>
                <a:latin typeface="Arial" charset="0"/>
              </a:rPr>
              <a:t>( 21,5 )</a:t>
            </a:r>
          </a:p>
          <a:p>
            <a:pPr algn="ctr" eaLnBrk="0" hangingPunct="0"/>
            <a:r>
              <a:rPr lang="en-US" sz="1400" b="1">
                <a:solidFill>
                  <a:schemeClr val="tx2"/>
                </a:solidFill>
                <a:latin typeface="Arial" charset="0"/>
              </a:rPr>
              <a:t>( 11 ,4 )</a:t>
            </a:r>
          </a:p>
        </p:txBody>
      </p:sp>
      <p:sp>
        <p:nvSpPr>
          <p:cNvPr id="341041" name="Rectangle 49" descr="Large grid"/>
          <p:cNvSpPr>
            <a:spLocks noChangeArrowheads="1"/>
          </p:cNvSpPr>
          <p:nvPr/>
        </p:nvSpPr>
        <p:spPr bwMode="auto">
          <a:xfrm>
            <a:off x="4249738" y="5181600"/>
            <a:ext cx="914400" cy="762000"/>
          </a:xfrm>
          <a:prstGeom prst="rect">
            <a:avLst/>
          </a:prstGeom>
          <a:pattFill prst="lgGrid">
            <a:fgClr>
              <a:srgbClr val="CC99FF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1042" name="Rectangle 50"/>
          <p:cNvSpPr>
            <a:spLocks noChangeArrowheads="1"/>
          </p:cNvSpPr>
          <p:nvPr/>
        </p:nvSpPr>
        <p:spPr bwMode="auto">
          <a:xfrm>
            <a:off x="4278313" y="5305425"/>
            <a:ext cx="830262" cy="51435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algn="ctr" eaLnBrk="0" hangingPunct="0"/>
            <a:r>
              <a:rPr lang="en-US" sz="1400" b="1">
                <a:solidFill>
                  <a:schemeClr val="tx2"/>
                </a:solidFill>
                <a:latin typeface="Arial" charset="0"/>
              </a:rPr>
              <a:t>( 6 , 3 )</a:t>
            </a:r>
          </a:p>
          <a:p>
            <a:pPr algn="ctr" eaLnBrk="0" hangingPunct="0"/>
            <a:r>
              <a:rPr lang="en-US" sz="1400" b="1">
                <a:solidFill>
                  <a:schemeClr val="tx2"/>
                </a:solidFill>
                <a:latin typeface="Arial" charset="0"/>
              </a:rPr>
              <a:t>( 7 , 3 )</a:t>
            </a:r>
          </a:p>
        </p:txBody>
      </p:sp>
      <p:sp>
        <p:nvSpPr>
          <p:cNvPr id="341043" name="Line 51"/>
          <p:cNvSpPr>
            <a:spLocks noChangeShapeType="1"/>
          </p:cNvSpPr>
          <p:nvPr/>
        </p:nvSpPr>
        <p:spPr bwMode="auto">
          <a:xfrm flipH="1">
            <a:off x="1220788" y="4419600"/>
            <a:ext cx="76200" cy="76200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 type="triangle" w="med" len="lg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41044" name="Line 52"/>
          <p:cNvSpPr>
            <a:spLocks noChangeShapeType="1"/>
          </p:cNvSpPr>
          <p:nvPr/>
        </p:nvSpPr>
        <p:spPr bwMode="auto">
          <a:xfrm>
            <a:off x="2268538" y="4419600"/>
            <a:ext cx="152400" cy="76200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 type="triangle" w="med" len="lg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41045" name="Line 53"/>
          <p:cNvSpPr>
            <a:spLocks noChangeShapeType="1"/>
          </p:cNvSpPr>
          <p:nvPr/>
        </p:nvSpPr>
        <p:spPr bwMode="auto">
          <a:xfrm flipH="1">
            <a:off x="3382963" y="4419600"/>
            <a:ext cx="228600" cy="76200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 type="triangle" w="med" len="lg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41046" name="Line 54"/>
          <p:cNvSpPr>
            <a:spLocks noChangeShapeType="1"/>
          </p:cNvSpPr>
          <p:nvPr/>
        </p:nvSpPr>
        <p:spPr bwMode="auto">
          <a:xfrm>
            <a:off x="4554538" y="4419600"/>
            <a:ext cx="152400" cy="76200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 type="triangle" w="med" len="lg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41048" name="Rectangle 56"/>
          <p:cNvSpPr>
            <a:spLocks noChangeArrowheads="1"/>
          </p:cNvSpPr>
          <p:nvPr/>
        </p:nvSpPr>
        <p:spPr bwMode="auto">
          <a:xfrm>
            <a:off x="6029325" y="5781675"/>
            <a:ext cx="1190625" cy="228600"/>
          </a:xfrm>
          <a:prstGeom prst="rect">
            <a:avLst/>
          </a:prstGeom>
          <a:solidFill>
            <a:schemeClr val="accent1">
              <a:alpha val="50000"/>
            </a:schemeClr>
          </a:solidFill>
          <a:ln w="3175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1049" name="Rectangle 57"/>
          <p:cNvSpPr>
            <a:spLocks noChangeArrowheads="1"/>
          </p:cNvSpPr>
          <p:nvPr/>
        </p:nvSpPr>
        <p:spPr bwMode="auto">
          <a:xfrm>
            <a:off x="5180013" y="6096000"/>
            <a:ext cx="40401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bg-BG" sz="2000">
                <a:solidFill>
                  <a:schemeClr val="folHlink"/>
                </a:solidFill>
                <a:latin typeface="Book Antiqua" pitchFamily="18" charset="0"/>
              </a:rPr>
              <a:t>Window: Min = (0,6), Max = (10,6)</a:t>
            </a:r>
          </a:p>
        </p:txBody>
      </p:sp>
      <p:sp>
        <p:nvSpPr>
          <p:cNvPr id="341050" name="Line 58"/>
          <p:cNvSpPr>
            <a:spLocks noChangeShapeType="1"/>
          </p:cNvSpPr>
          <p:nvPr/>
        </p:nvSpPr>
        <p:spPr bwMode="auto">
          <a:xfrm flipH="1">
            <a:off x="1905000" y="3962400"/>
            <a:ext cx="533400" cy="304800"/>
          </a:xfrm>
          <a:prstGeom prst="line">
            <a:avLst/>
          </a:prstGeom>
          <a:noFill/>
          <a:ln w="25400">
            <a:solidFill>
              <a:schemeClr val="folHlink"/>
            </a:solidFill>
            <a:prstDash val="dash"/>
            <a:miter lim="800000"/>
            <a:headEnd/>
            <a:tailEnd type="triangle" w="med" len="lg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41051" name="Line 59"/>
          <p:cNvSpPr>
            <a:spLocks noChangeShapeType="1"/>
          </p:cNvSpPr>
          <p:nvPr/>
        </p:nvSpPr>
        <p:spPr bwMode="auto">
          <a:xfrm flipH="1">
            <a:off x="1295400" y="4495800"/>
            <a:ext cx="76200" cy="685800"/>
          </a:xfrm>
          <a:prstGeom prst="line">
            <a:avLst/>
          </a:prstGeom>
          <a:noFill/>
          <a:ln w="25400">
            <a:solidFill>
              <a:schemeClr val="folHlink"/>
            </a:solidFill>
            <a:prstDash val="dash"/>
            <a:miter lim="800000"/>
            <a:headEnd/>
            <a:tailEnd type="triangle" w="med" len="lg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41052" name="Line 60"/>
          <p:cNvSpPr>
            <a:spLocks noChangeShapeType="1"/>
          </p:cNvSpPr>
          <p:nvPr/>
        </p:nvSpPr>
        <p:spPr bwMode="auto">
          <a:xfrm flipH="1">
            <a:off x="676275" y="5457825"/>
            <a:ext cx="1143000" cy="0"/>
          </a:xfrm>
          <a:prstGeom prst="line">
            <a:avLst/>
          </a:prstGeom>
          <a:noFill/>
          <a:ln w="25400">
            <a:solidFill>
              <a:schemeClr val="folHlink"/>
            </a:solidFill>
            <a:prstDash val="dash"/>
            <a:miter lim="800000"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341053" name="Rectangle 61"/>
          <p:cNvSpPr>
            <a:spLocks noChangeArrowheads="1"/>
          </p:cNvSpPr>
          <p:nvPr/>
        </p:nvSpPr>
        <p:spPr bwMode="auto">
          <a:xfrm>
            <a:off x="838200" y="6096000"/>
            <a:ext cx="28717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bg-BG" sz="2000">
                <a:solidFill>
                  <a:schemeClr val="folHlink"/>
                </a:solidFill>
                <a:latin typeface="Book Antiqua" pitchFamily="18" charset="0"/>
              </a:rPr>
              <a:t>(10,6)</a:t>
            </a:r>
            <a:r>
              <a:rPr lang="en-US" sz="2000">
                <a:solidFill>
                  <a:schemeClr val="folHlink"/>
                </a:solidFill>
                <a:latin typeface="Book Antiqua" pitchFamily="18" charset="0"/>
              </a:rPr>
              <a:t> ≤ (2,3) Result (0,2)</a:t>
            </a:r>
          </a:p>
        </p:txBody>
      </p:sp>
      <p:sp>
        <p:nvSpPr>
          <p:cNvPr id="341054" name="Line 62"/>
          <p:cNvSpPr>
            <a:spLocks noChangeShapeType="1"/>
          </p:cNvSpPr>
          <p:nvPr/>
        </p:nvSpPr>
        <p:spPr bwMode="auto">
          <a:xfrm flipH="1" flipV="1">
            <a:off x="1600200" y="5438775"/>
            <a:ext cx="152400" cy="685800"/>
          </a:xfrm>
          <a:prstGeom prst="line">
            <a:avLst/>
          </a:prstGeom>
          <a:noFill/>
          <a:ln w="25400">
            <a:solidFill>
              <a:schemeClr val="folHlink"/>
            </a:solidFill>
            <a:prstDash val="dash"/>
            <a:miter lim="800000"/>
            <a:headEnd/>
            <a:tailEnd type="triangle" w="med" len="lg"/>
          </a:ln>
          <a:effectLst/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609600" y="533400"/>
            <a:ext cx="8534400" cy="762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R-Trees</a:t>
            </a:r>
            <a:endParaRPr lang="bg-BG"/>
          </a:p>
        </p:txBody>
      </p:sp>
      <p:sp>
        <p:nvSpPr>
          <p:cNvPr id="3420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9600" y="1295400"/>
            <a:ext cx="8458200" cy="5181600"/>
          </a:xfrm>
          <a:noFill/>
          <a:ln/>
        </p:spPr>
        <p:txBody>
          <a:bodyPr/>
          <a:lstStyle/>
          <a:p>
            <a:pPr marL="228600" indent="-228600">
              <a:buFont typeface="Wingdings" pitchFamily="2" charset="2"/>
              <a:buChar char="n"/>
            </a:pPr>
            <a:r>
              <a:rPr lang="en-US"/>
              <a:t> The R-tree is a tree-structured index that remains balanced on inserts and deletes.</a:t>
            </a:r>
          </a:p>
          <a:p>
            <a:pPr marL="228600" indent="-228600">
              <a:buFont typeface="Wingdings" pitchFamily="2" charset="2"/>
              <a:buChar char="n"/>
            </a:pPr>
            <a:r>
              <a:rPr lang="en-US"/>
              <a:t> Each key stored in a leaf entry is intuitively a </a:t>
            </a:r>
            <a:r>
              <a:rPr lang="en-US">
                <a:solidFill>
                  <a:schemeClr val="folHlink"/>
                </a:solidFill>
              </a:rPr>
              <a:t>box</a:t>
            </a:r>
            <a:r>
              <a:rPr lang="en-US"/>
              <a:t>, or collection of </a:t>
            </a:r>
            <a:r>
              <a:rPr lang="en-US">
                <a:solidFill>
                  <a:schemeClr val="folHlink"/>
                </a:solidFill>
              </a:rPr>
              <a:t>intervals</a:t>
            </a:r>
            <a:r>
              <a:rPr lang="en-US"/>
              <a:t>, with one interval per dimension.</a:t>
            </a:r>
          </a:p>
          <a:p>
            <a:pPr marL="228600" indent="-228600">
              <a:buFont typeface="Wingdings" pitchFamily="2" charset="2"/>
              <a:buChar char="n"/>
            </a:pPr>
            <a:r>
              <a:rPr lang="en-US"/>
              <a:t> Example in 2-D:</a:t>
            </a:r>
            <a:endParaRPr lang="bg-BG"/>
          </a:p>
        </p:txBody>
      </p:sp>
      <p:sp>
        <p:nvSpPr>
          <p:cNvPr id="342021" name="Line 5"/>
          <p:cNvSpPr>
            <a:spLocks noChangeShapeType="1"/>
          </p:cNvSpPr>
          <p:nvPr/>
        </p:nvSpPr>
        <p:spPr bwMode="auto">
          <a:xfrm>
            <a:off x="4953000" y="6569075"/>
            <a:ext cx="2590800" cy="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2022" name="Line 6"/>
          <p:cNvSpPr>
            <a:spLocks noChangeShapeType="1"/>
          </p:cNvSpPr>
          <p:nvPr/>
        </p:nvSpPr>
        <p:spPr bwMode="auto">
          <a:xfrm>
            <a:off x="4038600" y="5197475"/>
            <a:ext cx="914400" cy="137160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2023" name="Line 7"/>
          <p:cNvSpPr>
            <a:spLocks noChangeShapeType="1"/>
          </p:cNvSpPr>
          <p:nvPr/>
        </p:nvSpPr>
        <p:spPr bwMode="auto">
          <a:xfrm>
            <a:off x="4038600" y="5197475"/>
            <a:ext cx="2590800" cy="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2024" name="Line 8"/>
          <p:cNvSpPr>
            <a:spLocks noChangeShapeType="1"/>
          </p:cNvSpPr>
          <p:nvPr/>
        </p:nvSpPr>
        <p:spPr bwMode="auto">
          <a:xfrm>
            <a:off x="6629400" y="5197475"/>
            <a:ext cx="914400" cy="137160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2025" name="Rectangle 9"/>
          <p:cNvSpPr>
            <a:spLocks noChangeArrowheads="1"/>
          </p:cNvSpPr>
          <p:nvPr/>
        </p:nvSpPr>
        <p:spPr bwMode="auto">
          <a:xfrm>
            <a:off x="5851525" y="6172200"/>
            <a:ext cx="387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b="1">
                <a:solidFill>
                  <a:schemeClr val="tx2"/>
                </a:solidFill>
                <a:latin typeface="Book Antiqua" pitchFamily="18" charset="0"/>
              </a:rPr>
              <a:t>X</a:t>
            </a:r>
          </a:p>
        </p:txBody>
      </p:sp>
      <p:sp>
        <p:nvSpPr>
          <p:cNvPr id="342026" name="Rectangle 10"/>
          <p:cNvSpPr>
            <a:spLocks noChangeArrowheads="1"/>
          </p:cNvSpPr>
          <p:nvPr/>
        </p:nvSpPr>
        <p:spPr bwMode="auto">
          <a:xfrm>
            <a:off x="4479925" y="5638800"/>
            <a:ext cx="387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b="1">
                <a:solidFill>
                  <a:schemeClr val="tx2"/>
                </a:solidFill>
                <a:latin typeface="Book Antiqua" pitchFamily="18" charset="0"/>
              </a:rPr>
              <a:t>Y</a:t>
            </a:r>
          </a:p>
        </p:txBody>
      </p:sp>
      <p:sp>
        <p:nvSpPr>
          <p:cNvPr id="342027" name="Line 11"/>
          <p:cNvSpPr>
            <a:spLocks noChangeShapeType="1"/>
          </p:cNvSpPr>
          <p:nvPr/>
        </p:nvSpPr>
        <p:spPr bwMode="auto">
          <a:xfrm flipV="1">
            <a:off x="4038600" y="4435475"/>
            <a:ext cx="1676400" cy="746125"/>
          </a:xfrm>
          <a:prstGeom prst="line">
            <a:avLst/>
          </a:prstGeom>
          <a:noFill/>
          <a:ln w="25400">
            <a:solidFill>
              <a:schemeClr val="folHlink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2028" name="Line 12"/>
          <p:cNvSpPr>
            <a:spLocks noChangeShapeType="1"/>
          </p:cNvSpPr>
          <p:nvPr/>
        </p:nvSpPr>
        <p:spPr bwMode="auto">
          <a:xfrm flipV="1">
            <a:off x="4953000" y="4435475"/>
            <a:ext cx="762000" cy="2133600"/>
          </a:xfrm>
          <a:prstGeom prst="line">
            <a:avLst/>
          </a:prstGeom>
          <a:noFill/>
          <a:ln w="25400">
            <a:solidFill>
              <a:schemeClr val="folHlink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2029" name="Line 13"/>
          <p:cNvSpPr>
            <a:spLocks noChangeShapeType="1"/>
          </p:cNvSpPr>
          <p:nvPr/>
        </p:nvSpPr>
        <p:spPr bwMode="auto">
          <a:xfrm>
            <a:off x="5715000" y="4435475"/>
            <a:ext cx="914400" cy="762000"/>
          </a:xfrm>
          <a:prstGeom prst="line">
            <a:avLst/>
          </a:prstGeom>
          <a:noFill/>
          <a:ln w="25400">
            <a:solidFill>
              <a:schemeClr val="folHlink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2030" name="Line 14"/>
          <p:cNvSpPr>
            <a:spLocks noChangeShapeType="1"/>
          </p:cNvSpPr>
          <p:nvPr/>
        </p:nvSpPr>
        <p:spPr bwMode="auto">
          <a:xfrm>
            <a:off x="5715000" y="4435475"/>
            <a:ext cx="1828800" cy="2133600"/>
          </a:xfrm>
          <a:prstGeom prst="line">
            <a:avLst/>
          </a:prstGeom>
          <a:noFill/>
          <a:ln w="25400">
            <a:solidFill>
              <a:schemeClr val="folHlink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2031" name="Rectangle 15"/>
          <p:cNvSpPr>
            <a:spLocks noChangeArrowheads="1"/>
          </p:cNvSpPr>
          <p:nvPr/>
        </p:nvSpPr>
        <p:spPr bwMode="auto">
          <a:xfrm>
            <a:off x="4730750" y="5356225"/>
            <a:ext cx="215900" cy="13970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2032" name="Rectangle 16"/>
          <p:cNvSpPr>
            <a:spLocks noChangeArrowheads="1"/>
          </p:cNvSpPr>
          <p:nvPr/>
        </p:nvSpPr>
        <p:spPr bwMode="auto">
          <a:xfrm>
            <a:off x="5111750" y="5584825"/>
            <a:ext cx="63500" cy="29210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2033" name="Rectangle 17"/>
          <p:cNvSpPr>
            <a:spLocks noChangeArrowheads="1"/>
          </p:cNvSpPr>
          <p:nvPr/>
        </p:nvSpPr>
        <p:spPr bwMode="auto">
          <a:xfrm>
            <a:off x="5340350" y="5813425"/>
            <a:ext cx="901700" cy="21590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2034" name="Rectangle 18"/>
          <p:cNvSpPr>
            <a:spLocks noChangeArrowheads="1"/>
          </p:cNvSpPr>
          <p:nvPr/>
        </p:nvSpPr>
        <p:spPr bwMode="auto">
          <a:xfrm>
            <a:off x="5264150" y="6346825"/>
            <a:ext cx="63500" cy="6350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2035" name="Rectangle 19"/>
          <p:cNvSpPr>
            <a:spLocks noChangeArrowheads="1"/>
          </p:cNvSpPr>
          <p:nvPr/>
        </p:nvSpPr>
        <p:spPr bwMode="auto">
          <a:xfrm>
            <a:off x="6102350" y="5584825"/>
            <a:ext cx="63500" cy="59690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2036" name="Rectangle 20"/>
          <p:cNvSpPr>
            <a:spLocks noChangeArrowheads="1"/>
          </p:cNvSpPr>
          <p:nvPr/>
        </p:nvSpPr>
        <p:spPr bwMode="auto">
          <a:xfrm>
            <a:off x="6559550" y="6194425"/>
            <a:ext cx="215900" cy="13970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2037" name="Rectangle 21"/>
          <p:cNvSpPr>
            <a:spLocks noChangeArrowheads="1"/>
          </p:cNvSpPr>
          <p:nvPr/>
        </p:nvSpPr>
        <p:spPr bwMode="auto">
          <a:xfrm>
            <a:off x="6254750" y="5432425"/>
            <a:ext cx="292100" cy="13970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2038" name="Arc 22"/>
          <p:cNvSpPr>
            <a:spLocks/>
          </p:cNvSpPr>
          <p:nvPr/>
        </p:nvSpPr>
        <p:spPr bwMode="auto">
          <a:xfrm>
            <a:off x="5715000" y="4206875"/>
            <a:ext cx="533400" cy="228600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0 w 21600"/>
              <a:gd name="T1" fmla="*/ 21600 h 21600"/>
              <a:gd name="T2" fmla="*/ 21536 w 21600"/>
              <a:gd name="T3" fmla="*/ 0 h 21600"/>
              <a:gd name="T4" fmla="*/ 2160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21600"/>
                </a:moveTo>
                <a:cubicBezTo>
                  <a:pt x="0" y="9695"/>
                  <a:pt x="9631" y="35"/>
                  <a:pt x="21536" y="0"/>
                </a:cubicBezTo>
              </a:path>
              <a:path w="21600" h="21600" stroke="0" extrusionOk="0">
                <a:moveTo>
                  <a:pt x="0" y="21600"/>
                </a:moveTo>
                <a:cubicBezTo>
                  <a:pt x="0" y="9695"/>
                  <a:pt x="9631" y="35"/>
                  <a:pt x="21536" y="0"/>
                </a:cubicBezTo>
                <a:lnTo>
                  <a:pt x="21600" y="21600"/>
                </a:lnTo>
                <a:close/>
              </a:path>
            </a:pathLst>
          </a:custGeom>
          <a:noFill/>
          <a:ln w="19050" cap="rnd">
            <a:solidFill>
              <a:schemeClr val="folHlink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2039" name="Rectangle 23"/>
          <p:cNvSpPr>
            <a:spLocks noChangeArrowheads="1"/>
          </p:cNvSpPr>
          <p:nvPr/>
        </p:nvSpPr>
        <p:spPr bwMode="auto">
          <a:xfrm>
            <a:off x="6461125" y="3962400"/>
            <a:ext cx="1209675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 eaLnBrk="0" hangingPunct="0"/>
            <a:r>
              <a:rPr lang="en-US" b="1">
                <a:solidFill>
                  <a:schemeClr val="folHlink"/>
                </a:solidFill>
                <a:latin typeface="Book Antiqua" pitchFamily="18" charset="0"/>
              </a:rPr>
              <a:t>Root of</a:t>
            </a:r>
          </a:p>
          <a:p>
            <a:pPr algn="ctr" eaLnBrk="0" hangingPunct="0"/>
            <a:r>
              <a:rPr lang="en-US" b="1">
                <a:solidFill>
                  <a:schemeClr val="folHlink"/>
                </a:solidFill>
                <a:latin typeface="Book Antiqua" pitchFamily="18" charset="0"/>
              </a:rPr>
              <a:t>R Tree</a:t>
            </a:r>
          </a:p>
        </p:txBody>
      </p:sp>
      <p:sp>
        <p:nvSpPr>
          <p:cNvPr id="342040" name="Arc 24"/>
          <p:cNvSpPr>
            <a:spLocks/>
          </p:cNvSpPr>
          <p:nvPr/>
        </p:nvSpPr>
        <p:spPr bwMode="auto">
          <a:xfrm>
            <a:off x="6932613" y="5654675"/>
            <a:ext cx="992187" cy="228600"/>
          </a:xfrm>
          <a:custGeom>
            <a:avLst/>
            <a:gdLst>
              <a:gd name="G0" fmla="+- 35 0 0"/>
              <a:gd name="G1" fmla="+- 21600 0 0"/>
              <a:gd name="G2" fmla="+- 21600 0 0"/>
              <a:gd name="T0" fmla="*/ 0 w 21635"/>
              <a:gd name="T1" fmla="*/ 0 h 21600"/>
              <a:gd name="T2" fmla="*/ 21635 w 21635"/>
              <a:gd name="T3" fmla="*/ 21600 h 21600"/>
              <a:gd name="T4" fmla="*/ 35 w 21635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35" h="21600" fill="none" extrusionOk="0">
                <a:moveTo>
                  <a:pt x="0" y="0"/>
                </a:moveTo>
                <a:cubicBezTo>
                  <a:pt x="11" y="0"/>
                  <a:pt x="23" y="-1"/>
                  <a:pt x="35" y="0"/>
                </a:cubicBezTo>
                <a:cubicBezTo>
                  <a:pt x="11964" y="0"/>
                  <a:pt x="21635" y="9670"/>
                  <a:pt x="21635" y="21600"/>
                </a:cubicBezTo>
              </a:path>
              <a:path w="21635" h="21600" stroke="0" extrusionOk="0">
                <a:moveTo>
                  <a:pt x="0" y="0"/>
                </a:moveTo>
                <a:cubicBezTo>
                  <a:pt x="11" y="0"/>
                  <a:pt x="23" y="-1"/>
                  <a:pt x="35" y="0"/>
                </a:cubicBezTo>
                <a:cubicBezTo>
                  <a:pt x="11964" y="0"/>
                  <a:pt x="21635" y="9670"/>
                  <a:pt x="21635" y="21600"/>
                </a:cubicBezTo>
                <a:lnTo>
                  <a:pt x="35" y="21600"/>
                </a:lnTo>
                <a:close/>
              </a:path>
            </a:pathLst>
          </a:custGeom>
          <a:noFill/>
          <a:ln w="19050" cap="rnd">
            <a:solidFill>
              <a:schemeClr val="tx2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2041" name="Rectangle 25"/>
          <p:cNvSpPr>
            <a:spLocks noChangeArrowheads="1"/>
          </p:cNvSpPr>
          <p:nvPr/>
        </p:nvSpPr>
        <p:spPr bwMode="auto">
          <a:xfrm>
            <a:off x="7985125" y="5715000"/>
            <a:ext cx="86995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 eaLnBrk="0" hangingPunct="0"/>
            <a:r>
              <a:rPr lang="en-US" b="1">
                <a:solidFill>
                  <a:schemeClr val="tx2"/>
                </a:solidFill>
                <a:latin typeface="Book Antiqua" pitchFamily="18" charset="0"/>
              </a:rPr>
              <a:t>Leaf </a:t>
            </a:r>
          </a:p>
          <a:p>
            <a:pPr algn="ctr" eaLnBrk="0" hangingPunct="0"/>
            <a:r>
              <a:rPr lang="en-US" b="1">
                <a:solidFill>
                  <a:schemeClr val="tx2"/>
                </a:solidFill>
                <a:latin typeface="Book Antiqua" pitchFamily="18" charset="0"/>
              </a:rPr>
              <a:t>level</a:t>
            </a:r>
          </a:p>
        </p:txBody>
      </p:sp>
      <p:sp>
        <p:nvSpPr>
          <p:cNvPr id="342042" name="Oval 26"/>
          <p:cNvSpPr>
            <a:spLocks noChangeArrowheads="1"/>
          </p:cNvSpPr>
          <p:nvPr/>
        </p:nvSpPr>
        <p:spPr bwMode="auto">
          <a:xfrm>
            <a:off x="5695950" y="4406900"/>
            <a:ext cx="63500" cy="635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42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609600" y="533400"/>
            <a:ext cx="8534400" cy="762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R-Tree Properties</a:t>
            </a:r>
            <a:endParaRPr lang="bg-BG"/>
          </a:p>
        </p:txBody>
      </p:sp>
      <p:sp>
        <p:nvSpPr>
          <p:cNvPr id="3430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9600" y="1155700"/>
            <a:ext cx="8458200" cy="5181600"/>
          </a:xfrm>
          <a:noFill/>
          <a:ln/>
        </p:spPr>
        <p:txBody>
          <a:bodyPr/>
          <a:lstStyle/>
          <a:p>
            <a:pPr marL="228600" indent="-228600">
              <a:buFont typeface="Wingdings" pitchFamily="2" charset="2"/>
              <a:buChar char="n"/>
            </a:pPr>
            <a:r>
              <a:rPr lang="en-US" sz="2800"/>
              <a:t> </a:t>
            </a:r>
            <a:r>
              <a:rPr lang="en-US" sz="2800" i="1"/>
              <a:t>Leaf entry</a:t>
            </a:r>
            <a:r>
              <a:rPr lang="en-US" sz="2800"/>
              <a:t> = &lt; n-dimensional box, rid &gt;</a:t>
            </a:r>
          </a:p>
          <a:p>
            <a:pPr marL="749300" lvl="1" indent="-177800"/>
            <a:r>
              <a:rPr lang="en-US" i="1"/>
              <a:t> key value</a:t>
            </a:r>
            <a:r>
              <a:rPr lang="en-US"/>
              <a:t> being a box.</a:t>
            </a:r>
          </a:p>
          <a:p>
            <a:pPr marL="749300" lvl="1" indent="-177800"/>
            <a:r>
              <a:rPr lang="en-US"/>
              <a:t> Box is the tightest bounding box for a data object.</a:t>
            </a:r>
          </a:p>
          <a:p>
            <a:pPr marL="228600" indent="-228600">
              <a:buFont typeface="Wingdings" pitchFamily="2" charset="2"/>
              <a:buChar char="n"/>
            </a:pPr>
            <a:r>
              <a:rPr lang="en-US" sz="2800"/>
              <a:t> </a:t>
            </a:r>
            <a:r>
              <a:rPr lang="en-US" sz="2800" i="1"/>
              <a:t>Non-leaf entry</a:t>
            </a:r>
            <a:r>
              <a:rPr lang="en-US" sz="2800"/>
              <a:t> = &lt; n-dim box, ptr to child node &gt;</a:t>
            </a:r>
          </a:p>
          <a:p>
            <a:pPr marL="749300" lvl="1" indent="-177800"/>
            <a:r>
              <a:rPr lang="en-US"/>
              <a:t> Box covers all boxes in child node (in fact, subtree).</a:t>
            </a:r>
          </a:p>
          <a:p>
            <a:pPr marL="228600" indent="-228600">
              <a:buFont typeface="Wingdings" pitchFamily="2" charset="2"/>
              <a:buChar char="n"/>
            </a:pPr>
            <a:r>
              <a:rPr lang="en-US" sz="2800"/>
              <a:t> All leaves at same distance from root.</a:t>
            </a:r>
          </a:p>
          <a:p>
            <a:pPr marL="228600" indent="-228600">
              <a:buFont typeface="Wingdings" pitchFamily="2" charset="2"/>
              <a:buChar char="n"/>
            </a:pPr>
            <a:r>
              <a:rPr lang="en-US" sz="2800"/>
              <a:t> Nodes must be kept at least 50% full (except root).</a:t>
            </a:r>
          </a:p>
          <a:p>
            <a:pPr marL="749300" lvl="1" indent="-177800"/>
            <a:r>
              <a:rPr lang="en-US"/>
              <a:t> Can choose a parameter </a:t>
            </a:r>
            <a:r>
              <a:rPr lang="en-US" i="1"/>
              <a:t>m</a:t>
            </a:r>
            <a:r>
              <a:rPr lang="en-US"/>
              <a:t> that is &lt;= 50%, and ensure that every node is at least </a:t>
            </a:r>
            <a:r>
              <a:rPr lang="en-US" i="1"/>
              <a:t>m</a:t>
            </a:r>
            <a:r>
              <a:rPr lang="en-US"/>
              <a:t>% full.</a:t>
            </a:r>
            <a:endParaRPr lang="bg-BG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609600" y="533400"/>
            <a:ext cx="8534400" cy="762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Example of an R-Tree</a:t>
            </a:r>
            <a:endParaRPr lang="bg-BG"/>
          </a:p>
        </p:txBody>
      </p:sp>
      <p:sp>
        <p:nvSpPr>
          <p:cNvPr id="344068" name="Rectangle 4"/>
          <p:cNvSpPr>
            <a:spLocks noChangeArrowheads="1"/>
          </p:cNvSpPr>
          <p:nvPr/>
        </p:nvSpPr>
        <p:spPr bwMode="auto">
          <a:xfrm>
            <a:off x="342900" y="4054475"/>
            <a:ext cx="7721600" cy="2311400"/>
          </a:xfrm>
          <a:prstGeom prst="rect">
            <a:avLst/>
          </a:prstGeom>
          <a:solidFill>
            <a:schemeClr val="accent1">
              <a:alpha val="50000"/>
            </a:schemeClr>
          </a:solidFill>
          <a:ln w="508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4069" name="Rectangle 5"/>
          <p:cNvSpPr>
            <a:spLocks noChangeArrowheads="1"/>
          </p:cNvSpPr>
          <p:nvPr/>
        </p:nvSpPr>
        <p:spPr bwMode="auto">
          <a:xfrm>
            <a:off x="952500" y="1844675"/>
            <a:ext cx="4292600" cy="3759200"/>
          </a:xfrm>
          <a:prstGeom prst="rect">
            <a:avLst/>
          </a:prstGeom>
          <a:solidFill>
            <a:schemeClr val="accent1">
              <a:alpha val="50000"/>
            </a:schemeClr>
          </a:solidFill>
          <a:ln w="508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4070" name="Rectangle 6"/>
          <p:cNvSpPr>
            <a:spLocks noChangeArrowheads="1"/>
          </p:cNvSpPr>
          <p:nvPr/>
        </p:nvSpPr>
        <p:spPr bwMode="auto">
          <a:xfrm>
            <a:off x="1104900" y="2378075"/>
            <a:ext cx="1778000" cy="1244600"/>
          </a:xfrm>
          <a:prstGeom prst="rect">
            <a:avLst/>
          </a:prstGeom>
          <a:solidFill>
            <a:schemeClr val="accent1">
              <a:alpha val="50000"/>
            </a:schemeClr>
          </a:solidFill>
          <a:ln w="508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4071" name="Rectangle 7"/>
          <p:cNvSpPr>
            <a:spLocks noChangeArrowheads="1"/>
          </p:cNvSpPr>
          <p:nvPr/>
        </p:nvSpPr>
        <p:spPr bwMode="auto">
          <a:xfrm>
            <a:off x="2095500" y="1920875"/>
            <a:ext cx="1854200" cy="3530600"/>
          </a:xfrm>
          <a:prstGeom prst="rect">
            <a:avLst/>
          </a:prstGeom>
          <a:solidFill>
            <a:schemeClr val="accent1">
              <a:alpha val="50000"/>
            </a:schemeClr>
          </a:solidFill>
          <a:ln w="508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4072" name="Rectangle 8"/>
          <p:cNvSpPr>
            <a:spLocks noChangeArrowheads="1"/>
          </p:cNvSpPr>
          <p:nvPr/>
        </p:nvSpPr>
        <p:spPr bwMode="auto">
          <a:xfrm>
            <a:off x="4076700" y="2301875"/>
            <a:ext cx="1092200" cy="2540000"/>
          </a:xfrm>
          <a:prstGeom prst="rect">
            <a:avLst/>
          </a:prstGeom>
          <a:noFill/>
          <a:ln w="508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4073" name="Rectangle 9"/>
          <p:cNvSpPr>
            <a:spLocks noChangeArrowheads="1"/>
          </p:cNvSpPr>
          <p:nvPr/>
        </p:nvSpPr>
        <p:spPr bwMode="auto">
          <a:xfrm>
            <a:off x="495300" y="4816475"/>
            <a:ext cx="2692400" cy="1397000"/>
          </a:xfrm>
          <a:prstGeom prst="rect">
            <a:avLst/>
          </a:prstGeom>
          <a:solidFill>
            <a:schemeClr val="accent1">
              <a:alpha val="50000"/>
            </a:schemeClr>
          </a:solidFill>
          <a:ln w="508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4074" name="Rectangle 10"/>
          <p:cNvSpPr>
            <a:spLocks noChangeArrowheads="1"/>
          </p:cNvSpPr>
          <p:nvPr/>
        </p:nvSpPr>
        <p:spPr bwMode="auto">
          <a:xfrm>
            <a:off x="5448300" y="4206875"/>
            <a:ext cx="2463800" cy="1854200"/>
          </a:xfrm>
          <a:prstGeom prst="rect">
            <a:avLst/>
          </a:prstGeom>
          <a:solidFill>
            <a:schemeClr val="accent1">
              <a:alpha val="50000"/>
            </a:schemeClr>
          </a:solidFill>
          <a:ln w="508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4075" name="Rectangle 11" descr="Dark upward diagonal"/>
          <p:cNvSpPr>
            <a:spLocks noChangeArrowheads="1"/>
          </p:cNvSpPr>
          <p:nvPr/>
        </p:nvSpPr>
        <p:spPr bwMode="auto">
          <a:xfrm>
            <a:off x="1257300" y="2759075"/>
            <a:ext cx="711200" cy="711200"/>
          </a:xfrm>
          <a:prstGeom prst="rect">
            <a:avLst/>
          </a:prstGeom>
          <a:pattFill prst="dkUpDiag">
            <a:fgClr>
              <a:srgbClr val="99CCFF"/>
            </a:fgClr>
            <a:bgClr>
              <a:srgbClr val="FFFFFF"/>
            </a:bgClr>
          </a:pattFill>
          <a:ln w="508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4076" name="Rectangle 12" descr="Dark upward diagonal"/>
          <p:cNvSpPr>
            <a:spLocks noChangeArrowheads="1"/>
          </p:cNvSpPr>
          <p:nvPr/>
        </p:nvSpPr>
        <p:spPr bwMode="auto">
          <a:xfrm>
            <a:off x="2247900" y="2530475"/>
            <a:ext cx="482600" cy="482600"/>
          </a:xfrm>
          <a:prstGeom prst="rect">
            <a:avLst/>
          </a:prstGeom>
          <a:pattFill prst="dkUpDiag">
            <a:fgClr>
              <a:srgbClr val="99CCFF"/>
            </a:fgClr>
            <a:bgClr>
              <a:srgbClr val="FFFFFF"/>
            </a:bgClr>
          </a:pattFill>
          <a:ln w="508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4077" name="Rectangle 13" descr="Dark upward diagonal"/>
          <p:cNvSpPr>
            <a:spLocks noChangeArrowheads="1"/>
          </p:cNvSpPr>
          <p:nvPr/>
        </p:nvSpPr>
        <p:spPr bwMode="auto">
          <a:xfrm>
            <a:off x="2171700" y="3140075"/>
            <a:ext cx="635000" cy="406400"/>
          </a:xfrm>
          <a:prstGeom prst="rect">
            <a:avLst/>
          </a:prstGeom>
          <a:pattFill prst="dkUpDiag">
            <a:fgClr>
              <a:srgbClr val="99CCFF"/>
            </a:fgClr>
            <a:bgClr>
              <a:srgbClr val="FFFFFF"/>
            </a:bgClr>
          </a:pattFill>
          <a:ln w="508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4078" name="Rectangle 14" descr="Dark upward diagonal"/>
          <p:cNvSpPr>
            <a:spLocks noChangeArrowheads="1"/>
          </p:cNvSpPr>
          <p:nvPr/>
        </p:nvSpPr>
        <p:spPr bwMode="auto">
          <a:xfrm>
            <a:off x="3314700" y="2109788"/>
            <a:ext cx="531813" cy="3232150"/>
          </a:xfrm>
          <a:prstGeom prst="rect">
            <a:avLst/>
          </a:prstGeom>
          <a:pattFill prst="dkUpDiag">
            <a:fgClr>
              <a:srgbClr val="99CCFF"/>
            </a:fgClr>
            <a:bgClr>
              <a:srgbClr val="FFFFFF"/>
            </a:bgClr>
          </a:pattFill>
          <a:ln w="508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4079" name="Rectangle 15" descr="Dark upward diagonal"/>
          <p:cNvSpPr>
            <a:spLocks noChangeArrowheads="1"/>
          </p:cNvSpPr>
          <p:nvPr/>
        </p:nvSpPr>
        <p:spPr bwMode="auto">
          <a:xfrm>
            <a:off x="2247900" y="3825875"/>
            <a:ext cx="1320800" cy="787400"/>
          </a:xfrm>
          <a:prstGeom prst="rect">
            <a:avLst/>
          </a:prstGeom>
          <a:pattFill prst="dkUpDiag">
            <a:fgClr>
              <a:srgbClr val="99CCFF"/>
            </a:fgClr>
            <a:bgClr>
              <a:srgbClr val="FFFFFF"/>
            </a:bgClr>
          </a:pattFill>
          <a:ln w="508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4080" name="Rectangle 16" descr="Dark upward diagonal"/>
          <p:cNvSpPr>
            <a:spLocks noChangeArrowheads="1"/>
          </p:cNvSpPr>
          <p:nvPr/>
        </p:nvSpPr>
        <p:spPr bwMode="auto">
          <a:xfrm>
            <a:off x="1562100" y="4968875"/>
            <a:ext cx="1397000" cy="939800"/>
          </a:xfrm>
          <a:prstGeom prst="rect">
            <a:avLst/>
          </a:prstGeom>
          <a:pattFill prst="dkUpDiag">
            <a:fgClr>
              <a:srgbClr val="99CCFF"/>
            </a:fgClr>
            <a:bgClr>
              <a:srgbClr val="FFFFFF"/>
            </a:bgClr>
          </a:pattFill>
          <a:ln w="508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4081" name="Rectangle 17" descr="Dark upward diagonal"/>
          <p:cNvSpPr>
            <a:spLocks noChangeArrowheads="1"/>
          </p:cNvSpPr>
          <p:nvPr/>
        </p:nvSpPr>
        <p:spPr bwMode="auto">
          <a:xfrm>
            <a:off x="723900" y="5730875"/>
            <a:ext cx="711200" cy="406400"/>
          </a:xfrm>
          <a:prstGeom prst="rect">
            <a:avLst/>
          </a:prstGeom>
          <a:pattFill prst="dkUpDiag">
            <a:fgClr>
              <a:srgbClr val="99CCFF"/>
            </a:fgClr>
            <a:bgClr>
              <a:srgbClr val="FFFFFF"/>
            </a:bgClr>
          </a:pattFill>
          <a:ln w="508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4082" name="Rectangle 18" descr="Dark upward diagonal"/>
          <p:cNvSpPr>
            <a:spLocks noChangeArrowheads="1"/>
          </p:cNvSpPr>
          <p:nvPr/>
        </p:nvSpPr>
        <p:spPr bwMode="auto">
          <a:xfrm>
            <a:off x="5600700" y="4740275"/>
            <a:ext cx="2159000" cy="558800"/>
          </a:xfrm>
          <a:prstGeom prst="rect">
            <a:avLst/>
          </a:prstGeom>
          <a:pattFill prst="dkUpDiag">
            <a:fgClr>
              <a:srgbClr val="99CCFF"/>
            </a:fgClr>
            <a:bgClr>
              <a:srgbClr val="FFFFFF"/>
            </a:bgClr>
          </a:pattFill>
          <a:ln w="508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4083" name="Rectangle 19" descr="Dark upward diagonal"/>
          <p:cNvSpPr>
            <a:spLocks noChangeArrowheads="1"/>
          </p:cNvSpPr>
          <p:nvPr/>
        </p:nvSpPr>
        <p:spPr bwMode="auto">
          <a:xfrm>
            <a:off x="6134100" y="4359275"/>
            <a:ext cx="787400" cy="1549400"/>
          </a:xfrm>
          <a:prstGeom prst="rect">
            <a:avLst/>
          </a:prstGeom>
          <a:pattFill prst="dkUpDiag">
            <a:fgClr>
              <a:srgbClr val="99CCFF"/>
            </a:fgClr>
            <a:bgClr>
              <a:srgbClr val="FFFFFF"/>
            </a:bgClr>
          </a:pattFill>
          <a:ln w="508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4084" name="Rectangle 20" descr="Dark upward diagonal"/>
          <p:cNvSpPr>
            <a:spLocks noChangeArrowheads="1"/>
          </p:cNvSpPr>
          <p:nvPr/>
        </p:nvSpPr>
        <p:spPr bwMode="auto">
          <a:xfrm>
            <a:off x="6667500" y="5045075"/>
            <a:ext cx="939800" cy="711200"/>
          </a:xfrm>
          <a:prstGeom prst="rect">
            <a:avLst/>
          </a:prstGeom>
          <a:pattFill prst="dkUpDiag">
            <a:fgClr>
              <a:srgbClr val="99CCFF"/>
            </a:fgClr>
            <a:bgClr>
              <a:srgbClr val="FFFFFF"/>
            </a:bgClr>
          </a:pattFill>
          <a:ln w="508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4085" name="Rectangle 21" descr="Dark upward diagonal"/>
          <p:cNvSpPr>
            <a:spLocks noChangeArrowheads="1"/>
          </p:cNvSpPr>
          <p:nvPr/>
        </p:nvSpPr>
        <p:spPr bwMode="auto">
          <a:xfrm>
            <a:off x="4533900" y="2454275"/>
            <a:ext cx="558800" cy="2235200"/>
          </a:xfrm>
          <a:prstGeom prst="rect">
            <a:avLst/>
          </a:prstGeom>
          <a:pattFill prst="dkUpDiag">
            <a:fgClr>
              <a:srgbClr val="99CCFF"/>
            </a:fgClr>
            <a:bgClr>
              <a:srgbClr val="FFFFFF"/>
            </a:bgClr>
          </a:pattFill>
          <a:ln w="508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4086" name="Rectangle 22" descr="Dark upward diagonal"/>
          <p:cNvSpPr>
            <a:spLocks noChangeArrowheads="1"/>
          </p:cNvSpPr>
          <p:nvPr/>
        </p:nvSpPr>
        <p:spPr bwMode="auto">
          <a:xfrm>
            <a:off x="4152900" y="2911475"/>
            <a:ext cx="558800" cy="787400"/>
          </a:xfrm>
          <a:prstGeom prst="rect">
            <a:avLst/>
          </a:prstGeom>
          <a:pattFill prst="dkUpDiag">
            <a:fgClr>
              <a:srgbClr val="99CCFF"/>
            </a:fgClr>
            <a:bgClr>
              <a:srgbClr val="FFFFFF"/>
            </a:bgClr>
          </a:pattFill>
          <a:ln w="508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4087" name="Rectangle 23"/>
          <p:cNvSpPr>
            <a:spLocks noChangeArrowheads="1"/>
          </p:cNvSpPr>
          <p:nvPr/>
        </p:nvSpPr>
        <p:spPr bwMode="auto">
          <a:xfrm>
            <a:off x="1292225" y="2763838"/>
            <a:ext cx="4508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000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sz="2000" b="1" baseline="-25000">
                <a:solidFill>
                  <a:schemeClr val="tx2"/>
                </a:solidFill>
                <a:latin typeface="Book Antiqua" pitchFamily="18" charset="0"/>
              </a:rPr>
              <a:t>8</a:t>
            </a:r>
          </a:p>
        </p:txBody>
      </p:sp>
      <p:sp>
        <p:nvSpPr>
          <p:cNvPr id="344088" name="Rectangle 24"/>
          <p:cNvSpPr>
            <a:spLocks noChangeArrowheads="1"/>
          </p:cNvSpPr>
          <p:nvPr/>
        </p:nvSpPr>
        <p:spPr bwMode="auto">
          <a:xfrm>
            <a:off x="2206625" y="2535238"/>
            <a:ext cx="4508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000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sz="2000" b="1" baseline="-25000">
                <a:solidFill>
                  <a:schemeClr val="tx2"/>
                </a:solidFill>
                <a:latin typeface="Book Antiqua" pitchFamily="18" charset="0"/>
              </a:rPr>
              <a:t>9</a:t>
            </a:r>
          </a:p>
        </p:txBody>
      </p:sp>
      <p:sp>
        <p:nvSpPr>
          <p:cNvPr id="344089" name="Rectangle 25"/>
          <p:cNvSpPr>
            <a:spLocks noChangeArrowheads="1"/>
          </p:cNvSpPr>
          <p:nvPr/>
        </p:nvSpPr>
        <p:spPr bwMode="auto">
          <a:xfrm>
            <a:off x="2206625" y="3144838"/>
            <a:ext cx="533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000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sz="2000" b="1" baseline="-25000">
                <a:solidFill>
                  <a:schemeClr val="tx2"/>
                </a:solidFill>
                <a:latin typeface="Book Antiqua" pitchFamily="18" charset="0"/>
              </a:rPr>
              <a:t>10</a:t>
            </a:r>
          </a:p>
        </p:txBody>
      </p:sp>
      <p:sp>
        <p:nvSpPr>
          <p:cNvPr id="344090" name="Rectangle 26"/>
          <p:cNvSpPr>
            <a:spLocks noChangeArrowheads="1"/>
          </p:cNvSpPr>
          <p:nvPr/>
        </p:nvSpPr>
        <p:spPr bwMode="auto">
          <a:xfrm>
            <a:off x="3273425" y="2154238"/>
            <a:ext cx="533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000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sz="2000" b="1" baseline="-25000">
                <a:solidFill>
                  <a:schemeClr val="tx2"/>
                </a:solidFill>
                <a:latin typeface="Book Antiqua" pitchFamily="18" charset="0"/>
              </a:rPr>
              <a:t>11</a:t>
            </a:r>
          </a:p>
        </p:txBody>
      </p:sp>
      <p:sp>
        <p:nvSpPr>
          <p:cNvPr id="344091" name="Rectangle 27"/>
          <p:cNvSpPr>
            <a:spLocks noChangeArrowheads="1"/>
          </p:cNvSpPr>
          <p:nvPr/>
        </p:nvSpPr>
        <p:spPr bwMode="auto">
          <a:xfrm>
            <a:off x="2282825" y="3906838"/>
            <a:ext cx="533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000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sz="2000" b="1" baseline="-25000">
                <a:solidFill>
                  <a:schemeClr val="tx2"/>
                </a:solidFill>
                <a:latin typeface="Book Antiqua" pitchFamily="18" charset="0"/>
              </a:rPr>
              <a:t>12</a:t>
            </a:r>
          </a:p>
        </p:txBody>
      </p:sp>
      <p:sp>
        <p:nvSpPr>
          <p:cNvPr id="344092" name="Rectangle 28"/>
          <p:cNvSpPr>
            <a:spLocks noChangeArrowheads="1"/>
          </p:cNvSpPr>
          <p:nvPr/>
        </p:nvSpPr>
        <p:spPr bwMode="auto">
          <a:xfrm>
            <a:off x="5559425" y="4821238"/>
            <a:ext cx="533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000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sz="2000" b="1" baseline="-25000">
                <a:solidFill>
                  <a:schemeClr val="tx2"/>
                </a:solidFill>
                <a:latin typeface="Book Antiqua" pitchFamily="18" charset="0"/>
              </a:rPr>
              <a:t>17</a:t>
            </a:r>
          </a:p>
        </p:txBody>
      </p:sp>
      <p:sp>
        <p:nvSpPr>
          <p:cNvPr id="344093" name="Rectangle 29"/>
          <p:cNvSpPr>
            <a:spLocks noChangeArrowheads="1"/>
          </p:cNvSpPr>
          <p:nvPr/>
        </p:nvSpPr>
        <p:spPr bwMode="auto">
          <a:xfrm>
            <a:off x="6245225" y="4440238"/>
            <a:ext cx="533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000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sz="2000" b="1" baseline="-25000">
                <a:solidFill>
                  <a:schemeClr val="tx2"/>
                </a:solidFill>
                <a:latin typeface="Book Antiqua" pitchFamily="18" charset="0"/>
              </a:rPr>
              <a:t>18</a:t>
            </a:r>
          </a:p>
        </p:txBody>
      </p:sp>
      <p:sp>
        <p:nvSpPr>
          <p:cNvPr id="344094" name="Rectangle 30"/>
          <p:cNvSpPr>
            <a:spLocks noChangeArrowheads="1"/>
          </p:cNvSpPr>
          <p:nvPr/>
        </p:nvSpPr>
        <p:spPr bwMode="auto">
          <a:xfrm>
            <a:off x="6702425" y="5202238"/>
            <a:ext cx="533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000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sz="2000" b="1" baseline="-25000">
                <a:solidFill>
                  <a:schemeClr val="tx2"/>
                </a:solidFill>
                <a:latin typeface="Book Antiqua" pitchFamily="18" charset="0"/>
              </a:rPr>
              <a:t>19</a:t>
            </a:r>
          </a:p>
        </p:txBody>
      </p:sp>
      <p:sp>
        <p:nvSpPr>
          <p:cNvPr id="344095" name="Rectangle 31"/>
          <p:cNvSpPr>
            <a:spLocks noChangeArrowheads="1"/>
          </p:cNvSpPr>
          <p:nvPr/>
        </p:nvSpPr>
        <p:spPr bwMode="auto">
          <a:xfrm>
            <a:off x="4492625" y="2459038"/>
            <a:ext cx="533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000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sz="2000" b="1" baseline="-25000">
                <a:solidFill>
                  <a:schemeClr val="tx2"/>
                </a:solidFill>
                <a:latin typeface="Book Antiqua" pitchFamily="18" charset="0"/>
              </a:rPr>
              <a:t>13</a:t>
            </a:r>
          </a:p>
        </p:txBody>
      </p:sp>
      <p:sp>
        <p:nvSpPr>
          <p:cNvPr id="344096" name="Rectangle 32"/>
          <p:cNvSpPr>
            <a:spLocks noChangeArrowheads="1"/>
          </p:cNvSpPr>
          <p:nvPr/>
        </p:nvSpPr>
        <p:spPr bwMode="auto">
          <a:xfrm>
            <a:off x="4111625" y="2992438"/>
            <a:ext cx="533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000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sz="2000" b="1" baseline="-25000">
                <a:solidFill>
                  <a:schemeClr val="tx2"/>
                </a:solidFill>
                <a:latin typeface="Book Antiqua" pitchFamily="18" charset="0"/>
              </a:rPr>
              <a:t>14</a:t>
            </a:r>
          </a:p>
        </p:txBody>
      </p:sp>
      <p:sp>
        <p:nvSpPr>
          <p:cNvPr id="344097" name="Rectangle 33"/>
          <p:cNvSpPr>
            <a:spLocks noChangeArrowheads="1"/>
          </p:cNvSpPr>
          <p:nvPr/>
        </p:nvSpPr>
        <p:spPr bwMode="auto">
          <a:xfrm>
            <a:off x="758825" y="5735638"/>
            <a:ext cx="533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000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sz="2000" b="1" baseline="-25000">
                <a:solidFill>
                  <a:schemeClr val="tx2"/>
                </a:solidFill>
                <a:latin typeface="Book Antiqua" pitchFamily="18" charset="0"/>
              </a:rPr>
              <a:t>15</a:t>
            </a:r>
          </a:p>
        </p:txBody>
      </p:sp>
      <p:sp>
        <p:nvSpPr>
          <p:cNvPr id="344098" name="Rectangle 34"/>
          <p:cNvSpPr>
            <a:spLocks noChangeArrowheads="1"/>
          </p:cNvSpPr>
          <p:nvPr/>
        </p:nvSpPr>
        <p:spPr bwMode="auto">
          <a:xfrm>
            <a:off x="1597025" y="5049838"/>
            <a:ext cx="533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000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sz="2000" b="1" baseline="-25000">
                <a:solidFill>
                  <a:schemeClr val="tx2"/>
                </a:solidFill>
                <a:latin typeface="Book Antiqua" pitchFamily="18" charset="0"/>
              </a:rPr>
              <a:t>16</a:t>
            </a:r>
          </a:p>
        </p:txBody>
      </p:sp>
      <p:sp>
        <p:nvSpPr>
          <p:cNvPr id="344099" name="Freeform 35"/>
          <p:cNvSpPr>
            <a:spLocks/>
          </p:cNvSpPr>
          <p:nvPr/>
        </p:nvSpPr>
        <p:spPr bwMode="auto">
          <a:xfrm>
            <a:off x="1308100" y="2816225"/>
            <a:ext cx="617538" cy="630238"/>
          </a:xfrm>
          <a:custGeom>
            <a:avLst/>
            <a:gdLst/>
            <a:ahLst/>
            <a:cxnLst>
              <a:cxn ang="0">
                <a:pos x="0" y="236"/>
              </a:cxn>
              <a:cxn ang="0">
                <a:pos x="45" y="246"/>
              </a:cxn>
              <a:cxn ang="0">
                <a:pos x="77" y="236"/>
              </a:cxn>
              <a:cxn ang="0">
                <a:pos x="99" y="236"/>
              </a:cxn>
              <a:cxn ang="0">
                <a:pos x="131" y="246"/>
              </a:cxn>
              <a:cxn ang="0">
                <a:pos x="163" y="246"/>
              </a:cxn>
              <a:cxn ang="0">
                <a:pos x="185" y="257"/>
              </a:cxn>
              <a:cxn ang="0">
                <a:pos x="217" y="257"/>
              </a:cxn>
              <a:cxn ang="0">
                <a:pos x="249" y="257"/>
              </a:cxn>
              <a:cxn ang="0">
                <a:pos x="281" y="246"/>
              </a:cxn>
              <a:cxn ang="0">
                <a:pos x="313" y="236"/>
              </a:cxn>
              <a:cxn ang="0">
                <a:pos x="302" y="214"/>
              </a:cxn>
              <a:cxn ang="0">
                <a:pos x="313" y="182"/>
              </a:cxn>
              <a:cxn ang="0">
                <a:pos x="313" y="150"/>
              </a:cxn>
              <a:cxn ang="0">
                <a:pos x="313" y="128"/>
              </a:cxn>
              <a:cxn ang="0">
                <a:pos x="313" y="96"/>
              </a:cxn>
              <a:cxn ang="0">
                <a:pos x="313" y="64"/>
              </a:cxn>
              <a:cxn ang="0">
                <a:pos x="292" y="32"/>
              </a:cxn>
              <a:cxn ang="0">
                <a:pos x="281" y="0"/>
              </a:cxn>
              <a:cxn ang="0">
                <a:pos x="313" y="0"/>
              </a:cxn>
              <a:cxn ang="0">
                <a:pos x="324" y="32"/>
              </a:cxn>
              <a:cxn ang="0">
                <a:pos x="345" y="54"/>
              </a:cxn>
              <a:cxn ang="0">
                <a:pos x="367" y="64"/>
              </a:cxn>
              <a:cxn ang="0">
                <a:pos x="377" y="86"/>
              </a:cxn>
              <a:cxn ang="0">
                <a:pos x="388" y="118"/>
              </a:cxn>
              <a:cxn ang="0">
                <a:pos x="388" y="150"/>
              </a:cxn>
              <a:cxn ang="0">
                <a:pos x="388" y="182"/>
              </a:cxn>
              <a:cxn ang="0">
                <a:pos x="377" y="214"/>
              </a:cxn>
              <a:cxn ang="0">
                <a:pos x="377" y="236"/>
              </a:cxn>
              <a:cxn ang="0">
                <a:pos x="367" y="268"/>
              </a:cxn>
              <a:cxn ang="0">
                <a:pos x="356" y="300"/>
              </a:cxn>
              <a:cxn ang="0">
                <a:pos x="334" y="321"/>
              </a:cxn>
              <a:cxn ang="0">
                <a:pos x="334" y="343"/>
              </a:cxn>
              <a:cxn ang="0">
                <a:pos x="324" y="375"/>
              </a:cxn>
              <a:cxn ang="0">
                <a:pos x="302" y="396"/>
              </a:cxn>
              <a:cxn ang="0">
                <a:pos x="270" y="386"/>
              </a:cxn>
              <a:cxn ang="0">
                <a:pos x="238" y="375"/>
              </a:cxn>
              <a:cxn ang="0">
                <a:pos x="206" y="375"/>
              </a:cxn>
              <a:cxn ang="0">
                <a:pos x="174" y="364"/>
              </a:cxn>
              <a:cxn ang="0">
                <a:pos x="152" y="364"/>
              </a:cxn>
              <a:cxn ang="0">
                <a:pos x="120" y="364"/>
              </a:cxn>
              <a:cxn ang="0">
                <a:pos x="88" y="364"/>
              </a:cxn>
              <a:cxn ang="0">
                <a:pos x="56" y="332"/>
              </a:cxn>
              <a:cxn ang="0">
                <a:pos x="35" y="300"/>
              </a:cxn>
              <a:cxn ang="0">
                <a:pos x="0" y="236"/>
              </a:cxn>
              <a:cxn ang="0">
                <a:pos x="0" y="236"/>
              </a:cxn>
            </a:cxnLst>
            <a:rect l="0" t="0" r="r" b="b"/>
            <a:pathLst>
              <a:path w="389" h="397">
                <a:moveTo>
                  <a:pt x="0" y="236"/>
                </a:moveTo>
                <a:lnTo>
                  <a:pt x="45" y="246"/>
                </a:lnTo>
                <a:lnTo>
                  <a:pt x="77" y="236"/>
                </a:lnTo>
                <a:lnTo>
                  <a:pt x="99" y="236"/>
                </a:lnTo>
                <a:lnTo>
                  <a:pt x="131" y="246"/>
                </a:lnTo>
                <a:lnTo>
                  <a:pt x="163" y="246"/>
                </a:lnTo>
                <a:lnTo>
                  <a:pt x="185" y="257"/>
                </a:lnTo>
                <a:lnTo>
                  <a:pt x="217" y="257"/>
                </a:lnTo>
                <a:lnTo>
                  <a:pt x="249" y="257"/>
                </a:lnTo>
                <a:lnTo>
                  <a:pt x="281" y="246"/>
                </a:lnTo>
                <a:lnTo>
                  <a:pt x="313" y="236"/>
                </a:lnTo>
                <a:lnTo>
                  <a:pt x="302" y="214"/>
                </a:lnTo>
                <a:lnTo>
                  <a:pt x="313" y="182"/>
                </a:lnTo>
                <a:lnTo>
                  <a:pt x="313" y="150"/>
                </a:lnTo>
                <a:lnTo>
                  <a:pt x="313" y="128"/>
                </a:lnTo>
                <a:lnTo>
                  <a:pt x="313" y="96"/>
                </a:lnTo>
                <a:lnTo>
                  <a:pt x="313" y="64"/>
                </a:lnTo>
                <a:lnTo>
                  <a:pt x="292" y="32"/>
                </a:lnTo>
                <a:lnTo>
                  <a:pt x="281" y="0"/>
                </a:lnTo>
                <a:lnTo>
                  <a:pt x="313" y="0"/>
                </a:lnTo>
                <a:lnTo>
                  <a:pt x="324" y="32"/>
                </a:lnTo>
                <a:lnTo>
                  <a:pt x="345" y="54"/>
                </a:lnTo>
                <a:lnTo>
                  <a:pt x="367" y="64"/>
                </a:lnTo>
                <a:lnTo>
                  <a:pt x="377" y="86"/>
                </a:lnTo>
                <a:lnTo>
                  <a:pt x="388" y="118"/>
                </a:lnTo>
                <a:lnTo>
                  <a:pt x="388" y="150"/>
                </a:lnTo>
                <a:lnTo>
                  <a:pt x="388" y="182"/>
                </a:lnTo>
                <a:lnTo>
                  <a:pt x="377" y="214"/>
                </a:lnTo>
                <a:lnTo>
                  <a:pt x="377" y="236"/>
                </a:lnTo>
                <a:lnTo>
                  <a:pt x="367" y="268"/>
                </a:lnTo>
                <a:lnTo>
                  <a:pt x="356" y="300"/>
                </a:lnTo>
                <a:lnTo>
                  <a:pt x="334" y="321"/>
                </a:lnTo>
                <a:lnTo>
                  <a:pt x="334" y="343"/>
                </a:lnTo>
                <a:lnTo>
                  <a:pt x="324" y="375"/>
                </a:lnTo>
                <a:lnTo>
                  <a:pt x="302" y="396"/>
                </a:lnTo>
                <a:lnTo>
                  <a:pt x="270" y="386"/>
                </a:lnTo>
                <a:lnTo>
                  <a:pt x="238" y="375"/>
                </a:lnTo>
                <a:lnTo>
                  <a:pt x="206" y="375"/>
                </a:lnTo>
                <a:lnTo>
                  <a:pt x="174" y="364"/>
                </a:lnTo>
                <a:lnTo>
                  <a:pt x="152" y="364"/>
                </a:lnTo>
                <a:lnTo>
                  <a:pt x="120" y="364"/>
                </a:lnTo>
                <a:lnTo>
                  <a:pt x="88" y="364"/>
                </a:lnTo>
                <a:lnTo>
                  <a:pt x="56" y="332"/>
                </a:lnTo>
                <a:lnTo>
                  <a:pt x="35" y="300"/>
                </a:lnTo>
                <a:lnTo>
                  <a:pt x="0" y="236"/>
                </a:lnTo>
                <a:lnTo>
                  <a:pt x="0" y="236"/>
                </a:lnTo>
              </a:path>
            </a:pathLst>
          </a:custGeom>
          <a:solidFill>
            <a:srgbClr val="FDFD24"/>
          </a:solidFill>
          <a:ln w="12700" cap="rnd" cmpd="sng">
            <a:solidFill>
              <a:schemeClr val="tx1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4100" name="Rectangle 36"/>
          <p:cNvSpPr>
            <a:spLocks noChangeArrowheads="1"/>
          </p:cNvSpPr>
          <p:nvPr/>
        </p:nvSpPr>
        <p:spPr bwMode="auto">
          <a:xfrm>
            <a:off x="987425" y="1849438"/>
            <a:ext cx="4508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000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sz="2000" b="1" baseline="-25000">
                <a:solidFill>
                  <a:schemeClr val="tx2"/>
                </a:solidFill>
                <a:latin typeface="Book Antiqua" pitchFamily="18" charset="0"/>
              </a:rPr>
              <a:t>1</a:t>
            </a:r>
          </a:p>
        </p:txBody>
      </p:sp>
      <p:sp>
        <p:nvSpPr>
          <p:cNvPr id="344101" name="Rectangle 37"/>
          <p:cNvSpPr>
            <a:spLocks noChangeArrowheads="1"/>
          </p:cNvSpPr>
          <p:nvPr/>
        </p:nvSpPr>
        <p:spPr bwMode="auto">
          <a:xfrm>
            <a:off x="4111625" y="5811838"/>
            <a:ext cx="4508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000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sz="2000" b="1" baseline="-25000">
                <a:solidFill>
                  <a:schemeClr val="tx2"/>
                </a:solidFill>
                <a:latin typeface="Book Antiqua" pitchFamily="18" charset="0"/>
              </a:rPr>
              <a:t>2</a:t>
            </a:r>
          </a:p>
        </p:txBody>
      </p:sp>
      <p:sp>
        <p:nvSpPr>
          <p:cNvPr id="344102" name="Rectangle 38"/>
          <p:cNvSpPr>
            <a:spLocks noChangeArrowheads="1"/>
          </p:cNvSpPr>
          <p:nvPr/>
        </p:nvSpPr>
        <p:spPr bwMode="auto">
          <a:xfrm>
            <a:off x="1139825" y="2382838"/>
            <a:ext cx="4508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000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sz="2000" b="1" baseline="-25000">
                <a:solidFill>
                  <a:schemeClr val="tx2"/>
                </a:solidFill>
                <a:latin typeface="Book Antiqua" pitchFamily="18" charset="0"/>
              </a:rPr>
              <a:t>3</a:t>
            </a:r>
          </a:p>
        </p:txBody>
      </p:sp>
      <p:sp>
        <p:nvSpPr>
          <p:cNvPr id="344103" name="Rectangle 39"/>
          <p:cNvSpPr>
            <a:spLocks noChangeArrowheads="1"/>
          </p:cNvSpPr>
          <p:nvPr/>
        </p:nvSpPr>
        <p:spPr bwMode="auto">
          <a:xfrm>
            <a:off x="2054225" y="1925638"/>
            <a:ext cx="4508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000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sz="2000" b="1" baseline="-25000">
                <a:solidFill>
                  <a:schemeClr val="tx2"/>
                </a:solidFill>
                <a:latin typeface="Book Antiqua" pitchFamily="18" charset="0"/>
              </a:rPr>
              <a:t>4</a:t>
            </a:r>
          </a:p>
        </p:txBody>
      </p:sp>
      <p:sp>
        <p:nvSpPr>
          <p:cNvPr id="344104" name="Rectangle 40"/>
          <p:cNvSpPr>
            <a:spLocks noChangeArrowheads="1"/>
          </p:cNvSpPr>
          <p:nvPr/>
        </p:nvSpPr>
        <p:spPr bwMode="auto">
          <a:xfrm>
            <a:off x="4035425" y="2382838"/>
            <a:ext cx="4508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000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sz="2000" b="1" baseline="-25000">
                <a:solidFill>
                  <a:schemeClr val="tx2"/>
                </a:solidFill>
                <a:latin typeface="Book Antiqua" pitchFamily="18" charset="0"/>
              </a:rPr>
              <a:t>5</a:t>
            </a:r>
          </a:p>
        </p:txBody>
      </p:sp>
      <p:sp>
        <p:nvSpPr>
          <p:cNvPr id="344105" name="Rectangle 41"/>
          <p:cNvSpPr>
            <a:spLocks noChangeArrowheads="1"/>
          </p:cNvSpPr>
          <p:nvPr/>
        </p:nvSpPr>
        <p:spPr bwMode="auto">
          <a:xfrm>
            <a:off x="454025" y="4897438"/>
            <a:ext cx="4508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000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sz="2000" b="1" baseline="-25000">
                <a:solidFill>
                  <a:schemeClr val="tx2"/>
                </a:solidFill>
                <a:latin typeface="Book Antiqua" pitchFamily="18" charset="0"/>
              </a:rPr>
              <a:t>6</a:t>
            </a:r>
          </a:p>
        </p:txBody>
      </p:sp>
      <p:sp>
        <p:nvSpPr>
          <p:cNvPr id="344106" name="Rectangle 42"/>
          <p:cNvSpPr>
            <a:spLocks noChangeArrowheads="1"/>
          </p:cNvSpPr>
          <p:nvPr/>
        </p:nvSpPr>
        <p:spPr bwMode="auto">
          <a:xfrm>
            <a:off x="5407025" y="4211638"/>
            <a:ext cx="4508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000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sz="2000" b="1" baseline="-25000">
                <a:solidFill>
                  <a:schemeClr val="tx2"/>
                </a:solidFill>
                <a:latin typeface="Book Antiqua" pitchFamily="18" charset="0"/>
              </a:rPr>
              <a:t>7</a:t>
            </a:r>
          </a:p>
        </p:txBody>
      </p:sp>
      <p:sp>
        <p:nvSpPr>
          <p:cNvPr id="344107" name="Rectangle 43" descr="Dark upward diagonal"/>
          <p:cNvSpPr>
            <a:spLocks noChangeArrowheads="1"/>
          </p:cNvSpPr>
          <p:nvPr/>
        </p:nvSpPr>
        <p:spPr bwMode="auto">
          <a:xfrm>
            <a:off x="5676900" y="1260475"/>
            <a:ext cx="558800" cy="406400"/>
          </a:xfrm>
          <a:prstGeom prst="rect">
            <a:avLst/>
          </a:prstGeom>
          <a:pattFill prst="dkUpDiag">
            <a:fgClr>
              <a:srgbClr val="99CCFF"/>
            </a:fgClr>
            <a:bgClr>
              <a:srgbClr val="FFFFFF"/>
            </a:bgClr>
          </a:pattFill>
          <a:ln w="508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4108" name="Rectangle 44"/>
          <p:cNvSpPr>
            <a:spLocks noChangeArrowheads="1"/>
          </p:cNvSpPr>
          <p:nvPr/>
        </p:nvSpPr>
        <p:spPr bwMode="auto">
          <a:xfrm>
            <a:off x="5676900" y="1870075"/>
            <a:ext cx="558800" cy="406400"/>
          </a:xfrm>
          <a:prstGeom prst="rect">
            <a:avLst/>
          </a:prstGeom>
          <a:solidFill>
            <a:schemeClr val="accent1">
              <a:alpha val="50000"/>
            </a:schemeClr>
          </a:solidFill>
          <a:ln w="508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4109" name="Rectangle 45"/>
          <p:cNvSpPr>
            <a:spLocks noChangeArrowheads="1"/>
          </p:cNvSpPr>
          <p:nvPr/>
        </p:nvSpPr>
        <p:spPr bwMode="auto">
          <a:xfrm>
            <a:off x="6473825" y="1219200"/>
            <a:ext cx="1598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b="1">
                <a:solidFill>
                  <a:schemeClr val="tx2"/>
                </a:solidFill>
                <a:latin typeface="Book Antiqua" pitchFamily="18" charset="0"/>
              </a:rPr>
              <a:t>Leaf entry</a:t>
            </a:r>
          </a:p>
        </p:txBody>
      </p:sp>
      <p:sp>
        <p:nvSpPr>
          <p:cNvPr id="344110" name="Rectangle 46"/>
          <p:cNvSpPr>
            <a:spLocks noChangeArrowheads="1"/>
          </p:cNvSpPr>
          <p:nvPr/>
        </p:nvSpPr>
        <p:spPr bwMode="auto">
          <a:xfrm>
            <a:off x="6489700" y="1752600"/>
            <a:ext cx="2286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/>
            <a:r>
              <a:rPr lang="en-US" b="1">
                <a:solidFill>
                  <a:schemeClr val="tx2"/>
                </a:solidFill>
                <a:latin typeface="Book Antiqua" pitchFamily="18" charset="0"/>
              </a:rPr>
              <a:t>Index entry</a:t>
            </a:r>
          </a:p>
        </p:txBody>
      </p:sp>
      <p:sp>
        <p:nvSpPr>
          <p:cNvPr id="344111" name="Freeform 47"/>
          <p:cNvSpPr>
            <a:spLocks/>
          </p:cNvSpPr>
          <p:nvPr/>
        </p:nvSpPr>
        <p:spPr bwMode="auto">
          <a:xfrm>
            <a:off x="5651500" y="2460625"/>
            <a:ext cx="617538" cy="630238"/>
          </a:xfrm>
          <a:custGeom>
            <a:avLst/>
            <a:gdLst/>
            <a:ahLst/>
            <a:cxnLst>
              <a:cxn ang="0">
                <a:pos x="0" y="236"/>
              </a:cxn>
              <a:cxn ang="0">
                <a:pos x="45" y="246"/>
              </a:cxn>
              <a:cxn ang="0">
                <a:pos x="77" y="236"/>
              </a:cxn>
              <a:cxn ang="0">
                <a:pos x="99" y="236"/>
              </a:cxn>
              <a:cxn ang="0">
                <a:pos x="131" y="246"/>
              </a:cxn>
              <a:cxn ang="0">
                <a:pos x="163" y="246"/>
              </a:cxn>
              <a:cxn ang="0">
                <a:pos x="185" y="257"/>
              </a:cxn>
              <a:cxn ang="0">
                <a:pos x="217" y="257"/>
              </a:cxn>
              <a:cxn ang="0">
                <a:pos x="249" y="257"/>
              </a:cxn>
              <a:cxn ang="0">
                <a:pos x="281" y="246"/>
              </a:cxn>
              <a:cxn ang="0">
                <a:pos x="313" y="236"/>
              </a:cxn>
              <a:cxn ang="0">
                <a:pos x="302" y="214"/>
              </a:cxn>
              <a:cxn ang="0">
                <a:pos x="313" y="182"/>
              </a:cxn>
              <a:cxn ang="0">
                <a:pos x="313" y="150"/>
              </a:cxn>
              <a:cxn ang="0">
                <a:pos x="313" y="128"/>
              </a:cxn>
              <a:cxn ang="0">
                <a:pos x="313" y="96"/>
              </a:cxn>
              <a:cxn ang="0">
                <a:pos x="313" y="64"/>
              </a:cxn>
              <a:cxn ang="0">
                <a:pos x="292" y="32"/>
              </a:cxn>
              <a:cxn ang="0">
                <a:pos x="281" y="0"/>
              </a:cxn>
              <a:cxn ang="0">
                <a:pos x="313" y="0"/>
              </a:cxn>
              <a:cxn ang="0">
                <a:pos x="324" y="32"/>
              </a:cxn>
              <a:cxn ang="0">
                <a:pos x="345" y="54"/>
              </a:cxn>
              <a:cxn ang="0">
                <a:pos x="367" y="64"/>
              </a:cxn>
              <a:cxn ang="0">
                <a:pos x="377" y="86"/>
              </a:cxn>
              <a:cxn ang="0">
                <a:pos x="388" y="118"/>
              </a:cxn>
              <a:cxn ang="0">
                <a:pos x="388" y="150"/>
              </a:cxn>
              <a:cxn ang="0">
                <a:pos x="388" y="182"/>
              </a:cxn>
              <a:cxn ang="0">
                <a:pos x="377" y="214"/>
              </a:cxn>
              <a:cxn ang="0">
                <a:pos x="377" y="236"/>
              </a:cxn>
              <a:cxn ang="0">
                <a:pos x="367" y="268"/>
              </a:cxn>
              <a:cxn ang="0">
                <a:pos x="356" y="300"/>
              </a:cxn>
              <a:cxn ang="0">
                <a:pos x="334" y="321"/>
              </a:cxn>
              <a:cxn ang="0">
                <a:pos x="334" y="343"/>
              </a:cxn>
              <a:cxn ang="0">
                <a:pos x="324" y="375"/>
              </a:cxn>
              <a:cxn ang="0">
                <a:pos x="302" y="396"/>
              </a:cxn>
              <a:cxn ang="0">
                <a:pos x="270" y="386"/>
              </a:cxn>
              <a:cxn ang="0">
                <a:pos x="238" y="375"/>
              </a:cxn>
              <a:cxn ang="0">
                <a:pos x="206" y="375"/>
              </a:cxn>
              <a:cxn ang="0">
                <a:pos x="174" y="364"/>
              </a:cxn>
              <a:cxn ang="0">
                <a:pos x="152" y="364"/>
              </a:cxn>
              <a:cxn ang="0">
                <a:pos x="120" y="364"/>
              </a:cxn>
              <a:cxn ang="0">
                <a:pos x="88" y="364"/>
              </a:cxn>
              <a:cxn ang="0">
                <a:pos x="56" y="332"/>
              </a:cxn>
              <a:cxn ang="0">
                <a:pos x="35" y="300"/>
              </a:cxn>
              <a:cxn ang="0">
                <a:pos x="0" y="236"/>
              </a:cxn>
              <a:cxn ang="0">
                <a:pos x="0" y="236"/>
              </a:cxn>
            </a:cxnLst>
            <a:rect l="0" t="0" r="r" b="b"/>
            <a:pathLst>
              <a:path w="389" h="397">
                <a:moveTo>
                  <a:pt x="0" y="236"/>
                </a:moveTo>
                <a:lnTo>
                  <a:pt x="45" y="246"/>
                </a:lnTo>
                <a:lnTo>
                  <a:pt x="77" y="236"/>
                </a:lnTo>
                <a:lnTo>
                  <a:pt x="99" y="236"/>
                </a:lnTo>
                <a:lnTo>
                  <a:pt x="131" y="246"/>
                </a:lnTo>
                <a:lnTo>
                  <a:pt x="163" y="246"/>
                </a:lnTo>
                <a:lnTo>
                  <a:pt x="185" y="257"/>
                </a:lnTo>
                <a:lnTo>
                  <a:pt x="217" y="257"/>
                </a:lnTo>
                <a:lnTo>
                  <a:pt x="249" y="257"/>
                </a:lnTo>
                <a:lnTo>
                  <a:pt x="281" y="246"/>
                </a:lnTo>
                <a:lnTo>
                  <a:pt x="313" y="236"/>
                </a:lnTo>
                <a:lnTo>
                  <a:pt x="302" y="214"/>
                </a:lnTo>
                <a:lnTo>
                  <a:pt x="313" y="182"/>
                </a:lnTo>
                <a:lnTo>
                  <a:pt x="313" y="150"/>
                </a:lnTo>
                <a:lnTo>
                  <a:pt x="313" y="128"/>
                </a:lnTo>
                <a:lnTo>
                  <a:pt x="313" y="96"/>
                </a:lnTo>
                <a:lnTo>
                  <a:pt x="313" y="64"/>
                </a:lnTo>
                <a:lnTo>
                  <a:pt x="292" y="32"/>
                </a:lnTo>
                <a:lnTo>
                  <a:pt x="281" y="0"/>
                </a:lnTo>
                <a:lnTo>
                  <a:pt x="313" y="0"/>
                </a:lnTo>
                <a:lnTo>
                  <a:pt x="324" y="32"/>
                </a:lnTo>
                <a:lnTo>
                  <a:pt x="345" y="54"/>
                </a:lnTo>
                <a:lnTo>
                  <a:pt x="367" y="64"/>
                </a:lnTo>
                <a:lnTo>
                  <a:pt x="377" y="86"/>
                </a:lnTo>
                <a:lnTo>
                  <a:pt x="388" y="118"/>
                </a:lnTo>
                <a:lnTo>
                  <a:pt x="388" y="150"/>
                </a:lnTo>
                <a:lnTo>
                  <a:pt x="388" y="182"/>
                </a:lnTo>
                <a:lnTo>
                  <a:pt x="377" y="214"/>
                </a:lnTo>
                <a:lnTo>
                  <a:pt x="377" y="236"/>
                </a:lnTo>
                <a:lnTo>
                  <a:pt x="367" y="268"/>
                </a:lnTo>
                <a:lnTo>
                  <a:pt x="356" y="300"/>
                </a:lnTo>
                <a:lnTo>
                  <a:pt x="334" y="321"/>
                </a:lnTo>
                <a:lnTo>
                  <a:pt x="334" y="343"/>
                </a:lnTo>
                <a:lnTo>
                  <a:pt x="324" y="375"/>
                </a:lnTo>
                <a:lnTo>
                  <a:pt x="302" y="396"/>
                </a:lnTo>
                <a:lnTo>
                  <a:pt x="270" y="386"/>
                </a:lnTo>
                <a:lnTo>
                  <a:pt x="238" y="375"/>
                </a:lnTo>
                <a:lnTo>
                  <a:pt x="206" y="375"/>
                </a:lnTo>
                <a:lnTo>
                  <a:pt x="174" y="364"/>
                </a:lnTo>
                <a:lnTo>
                  <a:pt x="152" y="364"/>
                </a:lnTo>
                <a:lnTo>
                  <a:pt x="120" y="364"/>
                </a:lnTo>
                <a:lnTo>
                  <a:pt x="88" y="364"/>
                </a:lnTo>
                <a:lnTo>
                  <a:pt x="56" y="332"/>
                </a:lnTo>
                <a:lnTo>
                  <a:pt x="35" y="300"/>
                </a:lnTo>
                <a:lnTo>
                  <a:pt x="0" y="236"/>
                </a:lnTo>
                <a:lnTo>
                  <a:pt x="0" y="236"/>
                </a:lnTo>
              </a:path>
            </a:pathLst>
          </a:custGeom>
          <a:solidFill>
            <a:srgbClr val="FDFD24"/>
          </a:solidFill>
          <a:ln w="12700" cap="rnd" cmpd="sng">
            <a:solidFill>
              <a:schemeClr val="tx1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4112" name="Rectangle 48"/>
          <p:cNvSpPr>
            <a:spLocks noChangeArrowheads="1"/>
          </p:cNvSpPr>
          <p:nvPr/>
        </p:nvSpPr>
        <p:spPr bwMode="auto">
          <a:xfrm>
            <a:off x="6475413" y="2286000"/>
            <a:ext cx="2622550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b="1">
                <a:solidFill>
                  <a:schemeClr val="tx2"/>
                </a:solidFill>
                <a:latin typeface="Book Antiqua" pitchFamily="18" charset="0"/>
              </a:rPr>
              <a:t>Spatial object</a:t>
            </a:r>
          </a:p>
          <a:p>
            <a:pPr eaLnBrk="0" hangingPunct="0"/>
            <a:r>
              <a:rPr lang="en-US" b="1">
                <a:solidFill>
                  <a:schemeClr val="tx2"/>
                </a:solidFill>
                <a:latin typeface="Book Antiqua" pitchFamily="18" charset="0"/>
              </a:rPr>
              <a:t>approximated by </a:t>
            </a:r>
          </a:p>
          <a:p>
            <a:pPr eaLnBrk="0" hangingPunct="0"/>
            <a:r>
              <a:rPr lang="en-US" b="1">
                <a:solidFill>
                  <a:schemeClr val="tx2"/>
                </a:solidFill>
                <a:latin typeface="Book Antiqua" pitchFamily="18" charset="0"/>
              </a:rPr>
              <a:t>bounding box R</a:t>
            </a:r>
            <a:r>
              <a:rPr lang="en-US" b="1" baseline="-25000">
                <a:solidFill>
                  <a:schemeClr val="tx2"/>
                </a:solidFill>
                <a:latin typeface="Book Antiqua" pitchFamily="18" charset="0"/>
              </a:rPr>
              <a:t>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90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609600" y="533400"/>
            <a:ext cx="8534400" cy="762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Example R-Tree (cont.)</a:t>
            </a:r>
          </a:p>
        </p:txBody>
      </p:sp>
      <p:sp>
        <p:nvSpPr>
          <p:cNvPr id="345092" name="Rectangle 4" descr="Dark upward diagonal"/>
          <p:cNvSpPr>
            <a:spLocks noChangeArrowheads="1"/>
          </p:cNvSpPr>
          <p:nvPr/>
        </p:nvSpPr>
        <p:spPr bwMode="auto">
          <a:xfrm>
            <a:off x="1911350" y="5340350"/>
            <a:ext cx="1587500" cy="673100"/>
          </a:xfrm>
          <a:prstGeom prst="rect">
            <a:avLst/>
          </a:prstGeom>
          <a:pattFill prst="dkUpDiag">
            <a:fgClr>
              <a:srgbClr val="99CCFF"/>
            </a:fgClr>
            <a:bgClr>
              <a:srgbClr val="FFFFFF"/>
            </a:bgClr>
          </a:patt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5093" name="Line 5" descr="Dark upward diagonal"/>
          <p:cNvSpPr>
            <a:spLocks noChangeShapeType="1"/>
          </p:cNvSpPr>
          <p:nvPr/>
        </p:nvSpPr>
        <p:spPr bwMode="auto">
          <a:xfrm>
            <a:off x="2514600" y="5334000"/>
            <a:ext cx="0" cy="68580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5094" name="Line 6" descr="Dark upward diagonal"/>
          <p:cNvSpPr>
            <a:spLocks noChangeShapeType="1"/>
          </p:cNvSpPr>
          <p:nvPr/>
        </p:nvSpPr>
        <p:spPr bwMode="auto">
          <a:xfrm>
            <a:off x="3200400" y="5334000"/>
            <a:ext cx="0" cy="68580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5095" name="Rectangle 7" descr="Dark upward diagonal"/>
          <p:cNvSpPr>
            <a:spLocks noChangeArrowheads="1"/>
          </p:cNvSpPr>
          <p:nvPr/>
        </p:nvSpPr>
        <p:spPr bwMode="auto">
          <a:xfrm>
            <a:off x="82550" y="5340350"/>
            <a:ext cx="1739900" cy="673100"/>
          </a:xfrm>
          <a:prstGeom prst="rect">
            <a:avLst/>
          </a:prstGeom>
          <a:pattFill prst="dkUpDiag">
            <a:fgClr>
              <a:srgbClr val="99CCFF"/>
            </a:fgClr>
            <a:bgClr>
              <a:srgbClr val="FFFFFF"/>
            </a:bgClr>
          </a:patt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5096" name="Line 8" descr="Dark upward diagonal"/>
          <p:cNvSpPr>
            <a:spLocks noChangeShapeType="1"/>
          </p:cNvSpPr>
          <p:nvPr/>
        </p:nvSpPr>
        <p:spPr bwMode="auto">
          <a:xfrm>
            <a:off x="609600" y="5334000"/>
            <a:ext cx="0" cy="68580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5097" name="Line 9" descr="Dark upward diagonal"/>
          <p:cNvSpPr>
            <a:spLocks noChangeShapeType="1"/>
          </p:cNvSpPr>
          <p:nvPr/>
        </p:nvSpPr>
        <p:spPr bwMode="auto">
          <a:xfrm>
            <a:off x="1143000" y="5334000"/>
            <a:ext cx="0" cy="68580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5098" name="Rectangle 10" descr="Dark upward diagonal"/>
          <p:cNvSpPr>
            <a:spLocks noChangeArrowheads="1"/>
          </p:cNvSpPr>
          <p:nvPr/>
        </p:nvSpPr>
        <p:spPr bwMode="auto">
          <a:xfrm>
            <a:off x="3587750" y="5340350"/>
            <a:ext cx="1663700" cy="673100"/>
          </a:xfrm>
          <a:prstGeom prst="rect">
            <a:avLst/>
          </a:prstGeom>
          <a:pattFill prst="dkUpDiag">
            <a:fgClr>
              <a:srgbClr val="99CCFF"/>
            </a:fgClr>
            <a:bgClr>
              <a:srgbClr val="FFFFFF"/>
            </a:bgClr>
          </a:patt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5099" name="Line 11" descr="Dark upward diagonal"/>
          <p:cNvSpPr>
            <a:spLocks noChangeShapeType="1"/>
          </p:cNvSpPr>
          <p:nvPr/>
        </p:nvSpPr>
        <p:spPr bwMode="auto">
          <a:xfrm>
            <a:off x="4267200" y="5334000"/>
            <a:ext cx="0" cy="68580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5100" name="Line 12" descr="Dark upward diagonal"/>
          <p:cNvSpPr>
            <a:spLocks noChangeShapeType="1"/>
          </p:cNvSpPr>
          <p:nvPr/>
        </p:nvSpPr>
        <p:spPr bwMode="auto">
          <a:xfrm>
            <a:off x="4876800" y="5334000"/>
            <a:ext cx="0" cy="68580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5101" name="Rectangle 13" descr="Dark upward diagonal"/>
          <p:cNvSpPr>
            <a:spLocks noChangeArrowheads="1"/>
          </p:cNvSpPr>
          <p:nvPr/>
        </p:nvSpPr>
        <p:spPr bwMode="auto">
          <a:xfrm>
            <a:off x="5416550" y="5340350"/>
            <a:ext cx="1665288" cy="673100"/>
          </a:xfrm>
          <a:prstGeom prst="rect">
            <a:avLst/>
          </a:prstGeom>
          <a:pattFill prst="dkUpDiag">
            <a:fgClr>
              <a:srgbClr val="99CCFF"/>
            </a:fgClr>
            <a:bgClr>
              <a:srgbClr val="FFFFFF"/>
            </a:bgClr>
          </a:patt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5102" name="Line 14" descr="Dark upward diagonal"/>
          <p:cNvSpPr>
            <a:spLocks noChangeShapeType="1"/>
          </p:cNvSpPr>
          <p:nvPr/>
        </p:nvSpPr>
        <p:spPr bwMode="auto">
          <a:xfrm>
            <a:off x="6075363" y="5334000"/>
            <a:ext cx="0" cy="68580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5103" name="Line 15" descr="Dark upward diagonal"/>
          <p:cNvSpPr>
            <a:spLocks noChangeShapeType="1"/>
          </p:cNvSpPr>
          <p:nvPr/>
        </p:nvSpPr>
        <p:spPr bwMode="auto">
          <a:xfrm>
            <a:off x="6702425" y="5316538"/>
            <a:ext cx="0" cy="68580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5104" name="Rectangle 16" descr="Dark upward diagonal"/>
          <p:cNvSpPr>
            <a:spLocks noChangeArrowheads="1"/>
          </p:cNvSpPr>
          <p:nvPr/>
        </p:nvSpPr>
        <p:spPr bwMode="auto">
          <a:xfrm>
            <a:off x="7169150" y="5340350"/>
            <a:ext cx="1892300" cy="673100"/>
          </a:xfrm>
          <a:prstGeom prst="rect">
            <a:avLst/>
          </a:prstGeom>
          <a:pattFill prst="dkUpDiag">
            <a:fgClr>
              <a:srgbClr val="99CCFF"/>
            </a:fgClr>
            <a:bgClr>
              <a:srgbClr val="FFFFFF"/>
            </a:bgClr>
          </a:patt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5105" name="Line 17" descr="Dark upward diagonal"/>
          <p:cNvSpPr>
            <a:spLocks noChangeShapeType="1"/>
          </p:cNvSpPr>
          <p:nvPr/>
        </p:nvSpPr>
        <p:spPr bwMode="auto">
          <a:xfrm>
            <a:off x="7775575" y="5334000"/>
            <a:ext cx="0" cy="68580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5106" name="Line 18" descr="Dark upward diagonal"/>
          <p:cNvSpPr>
            <a:spLocks noChangeShapeType="1"/>
          </p:cNvSpPr>
          <p:nvPr/>
        </p:nvSpPr>
        <p:spPr bwMode="auto">
          <a:xfrm>
            <a:off x="8420100" y="5316538"/>
            <a:ext cx="0" cy="68580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5107" name="Line 19"/>
          <p:cNvSpPr>
            <a:spLocks noChangeShapeType="1"/>
          </p:cNvSpPr>
          <p:nvPr/>
        </p:nvSpPr>
        <p:spPr bwMode="auto">
          <a:xfrm>
            <a:off x="381000" y="5791200"/>
            <a:ext cx="0" cy="60960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5108" name="Line 20"/>
          <p:cNvSpPr>
            <a:spLocks noChangeShapeType="1"/>
          </p:cNvSpPr>
          <p:nvPr/>
        </p:nvSpPr>
        <p:spPr bwMode="auto">
          <a:xfrm>
            <a:off x="914400" y="5791200"/>
            <a:ext cx="0" cy="60960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5109" name="Line 21"/>
          <p:cNvSpPr>
            <a:spLocks noChangeShapeType="1"/>
          </p:cNvSpPr>
          <p:nvPr/>
        </p:nvSpPr>
        <p:spPr bwMode="auto">
          <a:xfrm>
            <a:off x="1447800" y="5791200"/>
            <a:ext cx="0" cy="60960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5110" name="Line 22"/>
          <p:cNvSpPr>
            <a:spLocks noChangeShapeType="1"/>
          </p:cNvSpPr>
          <p:nvPr/>
        </p:nvSpPr>
        <p:spPr bwMode="auto">
          <a:xfrm>
            <a:off x="2209800" y="5791200"/>
            <a:ext cx="0" cy="60960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5111" name="Line 23"/>
          <p:cNvSpPr>
            <a:spLocks noChangeShapeType="1"/>
          </p:cNvSpPr>
          <p:nvPr/>
        </p:nvSpPr>
        <p:spPr bwMode="auto">
          <a:xfrm>
            <a:off x="2819400" y="5791200"/>
            <a:ext cx="0" cy="60960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5112" name="Line 24"/>
          <p:cNvSpPr>
            <a:spLocks noChangeShapeType="1"/>
          </p:cNvSpPr>
          <p:nvPr/>
        </p:nvSpPr>
        <p:spPr bwMode="auto">
          <a:xfrm>
            <a:off x="3962400" y="5791200"/>
            <a:ext cx="0" cy="60960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5113" name="Line 25"/>
          <p:cNvSpPr>
            <a:spLocks noChangeShapeType="1"/>
          </p:cNvSpPr>
          <p:nvPr/>
        </p:nvSpPr>
        <p:spPr bwMode="auto">
          <a:xfrm>
            <a:off x="4495800" y="5791200"/>
            <a:ext cx="0" cy="60960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5114" name="Line 26"/>
          <p:cNvSpPr>
            <a:spLocks noChangeShapeType="1"/>
          </p:cNvSpPr>
          <p:nvPr/>
        </p:nvSpPr>
        <p:spPr bwMode="auto">
          <a:xfrm>
            <a:off x="5791200" y="5791200"/>
            <a:ext cx="0" cy="60960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5115" name="Line 27"/>
          <p:cNvSpPr>
            <a:spLocks noChangeShapeType="1"/>
          </p:cNvSpPr>
          <p:nvPr/>
        </p:nvSpPr>
        <p:spPr bwMode="auto">
          <a:xfrm>
            <a:off x="6324600" y="5791200"/>
            <a:ext cx="0" cy="60960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5116" name="Line 28"/>
          <p:cNvSpPr>
            <a:spLocks noChangeShapeType="1"/>
          </p:cNvSpPr>
          <p:nvPr/>
        </p:nvSpPr>
        <p:spPr bwMode="auto">
          <a:xfrm>
            <a:off x="7620000" y="5791200"/>
            <a:ext cx="0" cy="60960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5117" name="Line 29"/>
          <p:cNvSpPr>
            <a:spLocks noChangeShapeType="1"/>
          </p:cNvSpPr>
          <p:nvPr/>
        </p:nvSpPr>
        <p:spPr bwMode="auto">
          <a:xfrm>
            <a:off x="8153400" y="5791200"/>
            <a:ext cx="0" cy="60960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5118" name="Line 30"/>
          <p:cNvSpPr>
            <a:spLocks noChangeShapeType="1"/>
          </p:cNvSpPr>
          <p:nvPr/>
        </p:nvSpPr>
        <p:spPr bwMode="auto">
          <a:xfrm>
            <a:off x="8686800" y="5791200"/>
            <a:ext cx="0" cy="60960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5119" name="Rectangle 31"/>
          <p:cNvSpPr>
            <a:spLocks noChangeArrowheads="1"/>
          </p:cNvSpPr>
          <p:nvPr/>
        </p:nvSpPr>
        <p:spPr bwMode="auto">
          <a:xfrm>
            <a:off x="2082800" y="3378200"/>
            <a:ext cx="1549400" cy="635000"/>
          </a:xfrm>
          <a:prstGeom prst="rect">
            <a:avLst/>
          </a:prstGeom>
          <a:solidFill>
            <a:schemeClr val="accent1"/>
          </a:solidFill>
          <a:ln w="508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5120" name="Line 32"/>
          <p:cNvSpPr>
            <a:spLocks noChangeShapeType="1"/>
          </p:cNvSpPr>
          <p:nvPr/>
        </p:nvSpPr>
        <p:spPr bwMode="auto">
          <a:xfrm>
            <a:off x="2590800" y="3352800"/>
            <a:ext cx="0" cy="685800"/>
          </a:xfrm>
          <a:prstGeom prst="line">
            <a:avLst/>
          </a:prstGeom>
          <a:noFill/>
          <a:ln w="50800">
            <a:solidFill>
              <a:schemeClr val="folHlink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5121" name="Line 33"/>
          <p:cNvSpPr>
            <a:spLocks noChangeShapeType="1"/>
          </p:cNvSpPr>
          <p:nvPr/>
        </p:nvSpPr>
        <p:spPr bwMode="auto">
          <a:xfrm>
            <a:off x="3124200" y="3352800"/>
            <a:ext cx="0" cy="685800"/>
          </a:xfrm>
          <a:prstGeom prst="line">
            <a:avLst/>
          </a:prstGeom>
          <a:noFill/>
          <a:ln w="50800">
            <a:solidFill>
              <a:schemeClr val="folHlink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5122" name="Rectangle 34"/>
          <p:cNvSpPr>
            <a:spLocks noChangeArrowheads="1"/>
          </p:cNvSpPr>
          <p:nvPr/>
        </p:nvSpPr>
        <p:spPr bwMode="auto">
          <a:xfrm>
            <a:off x="5359400" y="3378200"/>
            <a:ext cx="1549400" cy="635000"/>
          </a:xfrm>
          <a:prstGeom prst="rect">
            <a:avLst/>
          </a:prstGeom>
          <a:solidFill>
            <a:schemeClr val="accent1"/>
          </a:solidFill>
          <a:ln w="508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5123" name="Line 35"/>
          <p:cNvSpPr>
            <a:spLocks noChangeShapeType="1"/>
          </p:cNvSpPr>
          <p:nvPr/>
        </p:nvSpPr>
        <p:spPr bwMode="auto">
          <a:xfrm>
            <a:off x="5867400" y="3352800"/>
            <a:ext cx="0" cy="685800"/>
          </a:xfrm>
          <a:prstGeom prst="line">
            <a:avLst/>
          </a:prstGeom>
          <a:noFill/>
          <a:ln w="50800">
            <a:solidFill>
              <a:schemeClr val="folHlink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5124" name="Line 36"/>
          <p:cNvSpPr>
            <a:spLocks noChangeShapeType="1"/>
          </p:cNvSpPr>
          <p:nvPr/>
        </p:nvSpPr>
        <p:spPr bwMode="auto">
          <a:xfrm>
            <a:off x="6400800" y="3352800"/>
            <a:ext cx="0" cy="685800"/>
          </a:xfrm>
          <a:prstGeom prst="line">
            <a:avLst/>
          </a:prstGeom>
          <a:noFill/>
          <a:ln w="50800">
            <a:solidFill>
              <a:schemeClr val="folHlink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5125" name="Rectangle 37"/>
          <p:cNvSpPr>
            <a:spLocks noChangeArrowheads="1"/>
          </p:cNvSpPr>
          <p:nvPr/>
        </p:nvSpPr>
        <p:spPr bwMode="auto">
          <a:xfrm>
            <a:off x="3759200" y="1701800"/>
            <a:ext cx="1549400" cy="635000"/>
          </a:xfrm>
          <a:prstGeom prst="rect">
            <a:avLst/>
          </a:prstGeom>
          <a:solidFill>
            <a:schemeClr val="accent1"/>
          </a:solidFill>
          <a:ln w="508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5126" name="Line 38"/>
          <p:cNvSpPr>
            <a:spLocks noChangeShapeType="1"/>
          </p:cNvSpPr>
          <p:nvPr/>
        </p:nvSpPr>
        <p:spPr bwMode="auto">
          <a:xfrm>
            <a:off x="4267200" y="1676400"/>
            <a:ext cx="0" cy="685800"/>
          </a:xfrm>
          <a:prstGeom prst="line">
            <a:avLst/>
          </a:prstGeom>
          <a:noFill/>
          <a:ln w="50800">
            <a:solidFill>
              <a:schemeClr val="folHlink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5127" name="Line 39"/>
          <p:cNvSpPr>
            <a:spLocks noChangeShapeType="1"/>
          </p:cNvSpPr>
          <p:nvPr/>
        </p:nvSpPr>
        <p:spPr bwMode="auto">
          <a:xfrm>
            <a:off x="4800600" y="1676400"/>
            <a:ext cx="0" cy="685800"/>
          </a:xfrm>
          <a:prstGeom prst="line">
            <a:avLst/>
          </a:prstGeom>
          <a:noFill/>
          <a:ln w="50800">
            <a:solidFill>
              <a:schemeClr val="folHlink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5128" name="Line 40"/>
          <p:cNvSpPr>
            <a:spLocks noChangeShapeType="1"/>
          </p:cNvSpPr>
          <p:nvPr/>
        </p:nvSpPr>
        <p:spPr bwMode="auto">
          <a:xfrm flipH="1">
            <a:off x="2895600" y="2286000"/>
            <a:ext cx="1066800" cy="106680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5129" name="Line 41"/>
          <p:cNvSpPr>
            <a:spLocks noChangeShapeType="1"/>
          </p:cNvSpPr>
          <p:nvPr/>
        </p:nvSpPr>
        <p:spPr bwMode="auto">
          <a:xfrm>
            <a:off x="4572000" y="2286000"/>
            <a:ext cx="1447800" cy="106680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5130" name="Line 42"/>
          <p:cNvSpPr>
            <a:spLocks noChangeShapeType="1"/>
          </p:cNvSpPr>
          <p:nvPr/>
        </p:nvSpPr>
        <p:spPr bwMode="auto">
          <a:xfrm flipH="1">
            <a:off x="914400" y="3962400"/>
            <a:ext cx="1447800" cy="129540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5131" name="Line 43"/>
          <p:cNvSpPr>
            <a:spLocks noChangeShapeType="1"/>
          </p:cNvSpPr>
          <p:nvPr/>
        </p:nvSpPr>
        <p:spPr bwMode="auto">
          <a:xfrm flipH="1">
            <a:off x="2667000" y="3962400"/>
            <a:ext cx="152400" cy="137160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5132" name="Line 44"/>
          <p:cNvSpPr>
            <a:spLocks noChangeShapeType="1"/>
          </p:cNvSpPr>
          <p:nvPr/>
        </p:nvSpPr>
        <p:spPr bwMode="auto">
          <a:xfrm>
            <a:off x="3352800" y="3962400"/>
            <a:ext cx="1066800" cy="129540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5133" name="Line 45"/>
          <p:cNvSpPr>
            <a:spLocks noChangeShapeType="1"/>
          </p:cNvSpPr>
          <p:nvPr/>
        </p:nvSpPr>
        <p:spPr bwMode="auto">
          <a:xfrm>
            <a:off x="5638800" y="3962400"/>
            <a:ext cx="609600" cy="137160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5134" name="Line 46"/>
          <p:cNvSpPr>
            <a:spLocks noChangeShapeType="1"/>
          </p:cNvSpPr>
          <p:nvPr/>
        </p:nvSpPr>
        <p:spPr bwMode="auto">
          <a:xfrm>
            <a:off x="6172200" y="3962400"/>
            <a:ext cx="1828800" cy="129540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none" w="sm" len="sm"/>
            <a:tailEnd type="stealth" w="med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45135" name="Rectangle 47"/>
          <p:cNvSpPr>
            <a:spLocks noChangeArrowheads="1"/>
          </p:cNvSpPr>
          <p:nvPr/>
        </p:nvSpPr>
        <p:spPr bwMode="auto">
          <a:xfrm>
            <a:off x="3717925" y="1812925"/>
            <a:ext cx="506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b="1" baseline="-25000">
                <a:solidFill>
                  <a:schemeClr val="tx2"/>
                </a:solidFill>
                <a:latin typeface="Book Antiqua" pitchFamily="18" charset="0"/>
              </a:rPr>
              <a:t>1</a:t>
            </a:r>
          </a:p>
        </p:txBody>
      </p:sp>
      <p:sp>
        <p:nvSpPr>
          <p:cNvPr id="345136" name="Rectangle 48"/>
          <p:cNvSpPr>
            <a:spLocks noChangeArrowheads="1"/>
          </p:cNvSpPr>
          <p:nvPr/>
        </p:nvSpPr>
        <p:spPr bwMode="auto">
          <a:xfrm>
            <a:off x="4251325" y="1812925"/>
            <a:ext cx="506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b="1" baseline="-25000">
                <a:solidFill>
                  <a:schemeClr val="tx2"/>
                </a:solidFill>
                <a:latin typeface="Book Antiqua" pitchFamily="18" charset="0"/>
              </a:rPr>
              <a:t>2</a:t>
            </a:r>
          </a:p>
        </p:txBody>
      </p:sp>
      <p:sp>
        <p:nvSpPr>
          <p:cNvPr id="345137" name="Rectangle 49"/>
          <p:cNvSpPr>
            <a:spLocks noChangeArrowheads="1"/>
          </p:cNvSpPr>
          <p:nvPr/>
        </p:nvSpPr>
        <p:spPr bwMode="auto">
          <a:xfrm>
            <a:off x="2041525" y="3489325"/>
            <a:ext cx="506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b="1" baseline="-25000">
                <a:solidFill>
                  <a:schemeClr val="tx2"/>
                </a:solidFill>
                <a:latin typeface="Book Antiqua" pitchFamily="18" charset="0"/>
              </a:rPr>
              <a:t>3</a:t>
            </a:r>
          </a:p>
        </p:txBody>
      </p:sp>
      <p:sp>
        <p:nvSpPr>
          <p:cNvPr id="345138" name="Rectangle 50"/>
          <p:cNvSpPr>
            <a:spLocks noChangeArrowheads="1"/>
          </p:cNvSpPr>
          <p:nvPr/>
        </p:nvSpPr>
        <p:spPr bwMode="auto">
          <a:xfrm>
            <a:off x="2574925" y="3489325"/>
            <a:ext cx="506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b="1" baseline="-25000">
                <a:solidFill>
                  <a:schemeClr val="tx2"/>
                </a:solidFill>
                <a:latin typeface="Book Antiqua" pitchFamily="18" charset="0"/>
              </a:rPr>
              <a:t>4</a:t>
            </a:r>
          </a:p>
        </p:txBody>
      </p:sp>
      <p:sp>
        <p:nvSpPr>
          <p:cNvPr id="345139" name="Rectangle 51"/>
          <p:cNvSpPr>
            <a:spLocks noChangeArrowheads="1"/>
          </p:cNvSpPr>
          <p:nvPr/>
        </p:nvSpPr>
        <p:spPr bwMode="auto">
          <a:xfrm>
            <a:off x="3108325" y="3489325"/>
            <a:ext cx="506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b="1" baseline="-25000">
                <a:solidFill>
                  <a:schemeClr val="tx2"/>
                </a:solidFill>
                <a:latin typeface="Book Antiqua" pitchFamily="18" charset="0"/>
              </a:rPr>
              <a:t>5</a:t>
            </a:r>
          </a:p>
        </p:txBody>
      </p:sp>
      <p:sp>
        <p:nvSpPr>
          <p:cNvPr id="345140" name="Rectangle 52"/>
          <p:cNvSpPr>
            <a:spLocks noChangeArrowheads="1"/>
          </p:cNvSpPr>
          <p:nvPr/>
        </p:nvSpPr>
        <p:spPr bwMode="auto">
          <a:xfrm>
            <a:off x="5318125" y="3489325"/>
            <a:ext cx="506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b="1" baseline="-25000">
                <a:solidFill>
                  <a:schemeClr val="tx2"/>
                </a:solidFill>
                <a:latin typeface="Book Antiqua" pitchFamily="18" charset="0"/>
              </a:rPr>
              <a:t>6</a:t>
            </a:r>
          </a:p>
        </p:txBody>
      </p:sp>
      <p:sp>
        <p:nvSpPr>
          <p:cNvPr id="345141" name="Rectangle 53"/>
          <p:cNvSpPr>
            <a:spLocks noChangeArrowheads="1"/>
          </p:cNvSpPr>
          <p:nvPr/>
        </p:nvSpPr>
        <p:spPr bwMode="auto">
          <a:xfrm>
            <a:off x="5851525" y="3489325"/>
            <a:ext cx="506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b="1" baseline="-25000">
                <a:solidFill>
                  <a:schemeClr val="tx2"/>
                </a:solidFill>
                <a:latin typeface="Book Antiqua" pitchFamily="18" charset="0"/>
              </a:rPr>
              <a:t>7</a:t>
            </a:r>
          </a:p>
        </p:txBody>
      </p:sp>
      <p:sp>
        <p:nvSpPr>
          <p:cNvPr id="345142" name="Rectangle 54"/>
          <p:cNvSpPr>
            <a:spLocks noChangeArrowheads="1"/>
          </p:cNvSpPr>
          <p:nvPr/>
        </p:nvSpPr>
        <p:spPr bwMode="auto">
          <a:xfrm>
            <a:off x="60325" y="5394325"/>
            <a:ext cx="506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b="1" baseline="-25000">
                <a:solidFill>
                  <a:schemeClr val="tx2"/>
                </a:solidFill>
                <a:latin typeface="Book Antiqua" pitchFamily="18" charset="0"/>
              </a:rPr>
              <a:t>8</a:t>
            </a:r>
          </a:p>
        </p:txBody>
      </p:sp>
      <p:sp>
        <p:nvSpPr>
          <p:cNvPr id="345143" name="Rectangle 55"/>
          <p:cNvSpPr>
            <a:spLocks noChangeArrowheads="1"/>
          </p:cNvSpPr>
          <p:nvPr/>
        </p:nvSpPr>
        <p:spPr bwMode="auto">
          <a:xfrm>
            <a:off x="593725" y="5394325"/>
            <a:ext cx="506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b="1" baseline="-25000">
                <a:solidFill>
                  <a:schemeClr val="tx2"/>
                </a:solidFill>
                <a:latin typeface="Book Antiqua" pitchFamily="18" charset="0"/>
              </a:rPr>
              <a:t>9</a:t>
            </a:r>
          </a:p>
        </p:txBody>
      </p:sp>
      <p:sp>
        <p:nvSpPr>
          <p:cNvPr id="345144" name="Rectangle 56"/>
          <p:cNvSpPr>
            <a:spLocks noChangeArrowheads="1"/>
          </p:cNvSpPr>
          <p:nvPr/>
        </p:nvSpPr>
        <p:spPr bwMode="auto">
          <a:xfrm>
            <a:off x="1127125" y="5394325"/>
            <a:ext cx="608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b="1" baseline="-25000">
                <a:solidFill>
                  <a:schemeClr val="tx2"/>
                </a:solidFill>
                <a:latin typeface="Book Antiqua" pitchFamily="18" charset="0"/>
              </a:rPr>
              <a:t>10</a:t>
            </a:r>
          </a:p>
        </p:txBody>
      </p:sp>
      <p:sp>
        <p:nvSpPr>
          <p:cNvPr id="345145" name="Rectangle 57"/>
          <p:cNvSpPr>
            <a:spLocks noChangeArrowheads="1"/>
          </p:cNvSpPr>
          <p:nvPr/>
        </p:nvSpPr>
        <p:spPr bwMode="auto">
          <a:xfrm>
            <a:off x="1889125" y="5394325"/>
            <a:ext cx="608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b="1" baseline="-25000">
                <a:solidFill>
                  <a:schemeClr val="tx2"/>
                </a:solidFill>
                <a:latin typeface="Book Antiqua" pitchFamily="18" charset="0"/>
              </a:rPr>
              <a:t>11</a:t>
            </a:r>
          </a:p>
        </p:txBody>
      </p:sp>
      <p:sp>
        <p:nvSpPr>
          <p:cNvPr id="345146" name="Rectangle 58"/>
          <p:cNvSpPr>
            <a:spLocks noChangeArrowheads="1"/>
          </p:cNvSpPr>
          <p:nvPr/>
        </p:nvSpPr>
        <p:spPr bwMode="auto">
          <a:xfrm>
            <a:off x="2498725" y="5394325"/>
            <a:ext cx="608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b="1" baseline="-25000">
                <a:solidFill>
                  <a:schemeClr val="tx2"/>
                </a:solidFill>
                <a:latin typeface="Book Antiqua" pitchFamily="18" charset="0"/>
              </a:rPr>
              <a:t>12</a:t>
            </a:r>
          </a:p>
        </p:txBody>
      </p:sp>
      <p:sp>
        <p:nvSpPr>
          <p:cNvPr id="345147" name="Rectangle 59"/>
          <p:cNvSpPr>
            <a:spLocks noChangeArrowheads="1"/>
          </p:cNvSpPr>
          <p:nvPr/>
        </p:nvSpPr>
        <p:spPr bwMode="auto">
          <a:xfrm>
            <a:off x="3565525" y="5394325"/>
            <a:ext cx="608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b="1" baseline="-25000">
                <a:solidFill>
                  <a:schemeClr val="tx2"/>
                </a:solidFill>
                <a:latin typeface="Book Antiqua" pitchFamily="18" charset="0"/>
              </a:rPr>
              <a:t>13</a:t>
            </a:r>
          </a:p>
        </p:txBody>
      </p:sp>
      <p:sp>
        <p:nvSpPr>
          <p:cNvPr id="345148" name="Rectangle 60"/>
          <p:cNvSpPr>
            <a:spLocks noChangeArrowheads="1"/>
          </p:cNvSpPr>
          <p:nvPr/>
        </p:nvSpPr>
        <p:spPr bwMode="auto">
          <a:xfrm>
            <a:off x="4175125" y="5394325"/>
            <a:ext cx="608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b="1" baseline="-25000">
                <a:solidFill>
                  <a:schemeClr val="tx2"/>
                </a:solidFill>
                <a:latin typeface="Book Antiqua" pitchFamily="18" charset="0"/>
              </a:rPr>
              <a:t>14</a:t>
            </a:r>
          </a:p>
        </p:txBody>
      </p:sp>
      <p:sp>
        <p:nvSpPr>
          <p:cNvPr id="345149" name="Rectangle 61"/>
          <p:cNvSpPr>
            <a:spLocks noChangeArrowheads="1"/>
          </p:cNvSpPr>
          <p:nvPr/>
        </p:nvSpPr>
        <p:spPr bwMode="auto">
          <a:xfrm>
            <a:off x="5394325" y="5394325"/>
            <a:ext cx="608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b="1" baseline="-25000">
                <a:solidFill>
                  <a:schemeClr val="tx2"/>
                </a:solidFill>
                <a:latin typeface="Book Antiqua" pitchFamily="18" charset="0"/>
              </a:rPr>
              <a:t>15</a:t>
            </a:r>
          </a:p>
        </p:txBody>
      </p:sp>
      <p:sp>
        <p:nvSpPr>
          <p:cNvPr id="345150" name="Rectangle 62"/>
          <p:cNvSpPr>
            <a:spLocks noChangeArrowheads="1"/>
          </p:cNvSpPr>
          <p:nvPr/>
        </p:nvSpPr>
        <p:spPr bwMode="auto">
          <a:xfrm>
            <a:off x="6038850" y="5410200"/>
            <a:ext cx="608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b="1" baseline="-25000">
                <a:solidFill>
                  <a:schemeClr val="tx2"/>
                </a:solidFill>
                <a:latin typeface="Book Antiqua" pitchFamily="18" charset="0"/>
              </a:rPr>
              <a:t>16</a:t>
            </a:r>
          </a:p>
        </p:txBody>
      </p:sp>
      <p:sp>
        <p:nvSpPr>
          <p:cNvPr id="345151" name="Rectangle 63"/>
          <p:cNvSpPr>
            <a:spLocks noChangeArrowheads="1"/>
          </p:cNvSpPr>
          <p:nvPr/>
        </p:nvSpPr>
        <p:spPr bwMode="auto">
          <a:xfrm>
            <a:off x="7146925" y="5394325"/>
            <a:ext cx="608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b="1" baseline="-25000">
                <a:solidFill>
                  <a:schemeClr val="tx2"/>
                </a:solidFill>
                <a:latin typeface="Book Antiqua" pitchFamily="18" charset="0"/>
              </a:rPr>
              <a:t>17</a:t>
            </a:r>
          </a:p>
        </p:txBody>
      </p:sp>
      <p:sp>
        <p:nvSpPr>
          <p:cNvPr id="345152" name="Rectangle 64"/>
          <p:cNvSpPr>
            <a:spLocks noChangeArrowheads="1"/>
          </p:cNvSpPr>
          <p:nvPr/>
        </p:nvSpPr>
        <p:spPr bwMode="auto">
          <a:xfrm>
            <a:off x="7756525" y="5394325"/>
            <a:ext cx="608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b="1" baseline="-25000">
                <a:solidFill>
                  <a:schemeClr val="tx2"/>
                </a:solidFill>
                <a:latin typeface="Book Antiqua" pitchFamily="18" charset="0"/>
              </a:rPr>
              <a:t>18</a:t>
            </a:r>
          </a:p>
        </p:txBody>
      </p:sp>
      <p:sp>
        <p:nvSpPr>
          <p:cNvPr id="345153" name="Rectangle 65"/>
          <p:cNvSpPr>
            <a:spLocks noChangeArrowheads="1"/>
          </p:cNvSpPr>
          <p:nvPr/>
        </p:nvSpPr>
        <p:spPr bwMode="auto">
          <a:xfrm>
            <a:off x="8366125" y="5394325"/>
            <a:ext cx="608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b="1">
                <a:solidFill>
                  <a:schemeClr val="tx2"/>
                </a:solidFill>
                <a:latin typeface="Book Antiqua" pitchFamily="18" charset="0"/>
              </a:rPr>
              <a:t>R</a:t>
            </a:r>
            <a:r>
              <a:rPr lang="en-US" b="1" baseline="-25000">
                <a:solidFill>
                  <a:schemeClr val="tx2"/>
                </a:solidFill>
                <a:latin typeface="Book Antiqua" pitchFamily="18" charset="0"/>
              </a:rPr>
              <a:t>19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62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609600" y="533400"/>
            <a:ext cx="8534400" cy="762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Search for Objects Overlapping </a:t>
            </a:r>
            <a:r>
              <a:rPr lang="en-US">
                <a:solidFill>
                  <a:schemeClr val="folHlink"/>
                </a:solidFill>
              </a:rPr>
              <a:t>Box Q</a:t>
            </a:r>
          </a:p>
        </p:txBody>
      </p:sp>
      <p:sp>
        <p:nvSpPr>
          <p:cNvPr id="32256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9600" y="1295400"/>
            <a:ext cx="8458200" cy="5029200"/>
          </a:xfrm>
          <a:noFill/>
          <a:ln/>
        </p:spPr>
        <p:txBody>
          <a:bodyPr/>
          <a:lstStyle/>
          <a:p>
            <a:pPr marL="228600" indent="-228600"/>
            <a:r>
              <a:rPr lang="en-US" sz="2800"/>
              <a:t> </a:t>
            </a:r>
          </a:p>
        </p:txBody>
      </p:sp>
      <p:sp>
        <p:nvSpPr>
          <p:cNvPr id="322564" name="Rectangle 4"/>
          <p:cNvSpPr>
            <a:spLocks noChangeArrowheads="1"/>
          </p:cNvSpPr>
          <p:nvPr/>
        </p:nvSpPr>
        <p:spPr bwMode="auto">
          <a:xfrm>
            <a:off x="685800" y="5486400"/>
            <a:ext cx="84582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228600" indent="-228600" eaLnBrk="0" hangingPunct="0"/>
            <a:r>
              <a:rPr lang="en-US" b="1" i="1">
                <a:solidFill>
                  <a:schemeClr val="tx2"/>
                </a:solidFill>
                <a:latin typeface="Book Antiqua" pitchFamily="18" charset="0"/>
              </a:rPr>
              <a:t>Note:  May have to search </a:t>
            </a:r>
            <a:r>
              <a:rPr lang="en-US" b="1" i="1">
                <a:solidFill>
                  <a:schemeClr val="folHlink"/>
                </a:solidFill>
                <a:latin typeface="Book Antiqua" pitchFamily="18" charset="0"/>
              </a:rPr>
              <a:t>several</a:t>
            </a:r>
            <a:r>
              <a:rPr lang="en-US" b="1" i="1">
                <a:solidFill>
                  <a:schemeClr val="tx2"/>
                </a:solidFill>
                <a:latin typeface="Book Antiqua" pitchFamily="18" charset="0"/>
              </a:rPr>
              <a:t> subtrees at each node!</a:t>
            </a:r>
          </a:p>
          <a:p>
            <a:pPr marL="228600" indent="-228600" eaLnBrk="0" hangingPunct="0"/>
            <a:r>
              <a:rPr lang="en-US" b="1" i="1">
                <a:solidFill>
                  <a:schemeClr val="tx2"/>
                </a:solidFill>
                <a:latin typeface="Book Antiqua" pitchFamily="18" charset="0"/>
              </a:rPr>
              <a:t>(In contrast, a B-tree equality search goes to just one leaf.)</a:t>
            </a:r>
            <a:endParaRPr lang="bg-BG" sz="280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22565" name="Rectangle 5"/>
          <p:cNvSpPr>
            <a:spLocks noChangeArrowheads="1"/>
          </p:cNvSpPr>
          <p:nvPr/>
        </p:nvSpPr>
        <p:spPr bwMode="auto">
          <a:xfrm>
            <a:off x="1371600" y="1782763"/>
            <a:ext cx="6629400" cy="30940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Start at </a:t>
            </a:r>
            <a:r>
              <a:rPr lang="en-US" sz="2800">
                <a:solidFill>
                  <a:schemeClr val="folHlink"/>
                </a:solidFill>
                <a:latin typeface="Book Antiqua" pitchFamily="18" charset="0"/>
              </a:rPr>
              <a:t>root</a:t>
            </a:r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 eaLnBrk="0" hangingPunct="0"/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1.  If current node is non-leaf, for each</a:t>
            </a:r>
          </a:p>
          <a:p>
            <a:pPr eaLnBrk="0" hangingPunct="0"/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     entry </a:t>
            </a:r>
            <a:r>
              <a:rPr lang="en-US" sz="2800">
                <a:solidFill>
                  <a:schemeClr val="folHlink"/>
                </a:solidFill>
                <a:latin typeface="Book Antiqua" pitchFamily="18" charset="0"/>
              </a:rPr>
              <a:t>&lt;E, ptr&gt;</a:t>
            </a:r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, if </a:t>
            </a:r>
            <a:r>
              <a:rPr lang="en-US" sz="2800" b="1" i="1">
                <a:solidFill>
                  <a:schemeClr val="tx2"/>
                </a:solidFill>
                <a:latin typeface="Book Antiqua" pitchFamily="18" charset="0"/>
              </a:rPr>
              <a:t>box</a:t>
            </a:r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800">
                <a:solidFill>
                  <a:schemeClr val="folHlink"/>
                </a:solidFill>
                <a:latin typeface="Book Antiqua" pitchFamily="18" charset="0"/>
              </a:rPr>
              <a:t>E</a:t>
            </a:r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 overlaps </a:t>
            </a:r>
            <a:r>
              <a:rPr lang="en-US" sz="2800">
                <a:solidFill>
                  <a:schemeClr val="folHlink"/>
                </a:solidFill>
                <a:latin typeface="Book Antiqua" pitchFamily="18" charset="0"/>
              </a:rPr>
              <a:t>Q</a:t>
            </a:r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, </a:t>
            </a:r>
          </a:p>
          <a:p>
            <a:pPr eaLnBrk="0" hangingPunct="0"/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     search subtree identified by </a:t>
            </a:r>
            <a:r>
              <a:rPr lang="en-US" sz="2800">
                <a:solidFill>
                  <a:schemeClr val="folHlink"/>
                </a:solidFill>
                <a:latin typeface="Book Antiqua" pitchFamily="18" charset="0"/>
              </a:rPr>
              <a:t>ptr</a:t>
            </a:r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 eaLnBrk="0" hangingPunct="0"/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2.  If current node is leaf, for each entry</a:t>
            </a:r>
          </a:p>
          <a:p>
            <a:pPr eaLnBrk="0" hangingPunct="0"/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     </a:t>
            </a:r>
            <a:r>
              <a:rPr lang="en-US" sz="2800">
                <a:solidFill>
                  <a:schemeClr val="folHlink"/>
                </a:solidFill>
                <a:latin typeface="Book Antiqua" pitchFamily="18" charset="0"/>
              </a:rPr>
              <a:t>&lt;E, rid&gt;</a:t>
            </a:r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, if </a:t>
            </a:r>
            <a:r>
              <a:rPr lang="en-US" sz="2800">
                <a:solidFill>
                  <a:schemeClr val="folHlink"/>
                </a:solidFill>
                <a:latin typeface="Book Antiqua" pitchFamily="18" charset="0"/>
              </a:rPr>
              <a:t>E</a:t>
            </a:r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 overlaps </a:t>
            </a:r>
            <a:r>
              <a:rPr lang="en-US" sz="2800">
                <a:solidFill>
                  <a:schemeClr val="folHlink"/>
                </a:solidFill>
                <a:latin typeface="Book Antiqua" pitchFamily="18" charset="0"/>
              </a:rPr>
              <a:t>Q</a:t>
            </a:r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, </a:t>
            </a:r>
            <a:r>
              <a:rPr lang="en-US" sz="2800">
                <a:solidFill>
                  <a:schemeClr val="folHlink"/>
                </a:solidFill>
                <a:latin typeface="Book Antiqua" pitchFamily="18" charset="0"/>
              </a:rPr>
              <a:t>rid</a:t>
            </a:r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 identifies</a:t>
            </a:r>
          </a:p>
          <a:p>
            <a:pPr eaLnBrk="0" hangingPunct="0"/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     an object that might overlap </a:t>
            </a:r>
            <a:r>
              <a:rPr lang="en-US" sz="2800">
                <a:solidFill>
                  <a:schemeClr val="folHlink"/>
                </a:solidFill>
                <a:latin typeface="Book Antiqua" pitchFamily="18" charset="0"/>
              </a:rPr>
              <a:t>Q</a:t>
            </a:r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10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609600" y="533400"/>
            <a:ext cx="8534400" cy="762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z="3200"/>
              <a:t>Improving Search Using Constraints</a:t>
            </a:r>
          </a:p>
        </p:txBody>
      </p:sp>
      <p:sp>
        <p:nvSpPr>
          <p:cNvPr id="3502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9600" y="1295400"/>
            <a:ext cx="8458200" cy="5029200"/>
          </a:xfrm>
          <a:noFill/>
          <a:ln/>
        </p:spPr>
        <p:txBody>
          <a:bodyPr/>
          <a:lstStyle/>
          <a:p>
            <a:pPr marL="228600" indent="-228600"/>
            <a:r>
              <a:rPr lang="en-US" sz="2800"/>
              <a:t> </a:t>
            </a:r>
          </a:p>
        </p:txBody>
      </p:sp>
      <p:sp>
        <p:nvSpPr>
          <p:cNvPr id="350212" name="Rectangle 4"/>
          <p:cNvSpPr>
            <a:spLocks noChangeArrowheads="1"/>
          </p:cNvSpPr>
          <p:nvPr/>
        </p:nvSpPr>
        <p:spPr bwMode="auto">
          <a:xfrm>
            <a:off x="685800" y="1447800"/>
            <a:ext cx="84582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2286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endParaRPr lang="bg-BG" sz="280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50214" name="Rectangle 6"/>
          <p:cNvSpPr>
            <a:spLocks noChangeArrowheads="1"/>
          </p:cNvSpPr>
          <p:nvPr/>
        </p:nvSpPr>
        <p:spPr bwMode="auto">
          <a:xfrm>
            <a:off x="762000" y="1295400"/>
            <a:ext cx="83820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 It is convenient to </a:t>
            </a:r>
            <a:r>
              <a:rPr lang="en-US" sz="2800">
                <a:solidFill>
                  <a:schemeClr val="folHlink"/>
                </a:solidFill>
                <a:latin typeface="Book Antiqua" pitchFamily="18" charset="0"/>
              </a:rPr>
              <a:t>store boxes </a:t>
            </a:r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in the R-tree as approximations of arbitrary regions, because boxes can be represented compactly.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 But why not use </a:t>
            </a:r>
            <a:r>
              <a:rPr lang="en-US" sz="2800">
                <a:solidFill>
                  <a:schemeClr val="folHlink"/>
                </a:solidFill>
                <a:latin typeface="Book Antiqua" pitchFamily="18" charset="0"/>
              </a:rPr>
              <a:t>convex polygons to approximate query regions </a:t>
            </a:r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more accurately?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 Will reduce overlap with nodes in tree, and reduce the number of nodes fetched by avoiding some branches altogether.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 Cost of overlap test is higher than bounding box intersection, but it is a main-memory cost, and can actually be done quite efficiently.  Generally a win.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234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609600" y="533400"/>
            <a:ext cx="8534400" cy="762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Insert Entry </a:t>
            </a:r>
            <a:r>
              <a:rPr lang="en-US">
                <a:solidFill>
                  <a:schemeClr val="folHlink"/>
                </a:solidFill>
              </a:rPr>
              <a:t>&lt;B, ptr&gt;</a:t>
            </a:r>
          </a:p>
        </p:txBody>
      </p:sp>
      <p:sp>
        <p:nvSpPr>
          <p:cNvPr id="35123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9600" y="1295400"/>
            <a:ext cx="8458200" cy="5029200"/>
          </a:xfrm>
          <a:noFill/>
          <a:ln/>
        </p:spPr>
        <p:txBody>
          <a:bodyPr/>
          <a:lstStyle/>
          <a:p>
            <a:pPr marL="228600" indent="-228600"/>
            <a:r>
              <a:rPr lang="en-US" sz="2800"/>
              <a:t> </a:t>
            </a:r>
          </a:p>
        </p:txBody>
      </p:sp>
      <p:sp>
        <p:nvSpPr>
          <p:cNvPr id="351236" name="Rectangle 4"/>
          <p:cNvSpPr>
            <a:spLocks noChangeArrowheads="1"/>
          </p:cNvSpPr>
          <p:nvPr/>
        </p:nvSpPr>
        <p:spPr bwMode="auto">
          <a:xfrm>
            <a:off x="685800" y="1600200"/>
            <a:ext cx="84582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2286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 Start at root and go down to </a:t>
            </a:r>
            <a:r>
              <a:rPr lang="en-US" sz="2800">
                <a:solidFill>
                  <a:schemeClr val="folHlink"/>
                </a:solidFill>
                <a:latin typeface="Book Antiqua" pitchFamily="18" charset="0"/>
              </a:rPr>
              <a:t>“best-fit”</a:t>
            </a:r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 leaf L.</a:t>
            </a:r>
          </a:p>
          <a:p>
            <a:pPr marL="749300" lvl="1" indent="-177800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 Go to </a:t>
            </a:r>
            <a:r>
              <a:rPr lang="en-US">
                <a:solidFill>
                  <a:schemeClr val="folHlink"/>
                </a:solidFill>
                <a:latin typeface="Book Antiqua" pitchFamily="18" charset="0"/>
              </a:rPr>
              <a:t>child whose box needs least enlargement </a:t>
            </a: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to cover B; resolve ties by going to smallest area child.</a:t>
            </a:r>
          </a:p>
          <a:p>
            <a:pPr marL="749300" lvl="1" indent="-177800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endParaRPr lang="en-US">
              <a:solidFill>
                <a:schemeClr val="tx2"/>
              </a:solidFill>
              <a:latin typeface="Book Antiqua" pitchFamily="18" charset="0"/>
            </a:endParaRPr>
          </a:p>
          <a:p>
            <a:pPr marL="2286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 If  best-fit leaf L has space, insert entry and stop.  Otherwise, split L into L</a:t>
            </a:r>
            <a:r>
              <a:rPr lang="en-US" sz="2800" baseline="-25000">
                <a:solidFill>
                  <a:schemeClr val="tx2"/>
                </a:solidFill>
                <a:latin typeface="Book Antiqua" pitchFamily="18" charset="0"/>
              </a:rPr>
              <a:t>1</a:t>
            </a:r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 and L</a:t>
            </a:r>
            <a:r>
              <a:rPr lang="en-US" sz="2800" baseline="-25000">
                <a:solidFill>
                  <a:schemeClr val="tx2"/>
                </a:solidFill>
                <a:latin typeface="Book Antiqua" pitchFamily="18" charset="0"/>
              </a:rPr>
              <a:t>2</a:t>
            </a:r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 marL="749300" lvl="1" indent="-177800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 Adjust entry for L in its parent so that the box now covers (only) L</a:t>
            </a:r>
            <a:r>
              <a:rPr lang="en-US" baseline="-25000">
                <a:solidFill>
                  <a:schemeClr val="tx2"/>
                </a:solidFill>
                <a:latin typeface="Book Antiqua" pitchFamily="18" charset="0"/>
              </a:rPr>
              <a:t>1</a:t>
            </a: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 marL="749300" lvl="1" indent="-177800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 Add an entry (in the parent node of L) for L</a:t>
            </a:r>
            <a:r>
              <a:rPr lang="en-US" baseline="-25000">
                <a:solidFill>
                  <a:schemeClr val="tx2"/>
                </a:solidFill>
                <a:latin typeface="Book Antiqua" pitchFamily="18" charset="0"/>
              </a:rPr>
              <a:t>2</a:t>
            </a: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.  (This could cause the parent node to recursively split.)</a:t>
            </a:r>
            <a:endParaRPr lang="bg-BG">
              <a:solidFill>
                <a:schemeClr val="tx2"/>
              </a:solidFill>
              <a:latin typeface="Book Antiqua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186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609600" y="533400"/>
            <a:ext cx="8534400" cy="762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Splitting a Node During Insertion</a:t>
            </a:r>
          </a:p>
        </p:txBody>
      </p:sp>
      <p:sp>
        <p:nvSpPr>
          <p:cNvPr id="3491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9600" y="1295400"/>
            <a:ext cx="8458200" cy="5029200"/>
          </a:xfrm>
          <a:noFill/>
          <a:ln/>
        </p:spPr>
        <p:txBody>
          <a:bodyPr/>
          <a:lstStyle/>
          <a:p>
            <a:pPr marL="228600" indent="-228600"/>
            <a:r>
              <a:rPr lang="en-US" sz="2800"/>
              <a:t> </a:t>
            </a:r>
          </a:p>
        </p:txBody>
      </p:sp>
      <p:sp>
        <p:nvSpPr>
          <p:cNvPr id="349188" name="Rectangle 4"/>
          <p:cNvSpPr>
            <a:spLocks noChangeArrowheads="1"/>
          </p:cNvSpPr>
          <p:nvPr/>
        </p:nvSpPr>
        <p:spPr bwMode="auto">
          <a:xfrm>
            <a:off x="685800" y="1447800"/>
            <a:ext cx="84582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2286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 The entries in node L plus the newly inserted entry must be distributed between L</a:t>
            </a:r>
            <a:r>
              <a:rPr lang="en-US" sz="2800" baseline="-25000">
                <a:solidFill>
                  <a:schemeClr val="tx2"/>
                </a:solidFill>
                <a:latin typeface="Book Antiqua" pitchFamily="18" charset="0"/>
              </a:rPr>
              <a:t>1</a:t>
            </a:r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 and L</a:t>
            </a:r>
            <a:r>
              <a:rPr lang="en-US" sz="2800" baseline="-25000">
                <a:solidFill>
                  <a:schemeClr val="tx2"/>
                </a:solidFill>
                <a:latin typeface="Book Antiqua" pitchFamily="18" charset="0"/>
              </a:rPr>
              <a:t>2</a:t>
            </a:r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.</a:t>
            </a:r>
          </a:p>
          <a:p>
            <a:pPr marL="2286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 Goal is to reduce likelihood of both L</a:t>
            </a:r>
            <a:r>
              <a:rPr lang="en-US" sz="2800" baseline="-25000">
                <a:solidFill>
                  <a:schemeClr val="tx2"/>
                </a:solidFill>
                <a:latin typeface="Book Antiqua" pitchFamily="18" charset="0"/>
              </a:rPr>
              <a:t>1</a:t>
            </a:r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 and L</a:t>
            </a:r>
            <a:r>
              <a:rPr lang="en-US" sz="2800" baseline="-25000">
                <a:solidFill>
                  <a:schemeClr val="tx2"/>
                </a:solidFill>
                <a:latin typeface="Book Antiqua" pitchFamily="18" charset="0"/>
              </a:rPr>
              <a:t>2</a:t>
            </a:r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 being searched on subsequent queries.</a:t>
            </a:r>
          </a:p>
          <a:p>
            <a:pPr marL="2286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>
                <a:solidFill>
                  <a:schemeClr val="accent2"/>
                </a:solidFill>
                <a:latin typeface="Book Antiqua" pitchFamily="18" charset="0"/>
              </a:rPr>
              <a:t> </a:t>
            </a:r>
            <a:r>
              <a:rPr lang="en-US" sz="2800">
                <a:solidFill>
                  <a:schemeClr val="folHlink"/>
                </a:solidFill>
                <a:latin typeface="Book Antiqua" pitchFamily="18" charset="0"/>
              </a:rPr>
              <a:t>Idea:</a:t>
            </a:r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  Redistribute so as to </a:t>
            </a:r>
            <a:r>
              <a:rPr lang="en-US" sz="2800">
                <a:solidFill>
                  <a:schemeClr val="folHlink"/>
                </a:solidFill>
                <a:latin typeface="Book Antiqua" pitchFamily="18" charset="0"/>
              </a:rPr>
              <a:t>minimize area </a:t>
            </a:r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of L</a:t>
            </a:r>
            <a:r>
              <a:rPr lang="en-US" sz="2800" baseline="-25000">
                <a:solidFill>
                  <a:schemeClr val="tx2"/>
                </a:solidFill>
                <a:latin typeface="Book Antiqua" pitchFamily="18" charset="0"/>
              </a:rPr>
              <a:t>1</a:t>
            </a:r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 plus area of L</a:t>
            </a:r>
            <a:r>
              <a:rPr lang="en-US" sz="2800" baseline="-25000">
                <a:solidFill>
                  <a:schemeClr val="tx2"/>
                </a:solidFill>
                <a:latin typeface="Book Antiqua" pitchFamily="18" charset="0"/>
              </a:rPr>
              <a:t>2</a:t>
            </a:r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. </a:t>
            </a:r>
            <a:endParaRPr lang="bg-BG" sz="280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49189" name="Rectangle 5" descr="Dark upward diagonal"/>
          <p:cNvSpPr>
            <a:spLocks noChangeArrowheads="1"/>
          </p:cNvSpPr>
          <p:nvPr/>
        </p:nvSpPr>
        <p:spPr bwMode="auto">
          <a:xfrm>
            <a:off x="6864350" y="4349750"/>
            <a:ext cx="215900" cy="1892300"/>
          </a:xfrm>
          <a:prstGeom prst="rect">
            <a:avLst/>
          </a:prstGeom>
          <a:pattFill prst="dkUpDiag">
            <a:fgClr>
              <a:srgbClr val="99CCFF"/>
            </a:fgClr>
            <a:bgClr>
              <a:srgbClr val="FFFFFF"/>
            </a:bgClr>
          </a:patt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9190" name="Rectangle 6" descr="Dark upward diagonal"/>
          <p:cNvSpPr>
            <a:spLocks noChangeArrowheads="1"/>
          </p:cNvSpPr>
          <p:nvPr/>
        </p:nvSpPr>
        <p:spPr bwMode="auto">
          <a:xfrm>
            <a:off x="7321550" y="4349750"/>
            <a:ext cx="139700" cy="1892300"/>
          </a:xfrm>
          <a:prstGeom prst="rect">
            <a:avLst/>
          </a:prstGeom>
          <a:pattFill prst="dkUpDiag">
            <a:fgClr>
              <a:srgbClr val="99CCFF"/>
            </a:fgClr>
            <a:bgClr>
              <a:srgbClr val="FFFFFF"/>
            </a:bgClr>
          </a:patt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9191" name="Rectangle 7" descr="Dark upward diagonal"/>
          <p:cNvSpPr>
            <a:spLocks noChangeArrowheads="1"/>
          </p:cNvSpPr>
          <p:nvPr/>
        </p:nvSpPr>
        <p:spPr bwMode="auto">
          <a:xfrm>
            <a:off x="6330950" y="4578350"/>
            <a:ext cx="749300" cy="215900"/>
          </a:xfrm>
          <a:prstGeom prst="rect">
            <a:avLst/>
          </a:prstGeom>
          <a:pattFill prst="dkUpDiag">
            <a:fgClr>
              <a:srgbClr val="99CCFF"/>
            </a:fgClr>
            <a:bgClr>
              <a:srgbClr val="FFFFFF"/>
            </a:bgClr>
          </a:patt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9192" name="Rectangle 8" descr="Dark upward diagonal"/>
          <p:cNvSpPr>
            <a:spLocks noChangeArrowheads="1"/>
          </p:cNvSpPr>
          <p:nvPr/>
        </p:nvSpPr>
        <p:spPr bwMode="auto">
          <a:xfrm>
            <a:off x="7321550" y="4654550"/>
            <a:ext cx="825500" cy="215900"/>
          </a:xfrm>
          <a:prstGeom prst="rect">
            <a:avLst/>
          </a:prstGeom>
          <a:pattFill prst="dkUpDiag">
            <a:fgClr>
              <a:srgbClr val="99CCFF"/>
            </a:fgClr>
            <a:bgClr>
              <a:srgbClr val="FFFFFF"/>
            </a:bgClr>
          </a:patt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49204" name="Group 20"/>
          <p:cNvGrpSpPr>
            <a:grpSpLocks/>
          </p:cNvGrpSpPr>
          <p:nvPr/>
        </p:nvGrpSpPr>
        <p:grpSpPr bwMode="auto">
          <a:xfrm>
            <a:off x="4329113" y="4216400"/>
            <a:ext cx="3951287" cy="2159000"/>
            <a:chOff x="2727" y="2656"/>
            <a:chExt cx="2489" cy="1360"/>
          </a:xfrm>
        </p:grpSpPr>
        <p:sp>
          <p:nvSpPr>
            <p:cNvPr id="349195" name="Rectangle 11"/>
            <p:cNvSpPr>
              <a:spLocks noChangeArrowheads="1"/>
            </p:cNvSpPr>
            <p:nvPr/>
          </p:nvSpPr>
          <p:spPr bwMode="auto">
            <a:xfrm>
              <a:off x="3904" y="2848"/>
              <a:ext cx="1312" cy="256"/>
            </a:xfrm>
            <a:prstGeom prst="rect">
              <a:avLst/>
            </a:prstGeom>
            <a:noFill/>
            <a:ln w="50800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9196" name="Rectangle 12"/>
            <p:cNvSpPr>
              <a:spLocks noChangeArrowheads="1"/>
            </p:cNvSpPr>
            <p:nvPr/>
          </p:nvSpPr>
          <p:spPr bwMode="auto">
            <a:xfrm>
              <a:off x="4288" y="2656"/>
              <a:ext cx="448" cy="1360"/>
            </a:xfrm>
            <a:prstGeom prst="rect">
              <a:avLst/>
            </a:prstGeom>
            <a:noFill/>
            <a:ln w="50800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9197" name="Rectangle 13"/>
            <p:cNvSpPr>
              <a:spLocks noChangeArrowheads="1"/>
            </p:cNvSpPr>
            <p:nvPr/>
          </p:nvSpPr>
          <p:spPr bwMode="auto">
            <a:xfrm>
              <a:off x="2727" y="3537"/>
              <a:ext cx="108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800" b="1">
                  <a:solidFill>
                    <a:schemeClr val="folHlink"/>
                  </a:solidFill>
                  <a:latin typeface="Book Antiqua" pitchFamily="18" charset="0"/>
                </a:rPr>
                <a:t>GOOD SPLIT!</a:t>
              </a:r>
            </a:p>
          </p:txBody>
        </p:sp>
        <p:sp>
          <p:nvSpPr>
            <p:cNvPr id="349198" name="Arc 14"/>
            <p:cNvSpPr>
              <a:spLocks/>
            </p:cNvSpPr>
            <p:nvPr/>
          </p:nvSpPr>
          <p:spPr bwMode="auto">
            <a:xfrm>
              <a:off x="3840" y="3120"/>
              <a:ext cx="288" cy="480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21600 w 21600"/>
                <a:gd name="T1" fmla="*/ 0 h 21600"/>
                <a:gd name="T2" fmla="*/ 0 w 21600"/>
                <a:gd name="T3" fmla="*/ 21600 h 21600"/>
                <a:gd name="T4" fmla="*/ 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12700" cap="rnd">
              <a:solidFill>
                <a:schemeClr val="folHlink"/>
              </a:solidFill>
              <a:round/>
              <a:headEnd type="stealth" w="med" len="lg"/>
              <a:tailEnd type="none" w="sm" len="sm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9203" name="Group 19"/>
          <p:cNvGrpSpPr>
            <a:grpSpLocks/>
          </p:cNvGrpSpPr>
          <p:nvPr/>
        </p:nvGrpSpPr>
        <p:grpSpPr bwMode="auto">
          <a:xfrm>
            <a:off x="4938713" y="4140200"/>
            <a:ext cx="3265487" cy="2311400"/>
            <a:chOff x="3111" y="2608"/>
            <a:chExt cx="2057" cy="1456"/>
          </a:xfrm>
        </p:grpSpPr>
        <p:sp>
          <p:nvSpPr>
            <p:cNvPr id="349193" name="Rectangle 9"/>
            <p:cNvSpPr>
              <a:spLocks noChangeArrowheads="1"/>
            </p:cNvSpPr>
            <p:nvPr/>
          </p:nvSpPr>
          <p:spPr bwMode="auto">
            <a:xfrm>
              <a:off x="3952" y="2608"/>
              <a:ext cx="544" cy="1456"/>
            </a:xfrm>
            <a:prstGeom prst="rect">
              <a:avLst/>
            </a:prstGeom>
            <a:noFill/>
            <a:ln w="5080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9194" name="Rectangle 10"/>
            <p:cNvSpPr>
              <a:spLocks noChangeArrowheads="1"/>
            </p:cNvSpPr>
            <p:nvPr/>
          </p:nvSpPr>
          <p:spPr bwMode="auto">
            <a:xfrm>
              <a:off x="4576" y="2608"/>
              <a:ext cx="592" cy="1456"/>
            </a:xfrm>
            <a:prstGeom prst="rect">
              <a:avLst/>
            </a:prstGeom>
            <a:noFill/>
            <a:ln w="5080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9199" name="Rectangle 15"/>
            <p:cNvSpPr>
              <a:spLocks noChangeArrowheads="1"/>
            </p:cNvSpPr>
            <p:nvPr/>
          </p:nvSpPr>
          <p:spPr bwMode="auto">
            <a:xfrm>
              <a:off x="3111" y="3777"/>
              <a:ext cx="4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1800" b="1">
                  <a:solidFill>
                    <a:schemeClr val="tx2"/>
                  </a:solidFill>
                  <a:latin typeface="Book Antiqua" pitchFamily="18" charset="0"/>
                </a:rPr>
                <a:t>BAD!</a:t>
              </a:r>
            </a:p>
          </p:txBody>
        </p:sp>
        <p:sp>
          <p:nvSpPr>
            <p:cNvPr id="349200" name="Arc 16"/>
            <p:cNvSpPr>
              <a:spLocks/>
            </p:cNvSpPr>
            <p:nvPr/>
          </p:nvSpPr>
          <p:spPr bwMode="auto">
            <a:xfrm>
              <a:off x="3600" y="3888"/>
              <a:ext cx="337" cy="96"/>
            </a:xfrm>
            <a:custGeom>
              <a:avLst/>
              <a:gdLst>
                <a:gd name="G0" fmla="+- 64 0 0"/>
                <a:gd name="G1" fmla="+- 21600 0 0"/>
                <a:gd name="G2" fmla="+- 21600 0 0"/>
                <a:gd name="T0" fmla="*/ 0 w 21664"/>
                <a:gd name="T1" fmla="*/ 0 h 21600"/>
                <a:gd name="T2" fmla="*/ 21664 w 21664"/>
                <a:gd name="T3" fmla="*/ 21600 h 21600"/>
                <a:gd name="T4" fmla="*/ 64 w 21664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64" h="21600" fill="none" extrusionOk="0">
                  <a:moveTo>
                    <a:pt x="0" y="0"/>
                  </a:moveTo>
                  <a:cubicBezTo>
                    <a:pt x="21" y="0"/>
                    <a:pt x="42" y="-1"/>
                    <a:pt x="64" y="0"/>
                  </a:cubicBezTo>
                  <a:cubicBezTo>
                    <a:pt x="11993" y="0"/>
                    <a:pt x="21664" y="9670"/>
                    <a:pt x="21664" y="21600"/>
                  </a:cubicBezTo>
                </a:path>
                <a:path w="21664" h="21600" stroke="0" extrusionOk="0">
                  <a:moveTo>
                    <a:pt x="0" y="0"/>
                  </a:moveTo>
                  <a:cubicBezTo>
                    <a:pt x="21" y="0"/>
                    <a:pt x="42" y="-1"/>
                    <a:pt x="64" y="0"/>
                  </a:cubicBezTo>
                  <a:cubicBezTo>
                    <a:pt x="11993" y="0"/>
                    <a:pt x="21664" y="9670"/>
                    <a:pt x="21664" y="21600"/>
                  </a:cubicBezTo>
                  <a:lnTo>
                    <a:pt x="64" y="21600"/>
                  </a:lnTo>
                  <a:close/>
                </a:path>
              </a:pathLst>
            </a:custGeom>
            <a:noFill/>
            <a:ln w="12700" cap="rnd">
              <a:solidFill>
                <a:schemeClr val="tx2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258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609600" y="558800"/>
            <a:ext cx="8534400" cy="762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z="3200"/>
              <a:t>R-Tree Variants</a:t>
            </a:r>
          </a:p>
        </p:txBody>
      </p:sp>
      <p:sp>
        <p:nvSpPr>
          <p:cNvPr id="35225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9600" y="1295400"/>
            <a:ext cx="8458200" cy="5029200"/>
          </a:xfrm>
          <a:noFill/>
          <a:ln/>
        </p:spPr>
        <p:txBody>
          <a:bodyPr/>
          <a:lstStyle/>
          <a:p>
            <a:pPr marL="228600" indent="-228600"/>
            <a:r>
              <a:rPr lang="en-US" sz="2800"/>
              <a:t> </a:t>
            </a:r>
          </a:p>
        </p:txBody>
      </p:sp>
      <p:sp>
        <p:nvSpPr>
          <p:cNvPr id="352260" name="Rectangle 4"/>
          <p:cNvSpPr>
            <a:spLocks noChangeArrowheads="1"/>
          </p:cNvSpPr>
          <p:nvPr/>
        </p:nvSpPr>
        <p:spPr bwMode="auto">
          <a:xfrm>
            <a:off x="685800" y="1447800"/>
            <a:ext cx="84582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2286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endParaRPr lang="bg-BG" sz="280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52261" name="Rectangle 5"/>
          <p:cNvSpPr>
            <a:spLocks noChangeArrowheads="1"/>
          </p:cNvSpPr>
          <p:nvPr/>
        </p:nvSpPr>
        <p:spPr bwMode="auto">
          <a:xfrm>
            <a:off x="685800" y="1143000"/>
            <a:ext cx="84582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600">
                <a:solidFill>
                  <a:schemeClr val="tx2"/>
                </a:solidFill>
                <a:latin typeface="Book Antiqua" pitchFamily="18" charset="0"/>
              </a:rPr>
              <a:t> The</a:t>
            </a:r>
            <a:r>
              <a:rPr lang="en-US" sz="2600">
                <a:solidFill>
                  <a:schemeClr val="accent2"/>
                </a:solidFill>
                <a:latin typeface="Book Antiqua" pitchFamily="18" charset="0"/>
              </a:rPr>
              <a:t> </a:t>
            </a:r>
            <a:r>
              <a:rPr lang="en-US" sz="2600">
                <a:solidFill>
                  <a:schemeClr val="folHlink"/>
                </a:solidFill>
                <a:latin typeface="Book Antiqua" pitchFamily="18" charset="0"/>
              </a:rPr>
              <a:t>R* tree </a:t>
            </a:r>
            <a:r>
              <a:rPr lang="en-US" sz="2600">
                <a:solidFill>
                  <a:schemeClr val="tx2"/>
                </a:solidFill>
                <a:latin typeface="Book Antiqua" pitchFamily="18" charset="0"/>
              </a:rPr>
              <a:t>uses the concept of </a:t>
            </a:r>
            <a:r>
              <a:rPr lang="en-US" sz="2600">
                <a:solidFill>
                  <a:schemeClr val="folHlink"/>
                </a:solidFill>
                <a:latin typeface="Book Antiqua" pitchFamily="18" charset="0"/>
              </a:rPr>
              <a:t>forced reinserts </a:t>
            </a:r>
            <a:r>
              <a:rPr lang="en-US" sz="2600">
                <a:solidFill>
                  <a:schemeClr val="tx2"/>
                </a:solidFill>
                <a:latin typeface="Book Antiqua" pitchFamily="18" charset="0"/>
              </a:rPr>
              <a:t>to reduce overlap in tree nodes. When a node overflows, instead of splitting: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 Remove some (say, 30% of the) entries and reinsert them into the tree.  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 Could result in all reinserted entries fitting on some existing pages, avoiding a split.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600">
                <a:solidFill>
                  <a:schemeClr val="tx2"/>
                </a:solidFill>
                <a:latin typeface="Book Antiqua" pitchFamily="18" charset="0"/>
              </a:rPr>
              <a:t> R* trees also use a different heuristic, minimizing </a:t>
            </a:r>
            <a:r>
              <a:rPr lang="en-US" sz="2600">
                <a:solidFill>
                  <a:schemeClr val="folHlink"/>
                </a:solidFill>
                <a:latin typeface="Book Antiqua" pitchFamily="18" charset="0"/>
              </a:rPr>
              <a:t>box perimeters </a:t>
            </a:r>
            <a:r>
              <a:rPr lang="en-US" sz="2600">
                <a:solidFill>
                  <a:schemeClr val="tx2"/>
                </a:solidFill>
                <a:latin typeface="Book Antiqua" pitchFamily="18" charset="0"/>
              </a:rPr>
              <a:t>rather than </a:t>
            </a:r>
            <a:r>
              <a:rPr lang="en-US" sz="2600">
                <a:solidFill>
                  <a:schemeClr val="folHlink"/>
                </a:solidFill>
                <a:latin typeface="Book Antiqua" pitchFamily="18" charset="0"/>
              </a:rPr>
              <a:t>box areas </a:t>
            </a:r>
            <a:r>
              <a:rPr lang="en-US" sz="2600">
                <a:solidFill>
                  <a:schemeClr val="tx2"/>
                </a:solidFill>
                <a:latin typeface="Book Antiqua" pitchFamily="18" charset="0"/>
              </a:rPr>
              <a:t>during insertion.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600">
                <a:solidFill>
                  <a:schemeClr val="tx2"/>
                </a:solidFill>
                <a:latin typeface="Book Antiqua" pitchFamily="18" charset="0"/>
              </a:rPr>
              <a:t> Another variant, the </a:t>
            </a:r>
            <a:r>
              <a:rPr lang="en-US" sz="2600">
                <a:solidFill>
                  <a:schemeClr val="folHlink"/>
                </a:solidFill>
                <a:latin typeface="Book Antiqua" pitchFamily="18" charset="0"/>
              </a:rPr>
              <a:t>R+ tree</a:t>
            </a:r>
            <a:r>
              <a:rPr lang="en-US" sz="2600">
                <a:solidFill>
                  <a:schemeClr val="tx2"/>
                </a:solidFill>
                <a:latin typeface="Book Antiqua" pitchFamily="18" charset="0"/>
              </a:rPr>
              <a:t>, avoids overlap by inserting an object into multiple leaves if necessary.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 Searches now take a single path to a leaf, at cost of redundancy.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282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609600" y="533400"/>
            <a:ext cx="8534400" cy="762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z="3200"/>
              <a:t>GiST</a:t>
            </a:r>
          </a:p>
        </p:txBody>
      </p:sp>
      <p:sp>
        <p:nvSpPr>
          <p:cNvPr id="35328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9600" y="1295400"/>
            <a:ext cx="8458200" cy="5029200"/>
          </a:xfrm>
          <a:noFill/>
          <a:ln/>
        </p:spPr>
        <p:txBody>
          <a:bodyPr/>
          <a:lstStyle/>
          <a:p>
            <a:pPr marL="228600" indent="-228600"/>
            <a:r>
              <a:rPr lang="en-US" sz="2800"/>
              <a:t> </a:t>
            </a:r>
          </a:p>
        </p:txBody>
      </p:sp>
      <p:sp>
        <p:nvSpPr>
          <p:cNvPr id="353284" name="Rectangle 4"/>
          <p:cNvSpPr>
            <a:spLocks noChangeArrowheads="1"/>
          </p:cNvSpPr>
          <p:nvPr/>
        </p:nvSpPr>
        <p:spPr bwMode="auto">
          <a:xfrm>
            <a:off x="685800" y="1447800"/>
            <a:ext cx="84582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2286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endParaRPr lang="bg-BG" sz="280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53285" name="Rectangle 5"/>
          <p:cNvSpPr>
            <a:spLocks noChangeArrowheads="1"/>
          </p:cNvSpPr>
          <p:nvPr/>
        </p:nvSpPr>
        <p:spPr bwMode="auto">
          <a:xfrm>
            <a:off x="596900" y="1257300"/>
            <a:ext cx="85344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 The Generalized Search Tree (GiST) abstracts the “tree” nature of a class of indexes including B+ trees and R-tree variants.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 Striking similarities in insert/delete/search and even concurrency control algorithms make it possible to provide “templates” for these algorithms that can be customized to obtain the many different tree index structures.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 B+ trees are so important (and simple enough to allow further specialization) that they are implemented specially in all DBMSs.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 GiST provides an alternative for implementing other tree indexes in an ORDBS.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306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609600" y="533400"/>
            <a:ext cx="8534400" cy="762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z="3200"/>
              <a:t>Indexing High-Dimensional Data</a:t>
            </a:r>
          </a:p>
        </p:txBody>
      </p:sp>
      <p:sp>
        <p:nvSpPr>
          <p:cNvPr id="35430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9600" y="1295400"/>
            <a:ext cx="8458200" cy="5029200"/>
          </a:xfrm>
          <a:noFill/>
          <a:ln/>
        </p:spPr>
        <p:txBody>
          <a:bodyPr/>
          <a:lstStyle/>
          <a:p>
            <a:pPr marL="228600" indent="-228600"/>
            <a:r>
              <a:rPr lang="en-US" sz="2800"/>
              <a:t> </a:t>
            </a:r>
          </a:p>
        </p:txBody>
      </p:sp>
      <p:sp>
        <p:nvSpPr>
          <p:cNvPr id="354308" name="Rectangle 4"/>
          <p:cNvSpPr>
            <a:spLocks noChangeArrowheads="1"/>
          </p:cNvSpPr>
          <p:nvPr/>
        </p:nvSpPr>
        <p:spPr bwMode="auto">
          <a:xfrm>
            <a:off x="685800" y="1447800"/>
            <a:ext cx="84582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2286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endParaRPr lang="bg-BG" sz="280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54309" name="Rectangle 5"/>
          <p:cNvSpPr>
            <a:spLocks noChangeArrowheads="1"/>
          </p:cNvSpPr>
          <p:nvPr/>
        </p:nvSpPr>
        <p:spPr bwMode="auto">
          <a:xfrm>
            <a:off x="609600" y="1219200"/>
            <a:ext cx="86106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 Typically, high-dimensional datasets are collections of points, not regions.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 E.g., Feature vectors in multimedia applications.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 Very sparse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 Nearest neighbor queries are common.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 R-tree becomes worse than sequential scan for most datasets with more than a dozen dimensions.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 As dimensionality increases </a:t>
            </a:r>
            <a:r>
              <a:rPr lang="en-US" sz="2800">
                <a:solidFill>
                  <a:schemeClr val="folHlink"/>
                </a:solidFill>
                <a:latin typeface="Book Antiqua" pitchFamily="18" charset="0"/>
              </a:rPr>
              <a:t>contrast </a:t>
            </a:r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(ratio of dist. between nearest and farthest points) usually decreases; “nearest neighbor” is not meaningful.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 In any given data set, advisable to empirically test contrast.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330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609600" y="533400"/>
            <a:ext cx="8534400" cy="762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z="3200"/>
              <a:t>Summary</a:t>
            </a:r>
          </a:p>
        </p:txBody>
      </p:sp>
      <p:sp>
        <p:nvSpPr>
          <p:cNvPr id="35533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9600" y="1295400"/>
            <a:ext cx="8458200" cy="5029200"/>
          </a:xfrm>
          <a:noFill/>
          <a:ln/>
        </p:spPr>
        <p:txBody>
          <a:bodyPr/>
          <a:lstStyle/>
          <a:p>
            <a:pPr marL="228600" indent="-228600"/>
            <a:r>
              <a:rPr lang="en-US" sz="2800"/>
              <a:t> </a:t>
            </a:r>
          </a:p>
        </p:txBody>
      </p:sp>
      <p:sp>
        <p:nvSpPr>
          <p:cNvPr id="355332" name="Rectangle 4"/>
          <p:cNvSpPr>
            <a:spLocks noChangeArrowheads="1"/>
          </p:cNvSpPr>
          <p:nvPr/>
        </p:nvSpPr>
        <p:spPr bwMode="auto">
          <a:xfrm>
            <a:off x="685800" y="1447800"/>
            <a:ext cx="84582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2286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endParaRPr lang="bg-BG" sz="280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55333" name="Rectangle 5"/>
          <p:cNvSpPr>
            <a:spLocks noChangeArrowheads="1"/>
          </p:cNvSpPr>
          <p:nvPr/>
        </p:nvSpPr>
        <p:spPr bwMode="auto">
          <a:xfrm>
            <a:off x="762000" y="1295400"/>
            <a:ext cx="83820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 Spatial data management has many applications, including GIS, CAD/CAM, multimedia indexing.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 Point and region data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 Overlap/containment and nearest-neighbor queries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endParaRPr lang="en-US" sz="2800">
              <a:solidFill>
                <a:schemeClr val="tx2"/>
              </a:solidFill>
              <a:latin typeface="Book Antiqua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 Many approaches to indexing spatial data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 R-tree approach is widely used in GIS systems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 Other approaches include Grid Files, Quad trees, and techniques based on “space-filling” curves.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</a:pP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 For high-dimensional datasets, unless data has good “contrast”, nearest-neighbor may not be well-separated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54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609600" y="533400"/>
            <a:ext cx="8534400" cy="762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z="3200"/>
              <a:t>Comments on R-Trees</a:t>
            </a:r>
          </a:p>
        </p:txBody>
      </p:sp>
      <p:sp>
        <p:nvSpPr>
          <p:cNvPr id="35635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9600" y="1295400"/>
            <a:ext cx="8458200" cy="5029200"/>
          </a:xfrm>
          <a:noFill/>
          <a:ln/>
        </p:spPr>
        <p:txBody>
          <a:bodyPr/>
          <a:lstStyle/>
          <a:p>
            <a:pPr marL="228600" indent="-228600"/>
            <a:r>
              <a:rPr lang="en-US" sz="2800"/>
              <a:t> </a:t>
            </a:r>
          </a:p>
        </p:txBody>
      </p:sp>
      <p:sp>
        <p:nvSpPr>
          <p:cNvPr id="356356" name="Rectangle 4"/>
          <p:cNvSpPr>
            <a:spLocks noChangeArrowheads="1"/>
          </p:cNvSpPr>
          <p:nvPr/>
        </p:nvSpPr>
        <p:spPr bwMode="auto">
          <a:xfrm>
            <a:off x="685800" y="1447800"/>
            <a:ext cx="84582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2286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endParaRPr lang="bg-BG" sz="280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356357" name="Rectangle 5"/>
          <p:cNvSpPr>
            <a:spLocks noChangeArrowheads="1"/>
          </p:cNvSpPr>
          <p:nvPr/>
        </p:nvSpPr>
        <p:spPr bwMode="auto">
          <a:xfrm>
            <a:off x="609600" y="1371600"/>
            <a:ext cx="86106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Deletion consists of searching for the entry to be deleted, removing it, and if the node becomes under-full, deleting the node and then re-inserting the remaining entries.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chemeClr val="tx2"/>
                </a:solidFill>
                <a:latin typeface="Book Antiqua" pitchFamily="18" charset="0"/>
              </a:rPr>
              <a:t> Overall, works quite well for 2 and 3 D datasets.  Several variants (notably, R+ and R* trees) have been proposed; widely used.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r>
              <a:rPr lang="en-US" sz="2800">
                <a:solidFill>
                  <a:schemeClr val="tx2"/>
                </a:solidFill>
                <a:latin typeface="Book Antiqua" pitchFamily="18" charset="0"/>
              </a:rPr>
              <a:t> Can improve search performance by using a convex polygon to approximate query shape (instead of a bounding box) and testing for polygon-box intersection.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old Stripes">
  <a:themeElements>
    <a:clrScheme name="Bold Stripes 2">
      <a:dk1>
        <a:srgbClr val="000000"/>
      </a:dk1>
      <a:lt1>
        <a:srgbClr val="EAEAEA"/>
      </a:lt1>
      <a:dk2>
        <a:srgbClr val="003366"/>
      </a:dk2>
      <a:lt2>
        <a:srgbClr val="EAEAEA"/>
      </a:lt2>
      <a:accent1>
        <a:srgbClr val="FFFFFF"/>
      </a:accent1>
      <a:accent2>
        <a:srgbClr val="DDDDDD"/>
      </a:accent2>
      <a:accent3>
        <a:srgbClr val="F3F3F3"/>
      </a:accent3>
      <a:accent4>
        <a:srgbClr val="000000"/>
      </a:accent4>
      <a:accent5>
        <a:srgbClr val="FFFFFF"/>
      </a:accent5>
      <a:accent6>
        <a:srgbClr val="C8C8C8"/>
      </a:accent6>
      <a:hlink>
        <a:srgbClr val="336699"/>
      </a:hlink>
      <a:folHlink>
        <a:srgbClr val="9A0000"/>
      </a:folHlink>
    </a:clrScheme>
    <a:fontScheme name="Bold Stripes">
      <a:majorFont>
        <a:latin typeface="Book Antiqua"/>
        <a:ea typeface=""/>
        <a:cs typeface=""/>
      </a:majorFont>
      <a:minorFont>
        <a:latin typeface="Book Antiqu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Bold Stripes 1">
        <a:dk1>
          <a:srgbClr val="356677"/>
        </a:dk1>
        <a:lt1>
          <a:srgbClr val="FFFFFF"/>
        </a:lt1>
        <a:dk2>
          <a:srgbClr val="3E798E"/>
        </a:dk2>
        <a:lt2>
          <a:srgbClr val="FFFFCC"/>
        </a:lt2>
        <a:accent1>
          <a:srgbClr val="7FA0B1"/>
        </a:accent1>
        <a:accent2>
          <a:srgbClr val="3A7184"/>
        </a:accent2>
        <a:accent3>
          <a:srgbClr val="AFBEC6"/>
        </a:accent3>
        <a:accent4>
          <a:srgbClr val="DADADA"/>
        </a:accent4>
        <a:accent5>
          <a:srgbClr val="C0CDD5"/>
        </a:accent5>
        <a:accent6>
          <a:srgbClr val="346677"/>
        </a:accent6>
        <a:hlink>
          <a:srgbClr val="FFBF0B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ld Stripes 2">
        <a:dk1>
          <a:srgbClr val="000000"/>
        </a:dk1>
        <a:lt1>
          <a:srgbClr val="EAEAEA"/>
        </a:lt1>
        <a:dk2>
          <a:srgbClr val="003366"/>
        </a:dk2>
        <a:lt2>
          <a:srgbClr val="EAEAEA"/>
        </a:lt2>
        <a:accent1>
          <a:srgbClr val="FFFFFF"/>
        </a:accent1>
        <a:accent2>
          <a:srgbClr val="DDDDDD"/>
        </a:accent2>
        <a:accent3>
          <a:srgbClr val="F3F3F3"/>
        </a:accent3>
        <a:accent4>
          <a:srgbClr val="000000"/>
        </a:accent4>
        <a:accent5>
          <a:srgbClr val="FFFFFF"/>
        </a:accent5>
        <a:accent6>
          <a:srgbClr val="C8C8C8"/>
        </a:accent6>
        <a:hlink>
          <a:srgbClr val="336699"/>
        </a:hlink>
        <a:folHlink>
          <a:srgbClr val="9A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ld Stripes 3">
        <a:dk1>
          <a:srgbClr val="000000"/>
        </a:dk1>
        <a:lt1>
          <a:srgbClr val="EAEAEA"/>
        </a:lt1>
        <a:dk2>
          <a:srgbClr val="000000"/>
        </a:dk2>
        <a:lt2>
          <a:srgbClr val="EAEAEA"/>
        </a:lt2>
        <a:accent1>
          <a:srgbClr val="FFFFFF"/>
        </a:accent1>
        <a:accent2>
          <a:srgbClr val="DDDDDD"/>
        </a:accent2>
        <a:accent3>
          <a:srgbClr val="F3F3F3"/>
        </a:accent3>
        <a:accent4>
          <a:srgbClr val="000000"/>
        </a:accent4>
        <a:accent5>
          <a:srgbClr val="FFFFFF"/>
        </a:accent5>
        <a:accent6>
          <a:srgbClr val="C8C8C8"/>
        </a:accent6>
        <a:hlink>
          <a:srgbClr val="777777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ld Stripes 4">
        <a:dk1>
          <a:srgbClr val="492417"/>
        </a:dk1>
        <a:lt1>
          <a:srgbClr val="D4D5C3"/>
        </a:lt1>
        <a:dk2>
          <a:srgbClr val="6E4900"/>
        </a:dk2>
        <a:lt2>
          <a:srgbClr val="B9BA9C"/>
        </a:lt2>
        <a:accent1>
          <a:srgbClr val="DBD8CF"/>
        </a:accent1>
        <a:accent2>
          <a:srgbClr val="C7C8B0"/>
        </a:accent2>
        <a:accent3>
          <a:srgbClr val="E6E7DE"/>
        </a:accent3>
        <a:accent4>
          <a:srgbClr val="3D1D12"/>
        </a:accent4>
        <a:accent5>
          <a:srgbClr val="EAE9E4"/>
        </a:accent5>
        <a:accent6>
          <a:srgbClr val="B4B59F"/>
        </a:accent6>
        <a:hlink>
          <a:srgbClr val="CC99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C806042CA7DD42833D252FEF2A59B5" ma:contentTypeVersion="3" ma:contentTypeDescription="Create a new document." ma:contentTypeScope="" ma:versionID="60fe77405bdc5da79b2d3374168756e8">
  <xsd:schema xmlns:xsd="http://www.w3.org/2001/XMLSchema" xmlns:xs="http://www.w3.org/2001/XMLSchema" xmlns:p="http://schemas.microsoft.com/office/2006/metadata/properties" xmlns:ns2="a0c27445-6953-4051-a1c7-5eac88945434" targetNamespace="http://schemas.microsoft.com/office/2006/metadata/properties" ma:root="true" ma:fieldsID="295708cf5b1540d59e7ab692ea8d0b11" ns2:_="">
    <xsd:import namespace="a0c27445-6953-4051-a1c7-5eac8894543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c27445-6953-4051-a1c7-5eac889454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2381559-28AE-4241-B707-D4D41A1C3860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41462EE-2685-411C-A2F1-E55A383AC9ED}"/>
</file>

<file path=customXml/itemProps3.xml><?xml version="1.0" encoding="utf-8"?>
<ds:datastoreItem xmlns:ds="http://schemas.openxmlformats.org/officeDocument/2006/customXml" ds:itemID="{286A0A9B-C6E0-40D2-9941-DFC8C4BAE7A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Designs\Bold Stripes.pot</Template>
  <TotalTime>3</TotalTime>
  <Words>3426</Words>
  <Application>Microsoft Office PowerPoint</Application>
  <PresentationFormat>On-screen Show (4:3)</PresentationFormat>
  <Paragraphs>850</Paragraphs>
  <Slides>35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35</vt:i4>
      </vt:variant>
    </vt:vector>
  </HeadingPairs>
  <TitlesOfParts>
    <vt:vector size="37" baseType="lpstr">
      <vt:lpstr>Bold Stripes</vt:lpstr>
      <vt:lpstr>Office Theme</vt:lpstr>
      <vt:lpstr>PowerPoint Presentation</vt:lpstr>
      <vt:lpstr>Relational Representation of Spatial Data</vt:lpstr>
      <vt:lpstr>Relational Representation of Spatial Data</vt:lpstr>
      <vt:lpstr>Extension of Relational Model for Spatial Data</vt:lpstr>
      <vt:lpstr>Extension of Relational Model for Spatial Data</vt:lpstr>
      <vt:lpstr>Data Types for Spatial Objects</vt:lpstr>
      <vt:lpstr>Spatial Query Processing</vt:lpstr>
      <vt:lpstr>Basic Spatial Queries</vt:lpstr>
      <vt:lpstr>Basic Spatial Queries - Spatial Join</vt:lpstr>
      <vt:lpstr>Index Support for Spatial Queries</vt:lpstr>
      <vt:lpstr>Index Support for Spatial Queries (cont)</vt:lpstr>
      <vt:lpstr>Query Processing Using Approximations</vt:lpstr>
      <vt:lpstr>Query Processing Using Approximations</vt:lpstr>
      <vt:lpstr>Embedding of the 2-dim. space into a 1-dim space</vt:lpstr>
      <vt:lpstr>Space Filling Curves</vt:lpstr>
      <vt:lpstr>Space Filling Curves (cont)</vt:lpstr>
      <vt:lpstr>Space Filling Curves</vt:lpstr>
      <vt:lpstr>Z-Order – Z-Values</vt:lpstr>
      <vt:lpstr>Z-Order  - Representation of Spatial Objects</vt:lpstr>
      <vt:lpstr>Z-Order – Mapping to a B+-Tree</vt:lpstr>
      <vt:lpstr>Mapping to a B+-Tree  -  Example</vt:lpstr>
      <vt:lpstr>Mapping to a B+-Tree  -  Window Query</vt:lpstr>
      <vt:lpstr>R-Trees</vt:lpstr>
      <vt:lpstr>R-Tree Properties</vt:lpstr>
      <vt:lpstr>Example of an R-Tree</vt:lpstr>
      <vt:lpstr>Example R-Tree (cont.)</vt:lpstr>
      <vt:lpstr>Search for Objects Overlapping Box Q</vt:lpstr>
      <vt:lpstr>Improving Search Using Constraints</vt:lpstr>
      <vt:lpstr>Insert Entry &lt;B, ptr&gt;</vt:lpstr>
      <vt:lpstr>Splitting a Node During Insertion</vt:lpstr>
      <vt:lpstr>R-Tree Variants</vt:lpstr>
      <vt:lpstr>GiST</vt:lpstr>
      <vt:lpstr>Indexing High-Dimensional Data</vt:lpstr>
      <vt:lpstr>Summary</vt:lpstr>
      <vt:lpstr>Comments on R-Trees</vt:lpstr>
    </vt:vector>
  </TitlesOfParts>
  <Company>Atreides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 Suciu</dc:creator>
  <cp:lastModifiedBy>Dan Suciu</cp:lastModifiedBy>
  <cp:revision>2129</cp:revision>
  <cp:lastPrinted>1601-01-01T00:00:00Z</cp:lastPrinted>
  <dcterms:created xsi:type="dcterms:W3CDTF">2004-02-22T11:33:27Z</dcterms:created>
  <dcterms:modified xsi:type="dcterms:W3CDTF">2026-05-15T06:19:46Z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0x010100C3C806042CA7DD42833D252FEF2A59B5</vt:lpwstr>
  </property>
</Properties>
</file>