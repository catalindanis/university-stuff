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8" r:id="rId3"/>
    <p:sldId id="304" r:id="rId4"/>
    <p:sldId id="296" r:id="rId5"/>
    <p:sldId id="305" r:id="rId6"/>
    <p:sldId id="260" r:id="rId7"/>
    <p:sldId id="262" r:id="rId8"/>
    <p:sldId id="263" r:id="rId9"/>
    <p:sldId id="264" r:id="rId10"/>
    <p:sldId id="265" r:id="rId11"/>
    <p:sldId id="30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10" r:id="rId20"/>
    <p:sldId id="273" r:id="rId21"/>
    <p:sldId id="282" r:id="rId22"/>
    <p:sldId id="283" r:id="rId23"/>
    <p:sldId id="274" r:id="rId24"/>
    <p:sldId id="275" r:id="rId25"/>
    <p:sldId id="278" r:id="rId26"/>
    <p:sldId id="276" r:id="rId27"/>
    <p:sldId id="306" r:id="rId28"/>
    <p:sldId id="277" r:id="rId29"/>
    <p:sldId id="307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79" r:id="rId38"/>
    <p:sldId id="308" r:id="rId39"/>
    <p:sldId id="280" r:id="rId40"/>
    <p:sldId id="281" r:id="rId41"/>
    <p:sldId id="291" r:id="rId42"/>
    <p:sldId id="311" r:id="rId43"/>
    <p:sldId id="295" r:id="rId44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C55261-D00D-4531-85F2-7815D4272C20}" type="datetime1">
              <a:rPr lang="ro-RO" smtClean="0"/>
              <a:t>10.11.2025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02BA2C8-71FC-43D0-BD87-0547616971FA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97A191-F9ED-44AA-AEE4-9E7ED26D0F78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539446-6953-447E-A4E3-E7CFBF8700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C6539446-6953-447E-A4E3-E7CFBF870046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7501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ă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cer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6" name="apă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pă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reptunghi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B0413-3825-4517-84C4-BC4D0AB13719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057804-296C-404E-AB5A-AECE13AB895F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2983A4-6813-4B72-A61A-A17CFCC7D384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u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0E1F3A-7531-4910-B6EB-58549CF60FD5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u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5A7078-7B7F-48B7-8822-93D7DA5E9327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D67F5C-FACA-46A7-A8EA-9CDEA26B0827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C185D-BB37-4190-AD07-0A9F79920DF0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2CB56C-2BA1-4215-B6A3-04C489B091CB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C0E6F7-DBC8-44CA-A21F-7876F2AEC1C8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C643B-5485-403E-8EBD-16244D488590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8" name="apă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9" name="apă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apă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5EF10CAA-0CF2-43FB-B8EE-A41EE9E83454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t-sql/statements/create-view-transact-sql?view=sql-server-ver16" TargetMode="External"/><Relationship Id="rId7" Type="http://schemas.openxmlformats.org/officeDocument/2006/relationships/hyperlink" Target="https://learn.microsoft.com/en-us/sql/relational-databases/system-catalog-views/catalog-views-transact-sql?view=sql-server-ver16" TargetMode="External"/><Relationship Id="rId2" Type="http://schemas.openxmlformats.org/officeDocument/2006/relationships/hyperlink" Target="https://learn.microsoft.com/en-us/sql/t-sql/statements/create-function-transact-sql?view=sql-server-ver1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sql/relational-databases/cursors?view=sql-server-ver16" TargetMode="External"/><Relationship Id="rId5" Type="http://schemas.openxmlformats.org/officeDocument/2006/relationships/hyperlink" Target="https://learn.microsoft.com/en-us/sql/t-sql/statements/create-trigger-transact-sql?view=sql-server-ver16" TargetMode="External"/><Relationship Id="rId4" Type="http://schemas.openxmlformats.org/officeDocument/2006/relationships/hyperlink" Target="https://learn.microsoft.com/en-us/sql/t-sql/queries/output-clause-transact-sql?view=sql-server-ver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err="1"/>
              <a:t>Func</a:t>
            </a:r>
            <a:r>
              <a:rPr lang="ro-RO" dirty="0"/>
              <a:t>ții definite de utilizator. View. Trigger.</a:t>
            </a:r>
            <a:br>
              <a:rPr lang="ro-RO" dirty="0"/>
            </a:br>
            <a:r>
              <a:rPr lang="ro-RO" dirty="0"/>
              <a:t>Cursoare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o-RO" dirty="0"/>
              <a:t>Seminar 4</a:t>
            </a:r>
          </a:p>
        </p:txBody>
      </p:sp>
    </p:spTree>
    <p:extLst>
      <p:ext uri="{BB962C8B-B14F-4D97-AF65-F5344CB8AC3E}">
        <p14:creationId xmlns:p14="http://schemas.microsoft.com/office/powerpoint/2010/main" val="15039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77265"/>
            <a:ext cx="10341894" cy="4859046"/>
          </a:xfrm>
        </p:spPr>
        <p:txBody>
          <a:bodyPr>
            <a:normAutofit/>
          </a:bodyPr>
          <a:lstStyle/>
          <a:p>
            <a:r>
              <a:rPr lang="ro-RO" dirty="0"/>
              <a:t>Microsoft </a:t>
            </a:r>
            <a:r>
              <a:rPr lang="en-US" dirty="0"/>
              <a:t>SQL Server </a:t>
            </a:r>
            <a:r>
              <a:rPr lang="ro-RO" dirty="0"/>
              <a:t>oferă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crea</a:t>
            </a:r>
            <a:r>
              <a:rPr lang="ro-RO" dirty="0"/>
              <a:t> </a:t>
            </a:r>
            <a:r>
              <a:rPr lang="ro-RO" b="1" dirty="0"/>
              <a:t>funcții</a:t>
            </a:r>
            <a:r>
              <a:rPr lang="ro-RO" dirty="0"/>
              <a:t> care pot fi mai apoi folosite în </a:t>
            </a:r>
            <a:r>
              <a:rPr lang="ro-RO" b="1" dirty="0"/>
              <a:t>interogări</a:t>
            </a:r>
            <a:endParaRPr lang="en-US" b="1" dirty="0"/>
          </a:p>
          <a:p>
            <a:r>
              <a:rPr lang="en-US" dirty="0" err="1"/>
              <a:t>Func</a:t>
            </a:r>
            <a:r>
              <a:rPr lang="ro-RO" dirty="0"/>
              <a:t>țiile definite de utilizator:</a:t>
            </a:r>
          </a:p>
          <a:p>
            <a:pPr lvl="1"/>
            <a:r>
              <a:rPr lang="ro-RO" sz="2000" b="1" dirty="0"/>
              <a:t>returnează</a:t>
            </a:r>
            <a:r>
              <a:rPr lang="ro-RO" sz="2000" dirty="0"/>
              <a:t> o </a:t>
            </a:r>
            <a:r>
              <a:rPr lang="ro-RO" sz="2000" b="1" dirty="0"/>
              <a:t>valoare simplă </a:t>
            </a:r>
            <a:r>
              <a:rPr lang="ro-RO" sz="2000" dirty="0"/>
              <a:t>(sau un </a:t>
            </a:r>
            <a:r>
              <a:rPr lang="ro-RO" sz="2000" b="1" dirty="0"/>
              <a:t>tabel</a:t>
            </a:r>
            <a:r>
              <a:rPr lang="ro-RO" sz="2000" dirty="0"/>
              <a:t>)</a:t>
            </a:r>
          </a:p>
          <a:p>
            <a:pPr lvl="1"/>
            <a:r>
              <a:rPr lang="ro-RO" sz="2000" dirty="0"/>
              <a:t>pot avea </a:t>
            </a:r>
            <a:r>
              <a:rPr lang="ro-RO" sz="2000" b="1" dirty="0"/>
              <a:t>parametri de intrare</a:t>
            </a:r>
            <a:endParaRPr lang="ro-RO" sz="2000" dirty="0"/>
          </a:p>
          <a:p>
            <a:pPr marL="320040" lvl="1" indent="0">
              <a:buNone/>
            </a:pPr>
            <a:endParaRPr lang="en-US" sz="2000" dirty="0"/>
          </a:p>
          <a:p>
            <a:r>
              <a:rPr lang="ro-RO" dirty="0"/>
              <a:t>În Microsoft SQL Server sunt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ro-RO" dirty="0"/>
              <a:t> </a:t>
            </a:r>
            <a:r>
              <a:rPr lang="ro-RO" b="1" dirty="0"/>
              <a:t>trei</a:t>
            </a:r>
            <a:r>
              <a:rPr lang="ro-RO" dirty="0"/>
              <a:t> tipuri de funcții definite de utilizator:</a:t>
            </a:r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scalare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ro-RO" dirty="0"/>
              <a:t>returnează o </a:t>
            </a:r>
            <a:r>
              <a:rPr lang="ro-RO" b="1" dirty="0"/>
              <a:t>singură valoare</a:t>
            </a:r>
            <a:r>
              <a:rPr lang="en-US" dirty="0"/>
              <a:t>)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inline table</a:t>
            </a:r>
            <a:r>
              <a:rPr lang="en-US" b="1" dirty="0"/>
              <a:t>-</a:t>
            </a:r>
            <a:r>
              <a:rPr lang="ro-RO" b="1" dirty="0"/>
              <a:t>valued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returneaz</a:t>
            </a:r>
            <a:r>
              <a:rPr lang="ro-RO" dirty="0"/>
              <a:t>ă </a:t>
            </a:r>
            <a:r>
              <a:rPr lang="ro-RO" b="1" dirty="0"/>
              <a:t>un tabel</a:t>
            </a:r>
            <a:r>
              <a:rPr lang="ro-RO" dirty="0"/>
              <a:t>)</a:t>
            </a:r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multi-statement table-valued </a:t>
            </a:r>
            <a:r>
              <a:rPr lang="en-US" dirty="0"/>
              <a:t>(</a:t>
            </a:r>
            <a:r>
              <a:rPr lang="en-US" dirty="0" err="1"/>
              <a:t>returneaz</a:t>
            </a:r>
            <a:r>
              <a:rPr lang="ro-RO" dirty="0"/>
              <a:t>ă </a:t>
            </a:r>
            <a:r>
              <a:rPr lang="ro-RO" b="1" dirty="0"/>
              <a:t>un tabel</a:t>
            </a:r>
            <a:r>
              <a:rPr lang="ro-RO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3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22C7-73D0-6F51-E7B2-F7F372E5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81974"/>
            <a:ext cx="9509759" cy="1088136"/>
          </a:xfrm>
        </p:spPr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E439-A466-9A42-0DD3-587095EE1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569326" cy="4954572"/>
          </a:xfrm>
        </p:spPr>
        <p:txBody>
          <a:bodyPr>
            <a:normAutofit/>
          </a:bodyPr>
          <a:lstStyle/>
          <a:p>
            <a:r>
              <a:rPr lang="en-US" dirty="0"/>
              <a:t>Se d</a:t>
            </a:r>
            <a:r>
              <a:rPr lang="ro-RO" dirty="0"/>
              <a:t>ă o bază de date având următoarea structură: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C95D0-E6C3-B3E2-F227-91BA6576F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80" y="2142430"/>
            <a:ext cx="5648595" cy="342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2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F818-6B06-A59F-2C18-078FDE40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2CD3-E843-B322-E0C9-2932DEBE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10697000" cy="5020056"/>
          </a:xfrm>
        </p:spPr>
        <p:txBody>
          <a:bodyPr>
            <a:normAutofit lnSpcReduction="10000"/>
          </a:bodyPr>
          <a:lstStyle/>
          <a:p>
            <a:r>
              <a:rPr lang="ro-RO" dirty="0"/>
              <a:t>Următoarea funcție </a:t>
            </a:r>
            <a:r>
              <a:rPr lang="ro-RO" b="1" dirty="0"/>
              <a:t>scalară</a:t>
            </a:r>
            <a:r>
              <a:rPr lang="ro-RO" dirty="0"/>
              <a:t> verifică dacă numele unei categorii există în tabelul </a:t>
            </a:r>
            <a:r>
              <a:rPr lang="ro-RO" i="1" dirty="0"/>
              <a:t>Categorii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BIT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(EXISTS(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'elevi'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9274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F818-6B06-A59F-2C18-078FDE40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2CD3-E843-B322-E0C9-2932DEBE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10697000" cy="502005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b="1" dirty="0" err="1"/>
              <a:t>modifica</a:t>
            </a:r>
            <a:r>
              <a:rPr lang="en-US" dirty="0"/>
              <a:t> </a:t>
            </a:r>
            <a:r>
              <a:rPr lang="en-US" dirty="0" err="1"/>
              <a:t>defini</a:t>
            </a:r>
            <a:r>
              <a:rPr lang="ro-RO" dirty="0"/>
              <a:t>ția funcției astfel încât valoarea returnată să fie de tipul </a:t>
            </a:r>
            <a:r>
              <a:rPr lang="ro-RO" b="1" dirty="0"/>
              <a:t>VARCHAR(20)</a:t>
            </a:r>
            <a:r>
              <a:rPr lang="ro-RO" dirty="0"/>
              <a:t>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20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(EXISTS(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'Exista'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'Nu exista'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'elevi'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7349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03898"/>
            <a:ext cx="9889132" cy="4297251"/>
          </a:xfrm>
        </p:spPr>
        <p:txBody>
          <a:bodyPr>
            <a:normAutofit/>
          </a:bodyPr>
          <a:lstStyle/>
          <a:p>
            <a:r>
              <a:rPr lang="ro-RO" dirty="0"/>
              <a:t>Dacă dorim să ștergem funcția, vom folosi instrucțiunea </a:t>
            </a:r>
            <a:r>
              <a:rPr lang="ro-RO" b="1" dirty="0"/>
              <a:t>DROP FUNCTION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	--Ștergerea funcției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DROP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05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497" y="1630532"/>
            <a:ext cx="10507091" cy="4194220"/>
          </a:xfrm>
        </p:spPr>
        <p:txBody>
          <a:bodyPr/>
          <a:lstStyle/>
          <a:p>
            <a:r>
              <a:rPr lang="ro-RO" dirty="0"/>
              <a:t>Funcțiile definite de utilizator de </a:t>
            </a:r>
            <a:r>
              <a:rPr lang="ro-RO" b="1" dirty="0"/>
              <a:t>tip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b="1" dirty="0"/>
              <a:t> </a:t>
            </a:r>
            <a:r>
              <a:rPr lang="ro-RO" dirty="0"/>
              <a:t>returnează </a:t>
            </a:r>
            <a:r>
              <a:rPr lang="ro-RO" b="1" dirty="0"/>
              <a:t>un tabel </a:t>
            </a:r>
            <a:r>
              <a:rPr lang="ro-RO" dirty="0"/>
              <a:t>în locul unei singure valori</a:t>
            </a:r>
          </a:p>
          <a:p>
            <a:r>
              <a:rPr lang="ro-RO" dirty="0"/>
              <a:t>Po</a:t>
            </a:r>
            <a:r>
              <a:rPr lang="en-US" dirty="0"/>
              <a:t>t</a:t>
            </a:r>
            <a:r>
              <a:rPr lang="ro-RO" dirty="0"/>
              <a:t> fi folosit</a:t>
            </a:r>
            <a:r>
              <a:rPr lang="en-US" dirty="0"/>
              <a:t>e</a:t>
            </a:r>
            <a:r>
              <a:rPr lang="ro-RO" dirty="0"/>
              <a:t> oriunde poate fi folosit un tabel, de obicei în clauza </a:t>
            </a:r>
            <a:r>
              <a:rPr lang="ro-RO" b="1" i="1" dirty="0"/>
              <a:t>FROM</a:t>
            </a:r>
            <a:r>
              <a:rPr lang="ro-RO" dirty="0"/>
              <a:t> a unei interogări</a:t>
            </a:r>
          </a:p>
          <a:p>
            <a:r>
              <a:rPr lang="ro-RO" dirty="0"/>
              <a:t>O funcție definită de utilizator de tip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dirty="0"/>
              <a:t> conține o singură instrucțiune SQL  </a:t>
            </a:r>
          </a:p>
          <a:p>
            <a:r>
              <a:rPr lang="ro-RO" dirty="0"/>
              <a:t>O funcție definită de utilizator de tipul </a:t>
            </a:r>
            <a:r>
              <a:rPr lang="ro-RO" b="1" dirty="0" err="1"/>
              <a:t>multi-statement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b="1" dirty="0"/>
              <a:t> </a:t>
            </a:r>
            <a:r>
              <a:rPr lang="ro-RO" dirty="0"/>
              <a:t>returnează un tabel și conține mai multe instrucțiuni SQL, spre deosebire de o funcție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dirty="0"/>
              <a:t> care conține o singură instrucțiune SQL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8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48287"/>
            <a:ext cx="10528325" cy="4814657"/>
          </a:xfrm>
        </p:spPr>
        <p:txBody>
          <a:bodyPr>
            <a:normAutofit/>
          </a:bodyPr>
          <a:lstStyle/>
          <a:p>
            <a:r>
              <a:rPr lang="ro-RO" dirty="0"/>
              <a:t>Următoarea funcție de tipul </a:t>
            </a:r>
            <a:r>
              <a:rPr lang="ro-RO" b="1" dirty="0"/>
              <a:t>inline table-valued </a:t>
            </a:r>
            <a:r>
              <a:rPr lang="ro-RO" dirty="0"/>
              <a:t>returnează numele atracțiilor, nota primită și adresa de email a vizitatorului, pentru toate atracțiile care au vârsta minimă recomandată egală cu cea dată ca parametru:</a:t>
            </a:r>
          </a:p>
          <a:p>
            <a:pPr marL="45720" indent="0">
              <a:buNone/>
            </a:pP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ReturneazaNoteAtractii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@varsta_min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TABLE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Atractii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varsta_min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@varsta_min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ReturneazaNoteAtractii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0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25768"/>
            <a:ext cx="10714756" cy="523223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@NoteAtractii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TABLE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atractie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),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),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nota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tip_evaluare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Atractii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tip_evaluare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'pozitiva'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5.0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tip_evaluare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negativa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5.0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06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59510"/>
            <a:ext cx="10448426" cy="5033313"/>
          </a:xfrm>
        </p:spPr>
        <p:txBody>
          <a:bodyPr/>
          <a:lstStyle/>
          <a:p>
            <a:r>
              <a:rPr lang="ro-RO" dirty="0"/>
              <a:t>Funcția </a:t>
            </a:r>
            <a:r>
              <a:rPr lang="ro-RO" b="1" dirty="0"/>
              <a:t>multi-statement table-valued </a:t>
            </a:r>
            <a:r>
              <a:rPr lang="ro-RO" dirty="0"/>
              <a:t>definită anterior primește ca parametru o valoare ce reprezintă </a:t>
            </a:r>
            <a:r>
              <a:rPr lang="en-US" dirty="0" err="1"/>
              <a:t>adresa</a:t>
            </a:r>
            <a:r>
              <a:rPr lang="en-US" dirty="0"/>
              <a:t> de email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vizitator</a:t>
            </a:r>
            <a:r>
              <a:rPr lang="ro-RO" dirty="0"/>
              <a:t> și returnează </a:t>
            </a:r>
            <a:r>
              <a:rPr lang="ro-RO" b="1" dirty="0"/>
              <a:t>un tabel </a:t>
            </a:r>
            <a:r>
              <a:rPr lang="ro-RO" dirty="0"/>
              <a:t>care conține atracțiile evaluate de către vizitatorul respectiv</a:t>
            </a:r>
          </a:p>
          <a:p>
            <a:r>
              <a:rPr lang="ro-RO" dirty="0"/>
              <a:t>Tabelul returnat conține numele atracției, nota primită, adresa de email a vizitatorului și </a:t>
            </a:r>
            <a:r>
              <a:rPr lang="ro-RO" b="1" dirty="0"/>
              <a:t>tipul evaluării</a:t>
            </a:r>
            <a:r>
              <a:rPr lang="ro-RO" dirty="0"/>
              <a:t>:</a:t>
            </a:r>
          </a:p>
          <a:p>
            <a:pPr lvl="1"/>
            <a:r>
              <a:rPr lang="ro-RO" sz="2000" dirty="0"/>
              <a:t>dacă </a:t>
            </a:r>
            <a:r>
              <a:rPr lang="ro-RO" sz="2000" b="1" dirty="0"/>
              <a:t>nota este mai mică decât 5</a:t>
            </a:r>
            <a:r>
              <a:rPr lang="ro-RO" sz="2000" dirty="0"/>
              <a:t>, atunc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evaluarea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fi </a:t>
            </a:r>
            <a:r>
              <a:rPr lang="en-US" sz="2000" b="1" dirty="0" err="1"/>
              <a:t>negativ</a:t>
            </a:r>
            <a:r>
              <a:rPr lang="ro-RO" sz="2000" b="1" dirty="0"/>
              <a:t>ă</a:t>
            </a:r>
          </a:p>
          <a:p>
            <a:pPr lvl="1"/>
            <a:r>
              <a:rPr lang="en-US" sz="2000" dirty="0" err="1"/>
              <a:t>dac</a:t>
            </a:r>
            <a:r>
              <a:rPr lang="ro-RO" sz="2000" dirty="0"/>
              <a:t>ă </a:t>
            </a:r>
            <a:r>
              <a:rPr lang="ro-RO" sz="2000" b="1" dirty="0"/>
              <a:t>nota este mai mare sau egală cu 5</a:t>
            </a:r>
            <a:r>
              <a:rPr lang="ro-RO" sz="2000" dirty="0"/>
              <a:t>, atunci evaluarea va fi </a:t>
            </a:r>
            <a:r>
              <a:rPr lang="ro-RO" sz="2000" b="1" dirty="0"/>
              <a:t>pozitivă</a:t>
            </a:r>
            <a:r>
              <a:rPr lang="ro-RO" sz="2000" dirty="0"/>
              <a:t>) </a:t>
            </a:r>
            <a:endParaRPr lang="en-US" sz="2000" dirty="0"/>
          </a:p>
          <a:p>
            <a:r>
              <a:rPr lang="ro-RO" dirty="0"/>
              <a:t>Funcția va fi apelată în modul următor: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'andrei@gmail.com'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3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4352-0E20-43CB-3654-8AADA430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</a:t>
            </a:r>
            <a:r>
              <a:rPr lang="ro-RO" dirty="0"/>
              <a:t>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09BC1-746C-3701-484E-F535F3A8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10527607" cy="4680250"/>
          </a:xfrm>
        </p:spPr>
        <p:txBody>
          <a:bodyPr/>
          <a:lstStyle/>
          <a:p>
            <a:r>
              <a:rPr lang="ro-RO" sz="2400" dirty="0"/>
              <a:t>1) Să se creeze o funcție scalară care primește ca parametru numele unei categorii și returnează codul acesteia. </a:t>
            </a:r>
          </a:p>
          <a:p>
            <a:r>
              <a:rPr lang="ro-RO" sz="2400" dirty="0"/>
              <a:t>2) Creați o funcție de tip inline table valued care returnează toate înregistrările din tabelul </a:t>
            </a:r>
            <a:r>
              <a:rPr lang="ro-RO" sz="2400" i="1" dirty="0"/>
              <a:t>Sectiuni</a:t>
            </a:r>
            <a:r>
              <a:rPr lang="ro-RO" sz="2400" dirty="0"/>
              <a:t> al căror nume se termină cu o literă dată ca parametru de intrare și au cel puțin două caractere.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240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>
                <a:latin typeface="+mn-lt"/>
              </a:rPr>
              <a:t>View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0733"/>
            <a:ext cx="10528325" cy="4717003"/>
          </a:xfrm>
        </p:spPr>
        <p:txBody>
          <a:bodyPr>
            <a:normAutofit/>
          </a:bodyPr>
          <a:lstStyle/>
          <a:p>
            <a:r>
              <a:rPr lang="en-US" dirty="0"/>
              <a:t>Un </a:t>
            </a:r>
            <a:r>
              <a:rPr lang="en-US" b="1" dirty="0"/>
              <a:t>view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tabel</a:t>
            </a:r>
            <a:r>
              <a:rPr lang="en-US" dirty="0"/>
              <a:t> virtual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result set-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inter</a:t>
            </a:r>
            <a:r>
              <a:rPr lang="ro-RO" dirty="0" err="1"/>
              <a:t>ogări</a:t>
            </a:r>
            <a:endParaRPr lang="ro-RO" dirty="0"/>
          </a:p>
          <a:p>
            <a:r>
              <a:rPr lang="ro-RO" dirty="0"/>
              <a:t>Conține înregistrări și coloane ca un tabel real</a:t>
            </a:r>
          </a:p>
          <a:p>
            <a:r>
              <a:rPr lang="ro-RO" dirty="0"/>
              <a:t>Un </a:t>
            </a:r>
            <a:r>
              <a:rPr lang="ro-RO" b="1" dirty="0" err="1"/>
              <a:t>view</a:t>
            </a:r>
            <a:r>
              <a:rPr lang="ro-RO" dirty="0"/>
              <a:t> nu stochează date, stochează definiția unei interogări </a:t>
            </a:r>
          </a:p>
          <a:p>
            <a:r>
              <a:rPr lang="ro-RO" dirty="0"/>
              <a:t>Cu ajutorul unui </a:t>
            </a:r>
            <a:r>
              <a:rPr lang="ro-RO" b="1" dirty="0" err="1"/>
              <a:t>view</a:t>
            </a:r>
            <a:r>
              <a:rPr lang="ro-RO" dirty="0"/>
              <a:t> putem prezenta date din mai multe tabele ca și cum ar veni din același tabel</a:t>
            </a:r>
          </a:p>
          <a:p>
            <a:r>
              <a:rPr lang="ro-RO" dirty="0"/>
              <a:t>De fiecare dată când un </a:t>
            </a:r>
            <a:r>
              <a:rPr lang="ro-RO" b="1" dirty="0" err="1"/>
              <a:t>view</a:t>
            </a:r>
            <a:r>
              <a:rPr lang="ro-RO" dirty="0"/>
              <a:t> este interogat, motorul bazei de date va recrea datele folosind </a:t>
            </a:r>
            <a:r>
              <a:rPr lang="ro-RO" b="1" dirty="0"/>
              <a:t>instrucțiunea SELECT</a:t>
            </a:r>
            <a:r>
              <a:rPr lang="en-US" dirty="0"/>
              <a:t> </a:t>
            </a:r>
            <a:r>
              <a:rPr lang="en-US" dirty="0" err="1"/>
              <a:t>specificat</a:t>
            </a:r>
            <a:r>
              <a:rPr lang="ro-RO" dirty="0"/>
              <a:t>ă la crearea </a:t>
            </a:r>
            <a:r>
              <a:rPr lang="ro-RO" b="1" dirty="0"/>
              <a:t>view-ului</a:t>
            </a:r>
            <a:r>
              <a:rPr lang="ro-RO" dirty="0"/>
              <a:t>, astfel că un </a:t>
            </a:r>
            <a:r>
              <a:rPr lang="ro-RO" b="1" dirty="0"/>
              <a:t>view </a:t>
            </a:r>
            <a:r>
              <a:rPr lang="ro-RO" dirty="0"/>
              <a:t>va prezenta întotdeauna </a:t>
            </a:r>
            <a:r>
              <a:rPr lang="ro-RO" b="1" dirty="0"/>
              <a:t>date actualizate</a:t>
            </a:r>
          </a:p>
          <a:p>
            <a:r>
              <a:rPr lang="ro-RO" b="1" dirty="0"/>
              <a:t>Numele coloanelor </a:t>
            </a:r>
            <a:r>
              <a:rPr lang="ro-RO" dirty="0"/>
              <a:t>dintr-un </a:t>
            </a:r>
            <a:r>
              <a:rPr lang="ro-RO" b="1" dirty="0" err="1"/>
              <a:t>view</a:t>
            </a:r>
            <a:r>
              <a:rPr lang="ro-RO" dirty="0"/>
              <a:t> trebuie să fie </a:t>
            </a:r>
            <a:r>
              <a:rPr lang="ro-RO" b="1" dirty="0"/>
              <a:t>unice</a:t>
            </a:r>
            <a:r>
              <a:rPr lang="ro-RO" dirty="0"/>
              <a:t> (în cazul în care avem două coloane cu același nume provenind din tabele diferite, putem folosi un </a:t>
            </a:r>
            <a:r>
              <a:rPr lang="ro-RO" b="1" dirty="0"/>
              <a:t>alias</a:t>
            </a:r>
            <a:r>
              <a:rPr lang="ro-RO" dirty="0"/>
              <a:t> pentru una dintre ele)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3575" y="1568389"/>
            <a:ext cx="10551481" cy="4921188"/>
          </a:xfrm>
        </p:spPr>
        <p:txBody>
          <a:bodyPr/>
          <a:lstStyle/>
          <a:p>
            <a:r>
              <a:rPr lang="ro-RO" dirty="0"/>
              <a:t>Sintaxa pentru crearea unui </a:t>
            </a:r>
            <a:r>
              <a:rPr lang="ro-RO" dirty="0" err="1"/>
              <a:t>view</a:t>
            </a:r>
            <a:r>
              <a:rPr lang="ro-RO" dirty="0"/>
              <a:t>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ro-RO" dirty="0">
                <a:latin typeface="Consolas" panose="020B0609020204030204" pitchFamily="49" charset="0"/>
              </a:rPr>
              <a:t>CREATE VIEW view_name AS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&gt;;</a:t>
            </a:r>
            <a:endParaRPr lang="ro-RO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Sintaxa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view:</a:t>
            </a:r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en-US" dirty="0">
                <a:latin typeface="Consolas" panose="020B0609020204030204" pitchFamily="49" charset="0"/>
              </a:rPr>
              <a:t>ALTER VIEW </a:t>
            </a:r>
            <a:r>
              <a:rPr lang="en-US" dirty="0" err="1">
                <a:latin typeface="Consolas" panose="020B0609020204030204" pitchFamily="49" charset="0"/>
              </a:rPr>
              <a:t>view_name</a:t>
            </a:r>
            <a:r>
              <a:rPr lang="en-US" dirty="0">
                <a:latin typeface="Consolas" panose="020B0609020204030204" pitchFamily="49" charset="0"/>
              </a:rPr>
              <a:t> AS</a:t>
            </a:r>
            <a:r>
              <a:rPr lang="ro-RO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&gt;;</a:t>
            </a:r>
            <a:endParaRPr lang="ro-RO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Sintaxa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ro-RO" dirty="0"/>
              <a:t>ștergerea unui view:</a:t>
            </a:r>
          </a:p>
          <a:p>
            <a:pPr marL="0" indent="0">
              <a:buNone/>
            </a:pPr>
            <a:r>
              <a:rPr lang="ro-RO" dirty="0"/>
              <a:t>  	</a:t>
            </a:r>
            <a:r>
              <a:rPr lang="ro-RO" dirty="0">
                <a:latin typeface="Consolas" panose="020B0609020204030204" pitchFamily="49" charset="0"/>
              </a:rPr>
              <a:t>DROP VIEW view_name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23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95020"/>
            <a:ext cx="10111074" cy="4997804"/>
          </a:xfrm>
        </p:spPr>
        <p:txBody>
          <a:bodyPr>
            <a:normAutofit/>
          </a:bodyPr>
          <a:lstStyle/>
          <a:p>
            <a:r>
              <a:rPr lang="ro-RO" dirty="0"/>
              <a:t>Următorul view returnează numele atracțiilor, nota</a:t>
            </a:r>
            <a:r>
              <a:rPr lang="en-US" dirty="0"/>
              <a:t>,</a:t>
            </a:r>
            <a:r>
              <a:rPr lang="ro-RO" dirty="0"/>
              <a:t> numele și adresa de email a vizitatorilor:</a:t>
            </a:r>
            <a:endParaRPr lang="en-US" dirty="0"/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Atractii 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dirty="0"/>
          </a:p>
          <a:p>
            <a:pPr marL="45720" indent="0">
              <a:buNone/>
            </a:pPr>
            <a:r>
              <a:rPr lang="ro-RO" dirty="0"/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--Interogarea view-ului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6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23999"/>
            <a:ext cx="10492814" cy="5068825"/>
          </a:xfrm>
        </p:spPr>
        <p:txBody>
          <a:bodyPr>
            <a:normAutofit/>
          </a:bodyPr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defin</a:t>
            </a:r>
            <a:r>
              <a:rPr lang="ro-RO" dirty="0"/>
              <a:t>iția view-ului, astfel încât acesta să returneze doar înregistrările a căror note se găsesc în intervalul închis </a:t>
            </a:r>
            <a:r>
              <a:rPr lang="en-US" dirty="0"/>
              <a:t>[5, 7]</a:t>
            </a:r>
            <a:r>
              <a:rPr lang="ro-RO" dirty="0"/>
              <a:t>: 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</a:t>
            </a: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Atractii 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5.0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7.0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sz="1800" dirty="0"/>
          </a:p>
          <a:p>
            <a:pPr marL="45720" indent="0">
              <a:buNone/>
            </a:pPr>
            <a:r>
              <a:rPr lang="ro-RO" sz="1800" dirty="0"/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--Interogarea view-ului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5098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884" y="1470734"/>
            <a:ext cx="10196374" cy="4419600"/>
          </a:xfrm>
        </p:spPr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ro-RO" dirty="0"/>
              <a:t>ând interogăm view-ul putem specifica explicit coloanele pe care dorim să le returnăm în result-set: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email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342900" indent="-342900"/>
            <a:r>
              <a:rPr lang="ro-RO" dirty="0"/>
              <a:t>Sau putem folosi</a:t>
            </a:r>
            <a:r>
              <a:rPr lang="en-US" dirty="0"/>
              <a:t> </a:t>
            </a:r>
            <a:r>
              <a:rPr lang="ro-RO" b="1" dirty="0"/>
              <a:t>*</a:t>
            </a:r>
            <a:r>
              <a:rPr lang="ro-RO" dirty="0"/>
              <a:t> dacă returnăm toate coloanele în result-set: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ro-RO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  <a:p>
            <a:r>
              <a:rPr lang="en-US" dirty="0" err="1"/>
              <a:t>Dac</a:t>
            </a:r>
            <a:r>
              <a:rPr lang="ro-RO" dirty="0"/>
              <a:t>ă view-ul nu mai este necesar, poate fi șters folosind instrucțiunea </a:t>
            </a:r>
            <a:r>
              <a:rPr lang="ro-RO" b="1" dirty="0"/>
              <a:t>DROP VIEW</a:t>
            </a:r>
            <a:r>
              <a:rPr lang="ro-RO" dirty="0"/>
              <a:t>:</a:t>
            </a:r>
          </a:p>
          <a:p>
            <a:pPr marL="0" indent="0">
              <a:buNone/>
            </a:pPr>
            <a:r>
              <a:rPr lang="ro-RO" dirty="0"/>
              <a:t>   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9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0733"/>
            <a:ext cx="10537202" cy="4796901"/>
          </a:xfrm>
        </p:spPr>
        <p:txBody>
          <a:bodyPr/>
          <a:lstStyle/>
          <a:p>
            <a:r>
              <a:rPr lang="ro-RO" b="1" dirty="0"/>
              <a:t>Nu</a:t>
            </a:r>
            <a:r>
              <a:rPr lang="ro-RO" dirty="0"/>
              <a:t> se poate folosi clauza </a:t>
            </a:r>
            <a:r>
              <a:rPr lang="ro-RO" b="1" dirty="0"/>
              <a:t>ORDER BY </a:t>
            </a:r>
            <a:r>
              <a:rPr lang="ro-RO" dirty="0"/>
              <a:t>în definiția unui </a:t>
            </a:r>
            <a:r>
              <a:rPr lang="ro-RO" dirty="0" err="1"/>
              <a:t>view</a:t>
            </a:r>
            <a:r>
              <a:rPr lang="ro-RO" dirty="0"/>
              <a:t> (decât dacă se specifică în definiția </a:t>
            </a:r>
            <a:r>
              <a:rPr lang="ro-RO" dirty="0" err="1"/>
              <a:t>view</a:t>
            </a:r>
            <a:r>
              <a:rPr lang="ro-RO" dirty="0"/>
              <a:t>-ului clauza </a:t>
            </a:r>
            <a:r>
              <a:rPr lang="ro-RO" b="1" dirty="0"/>
              <a:t>TOP</a:t>
            </a:r>
            <a:r>
              <a:rPr lang="ro-RO" dirty="0"/>
              <a:t>, </a:t>
            </a:r>
            <a:r>
              <a:rPr lang="ro-RO" b="1" dirty="0"/>
              <a:t>OFFSET</a:t>
            </a:r>
            <a:r>
              <a:rPr lang="ro-RO" dirty="0"/>
              <a:t> sau </a:t>
            </a:r>
            <a:r>
              <a:rPr lang="ro-RO" b="1" dirty="0"/>
              <a:t>FOR XML</a:t>
            </a:r>
            <a:r>
              <a:rPr lang="ro-RO" dirty="0"/>
              <a:t>)</a:t>
            </a:r>
          </a:p>
          <a:p>
            <a:r>
              <a:rPr lang="ro-RO" dirty="0"/>
              <a:t>Dacă dorim să ordonăm înregistrările din result-set, putem folosi clauza </a:t>
            </a:r>
            <a:r>
              <a:rPr lang="ro-RO" b="1" dirty="0"/>
              <a:t>ORDER BY </a:t>
            </a:r>
            <a:r>
              <a:rPr lang="ro-RO" dirty="0"/>
              <a:t>atunci când interogăm view-ul</a:t>
            </a:r>
          </a:p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afi</a:t>
            </a:r>
            <a:r>
              <a:rPr lang="ro-RO" dirty="0"/>
              <a:t>șa definiția unui </a:t>
            </a:r>
            <a:r>
              <a:rPr lang="ro-RO" dirty="0" err="1"/>
              <a:t>view</a:t>
            </a:r>
            <a:r>
              <a:rPr lang="ro-RO" dirty="0"/>
              <a:t>, putem folosi funcția </a:t>
            </a:r>
            <a:r>
              <a:rPr lang="ro-RO" b="1" dirty="0"/>
              <a:t>OBJECT_DEFINITION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procedura</a:t>
            </a:r>
            <a:r>
              <a:rPr lang="en-US" dirty="0"/>
              <a:t> </a:t>
            </a:r>
            <a:r>
              <a:rPr lang="en-US" dirty="0" err="1"/>
              <a:t>stocat</a:t>
            </a:r>
            <a:r>
              <a:rPr lang="ro-RO" dirty="0"/>
              <a:t>ă </a:t>
            </a:r>
            <a:r>
              <a:rPr lang="ro-RO" b="1" dirty="0"/>
              <a:t>sp_helptext</a:t>
            </a:r>
            <a:r>
              <a:rPr lang="ro-RO" dirty="0"/>
              <a:t>:</a:t>
            </a:r>
          </a:p>
          <a:p>
            <a:endParaRPr lang="ro-RO" dirty="0"/>
          </a:p>
          <a:p>
            <a:pPr marL="45720" indent="0">
              <a:buNone/>
            </a:pP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	PRINT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FF00FF"/>
                </a:solidFill>
                <a:latin typeface="Consolas" panose="020B0609020204030204" pitchFamily="49" charset="0"/>
              </a:rPr>
              <a:t>OBJECT_DEFINITION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FF00FF"/>
                </a:solidFill>
                <a:latin typeface="Consolas" panose="020B0609020204030204" pitchFamily="49" charset="0"/>
              </a:rPr>
              <a:t>OBJECT_ID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FF0000"/>
                </a:solidFill>
                <a:latin typeface="Consolas" panose="020B0609020204030204" pitchFamily="49" charset="0"/>
              </a:rPr>
              <a:t>'schema_name.view_name'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));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	EXEC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800000"/>
                </a:solidFill>
                <a:latin typeface="Consolas" panose="020B0609020204030204" pitchFamily="49" charset="0"/>
              </a:rPr>
              <a:t>sp_helptext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FF0000"/>
                </a:solidFill>
                <a:latin typeface="Consolas" panose="020B0609020204030204" pitchFamily="49" charset="0"/>
              </a:rPr>
              <a:t>'schema_name.view_name'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27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19" y="1572768"/>
            <a:ext cx="10350771" cy="4142232"/>
          </a:xfrm>
        </p:spPr>
        <p:txBody>
          <a:bodyPr/>
          <a:lstStyle/>
          <a:p>
            <a:r>
              <a:rPr lang="ro-RO" dirty="0"/>
              <a:t>Se pot insera date într-un </a:t>
            </a:r>
            <a:r>
              <a:rPr lang="ro-RO" dirty="0" err="1"/>
              <a:t>view</a:t>
            </a:r>
            <a:r>
              <a:rPr lang="ro-RO" dirty="0"/>
              <a:t> doar dacă inserarea afectează un singur </a:t>
            </a:r>
            <a:r>
              <a:rPr lang="ro-RO" i="1" dirty="0" err="1"/>
              <a:t>base</a:t>
            </a:r>
            <a:r>
              <a:rPr lang="ro-RO" i="1" dirty="0"/>
              <a:t> table</a:t>
            </a:r>
            <a:r>
              <a:rPr lang="ro-RO" dirty="0"/>
              <a:t> (în cazul în care </a:t>
            </a:r>
            <a:r>
              <a:rPr lang="ro-RO" dirty="0" err="1"/>
              <a:t>view-ul</a:t>
            </a:r>
            <a:r>
              <a:rPr lang="ro-RO" dirty="0"/>
              <a:t> conține date din mai multe tabele)</a:t>
            </a:r>
          </a:p>
          <a:p>
            <a:r>
              <a:rPr lang="ro-RO" dirty="0"/>
              <a:t>Se pot actualiza date într-un </a:t>
            </a:r>
            <a:r>
              <a:rPr lang="ro-RO" dirty="0" err="1"/>
              <a:t>view</a:t>
            </a:r>
            <a:r>
              <a:rPr lang="ro-RO" dirty="0"/>
              <a:t> doar dacă actualizarea afectează un singur </a:t>
            </a:r>
            <a:r>
              <a:rPr lang="ro-RO" i="1" dirty="0" err="1"/>
              <a:t>base</a:t>
            </a:r>
            <a:r>
              <a:rPr lang="ro-RO" i="1" dirty="0"/>
              <a:t> table </a:t>
            </a:r>
            <a:r>
              <a:rPr lang="ro-RO" dirty="0"/>
              <a:t>(în cazul în care </a:t>
            </a:r>
            <a:r>
              <a:rPr lang="ro-RO" dirty="0" err="1"/>
              <a:t>view-ul</a:t>
            </a:r>
            <a:r>
              <a:rPr lang="ro-RO" dirty="0"/>
              <a:t> conține date din mai multe tabele)</a:t>
            </a:r>
          </a:p>
          <a:p>
            <a:r>
              <a:rPr lang="ro-RO" dirty="0"/>
              <a:t>Se pot șterge date dintr-un </a:t>
            </a:r>
            <a:r>
              <a:rPr lang="ro-RO" dirty="0" err="1"/>
              <a:t>view</a:t>
            </a:r>
            <a:r>
              <a:rPr lang="ro-RO" dirty="0"/>
              <a:t> doar dacă </a:t>
            </a:r>
            <a:r>
              <a:rPr lang="ro-RO" dirty="0" err="1"/>
              <a:t>view-ul</a:t>
            </a:r>
            <a:r>
              <a:rPr lang="ro-RO" dirty="0"/>
              <a:t> conține date dintr-un singur tabel</a:t>
            </a:r>
            <a:endParaRPr lang="en-US" dirty="0"/>
          </a:p>
          <a:p>
            <a:r>
              <a:rPr lang="ro-RO" dirty="0"/>
              <a:t>Operațiunile de inserare într-un </a:t>
            </a:r>
            <a:r>
              <a:rPr lang="ro-RO" dirty="0" err="1"/>
              <a:t>view</a:t>
            </a:r>
            <a:r>
              <a:rPr lang="ro-RO" dirty="0"/>
              <a:t> sunt posibile doar dacă </a:t>
            </a:r>
            <a:r>
              <a:rPr lang="ro-RO" dirty="0" err="1"/>
              <a:t>view-ul</a:t>
            </a:r>
            <a:r>
              <a:rPr lang="ro-RO" dirty="0"/>
              <a:t> expune toate coloanele care nu permit valori NULL</a:t>
            </a:r>
          </a:p>
          <a:p>
            <a:r>
              <a:rPr lang="en-US" dirty="0"/>
              <a:t>N</a:t>
            </a:r>
            <a:r>
              <a:rPr lang="ro-RO" dirty="0"/>
              <a:t>umăr</a:t>
            </a:r>
            <a:r>
              <a:rPr lang="en-US" dirty="0" err="1"/>
              <a:t>ul</a:t>
            </a:r>
            <a:r>
              <a:rPr lang="ro-RO" dirty="0"/>
              <a:t> maxim de</a:t>
            </a:r>
            <a:r>
              <a:rPr lang="en-US" dirty="0"/>
              <a:t> </a:t>
            </a:r>
            <a:r>
              <a:rPr lang="en-US" dirty="0" err="1"/>
              <a:t>coloane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le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un view </a:t>
            </a:r>
            <a:r>
              <a:rPr lang="en-US" dirty="0" err="1"/>
              <a:t>este</a:t>
            </a:r>
            <a:r>
              <a:rPr lang="en-US" dirty="0"/>
              <a:t> 1024</a:t>
            </a:r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79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977F-C033-EA86-273E-3C49AE30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Exerciții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B2E7-565A-DC25-CD2B-77C02B1E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509135" cy="4901923"/>
          </a:xfrm>
        </p:spPr>
        <p:txBody>
          <a:bodyPr/>
          <a:lstStyle/>
          <a:p>
            <a:r>
              <a:rPr lang="ro-RO" sz="2400" dirty="0"/>
              <a:t>1) Creați un view care afișează toate înregistrările din tabelul </a:t>
            </a:r>
            <a:r>
              <a:rPr lang="ro-RO" sz="2400" i="1" dirty="0"/>
              <a:t>Categorii</a:t>
            </a:r>
            <a:r>
              <a:rPr lang="ro-RO" sz="2400" dirty="0"/>
              <a:t> al căror nume este egal cu </a:t>
            </a:r>
            <a:r>
              <a:rPr lang="en-US" sz="2400" dirty="0"/>
              <a:t>‘</a:t>
            </a:r>
            <a:r>
              <a:rPr lang="en-US" sz="2400" dirty="0" err="1"/>
              <a:t>pensionari</a:t>
            </a:r>
            <a:r>
              <a:rPr lang="en-US" sz="2400" dirty="0"/>
              <a:t>’ </a:t>
            </a:r>
            <a:r>
              <a:rPr lang="en-US" sz="2400" dirty="0" err="1"/>
              <a:t>sau</a:t>
            </a:r>
            <a:r>
              <a:rPr lang="en-US" sz="2400" dirty="0"/>
              <a:t> ‘</a:t>
            </a:r>
            <a:r>
              <a:rPr lang="en-US" sz="2400" dirty="0" err="1"/>
              <a:t>copii</a:t>
            </a:r>
            <a:r>
              <a:rPr lang="en-US" sz="2400" dirty="0"/>
              <a:t>’</a:t>
            </a:r>
            <a:r>
              <a:rPr lang="ro-RO" sz="2400" dirty="0"/>
              <a:t>.</a:t>
            </a:r>
          </a:p>
          <a:p>
            <a:r>
              <a:rPr lang="ro-RO" sz="2400" dirty="0"/>
              <a:t>2) Creați un view care afișează toate înregistrările din tabelul </a:t>
            </a:r>
            <a:r>
              <a:rPr lang="ro-RO" sz="2400" i="1" dirty="0"/>
              <a:t>Sectiuni</a:t>
            </a:r>
            <a:r>
              <a:rPr lang="ro-RO" sz="2400" dirty="0"/>
              <a:t> al căror nume începe cu litera C.</a:t>
            </a:r>
          </a:p>
          <a:p>
            <a:r>
              <a:rPr lang="ro-RO" sz="2400" dirty="0"/>
              <a:t>3) Creați un view care care afișează numele vizitatorilor, nota și numele atracției.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5190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Tabele sistem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007" y="1568388"/>
            <a:ext cx="10258517" cy="4323008"/>
          </a:xfrm>
        </p:spPr>
        <p:txBody>
          <a:bodyPr>
            <a:normAutofit/>
          </a:bodyPr>
          <a:lstStyle/>
          <a:p>
            <a:r>
              <a:rPr lang="en-US" sz="2400" dirty="0" err="1"/>
              <a:t>Tabelele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ni</a:t>
            </a:r>
            <a:r>
              <a:rPr lang="ro-RO" sz="2400" dirty="0" err="1"/>
              <a:t>ște</a:t>
            </a:r>
            <a:r>
              <a:rPr lang="ro-RO" sz="2400" dirty="0"/>
              <a:t> tabele speciale care conțin informații despre toate obiectele create într-o bază de date</a:t>
            </a:r>
            <a:r>
              <a:rPr lang="en-US" sz="2400" dirty="0"/>
              <a:t>,</a:t>
            </a:r>
            <a:r>
              <a:rPr lang="ro-RO" sz="2400" dirty="0"/>
              <a:t> cum ar fi: </a:t>
            </a:r>
          </a:p>
          <a:p>
            <a:pPr lvl="1"/>
            <a:r>
              <a:rPr lang="ro-RO" sz="2000" dirty="0"/>
              <a:t>Tabele</a:t>
            </a:r>
          </a:p>
          <a:p>
            <a:pPr lvl="1"/>
            <a:r>
              <a:rPr lang="ro-RO" sz="2000" dirty="0"/>
              <a:t>Coloane</a:t>
            </a:r>
          </a:p>
          <a:p>
            <a:pPr lvl="1"/>
            <a:r>
              <a:rPr lang="ro-RO" sz="2000" dirty="0"/>
              <a:t>Proceduri stocate</a:t>
            </a:r>
          </a:p>
          <a:p>
            <a:pPr lvl="1"/>
            <a:r>
              <a:rPr lang="ro-RO" sz="2000" dirty="0"/>
              <a:t>Trigger</a:t>
            </a:r>
            <a:r>
              <a:rPr lang="en-US" sz="2000" dirty="0"/>
              <a:t>-</a:t>
            </a:r>
            <a:r>
              <a:rPr lang="ro-RO" sz="2000" dirty="0"/>
              <a:t>e</a:t>
            </a:r>
          </a:p>
          <a:p>
            <a:pPr lvl="1"/>
            <a:r>
              <a:rPr lang="ro-RO" sz="2000" dirty="0" err="1"/>
              <a:t>View</a:t>
            </a:r>
            <a:r>
              <a:rPr lang="ro-RO" sz="2000" dirty="0"/>
              <a:t>-uri</a:t>
            </a:r>
          </a:p>
          <a:p>
            <a:pPr lvl="1"/>
            <a:r>
              <a:rPr lang="ro-RO" sz="2000" dirty="0"/>
              <a:t>Funcții definite de utilizator</a:t>
            </a:r>
          </a:p>
          <a:p>
            <a:pPr lvl="1"/>
            <a:r>
              <a:rPr lang="ro-RO" sz="2000" dirty="0"/>
              <a:t>Indecși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22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Tabele sistem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618" y="1523999"/>
            <a:ext cx="9690347" cy="4419601"/>
          </a:xfrm>
        </p:spPr>
        <p:txBody>
          <a:bodyPr/>
          <a:lstStyle/>
          <a:p>
            <a:r>
              <a:rPr lang="ro-RO" dirty="0"/>
              <a:t>Tabelele sistem sunt gestionate de către </a:t>
            </a:r>
            <a:r>
              <a:rPr lang="ro-RO" b="1" dirty="0"/>
              <a:t>server</a:t>
            </a:r>
            <a:r>
              <a:rPr lang="ro-RO" dirty="0"/>
              <a:t> (nu se recomandă modificarea lor direct de către utilizator)</a:t>
            </a:r>
          </a:p>
          <a:p>
            <a:r>
              <a:rPr lang="ro-RO" dirty="0"/>
              <a:t>Exemple: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ro-RO" b="1" dirty="0"/>
              <a:t>sys.objects </a:t>
            </a:r>
            <a:r>
              <a:rPr lang="ro-RO" dirty="0"/>
              <a:t>– conține câte o înregistrare pentru fiecare obiect creat în </a:t>
            </a:r>
            <a:r>
              <a:rPr lang="en-US" dirty="0"/>
              <a:t>	</a:t>
            </a:r>
            <a:r>
              <a:rPr lang="ro-RO" dirty="0"/>
              <a:t>baza de date, cum ar fi: procedură stocată, trigger, tabel, constrângere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ro-RO" b="1" dirty="0" err="1"/>
              <a:t>sys.columns</a:t>
            </a:r>
            <a:r>
              <a:rPr lang="ro-RO" b="1" dirty="0"/>
              <a:t> </a:t>
            </a:r>
            <a:r>
              <a:rPr lang="ro-RO" dirty="0"/>
              <a:t>– conține câte o înregistrare pentru fiecare coloană a unui 	obiect care are coloane, cum ar fi</a:t>
            </a:r>
            <a:r>
              <a:rPr lang="en-US" dirty="0"/>
              <a:t>:</a:t>
            </a:r>
            <a:r>
              <a:rPr lang="ro-RO" dirty="0"/>
              <a:t> tabel, </a:t>
            </a:r>
            <a:r>
              <a:rPr lang="en-US" dirty="0" err="1"/>
              <a:t>func</a:t>
            </a:r>
            <a:r>
              <a:rPr lang="ro-RO" dirty="0"/>
              <a:t>ți</a:t>
            </a:r>
            <a:r>
              <a:rPr lang="en-US" dirty="0"/>
              <a:t>e</a:t>
            </a:r>
            <a:r>
              <a:rPr lang="ro-RO" dirty="0"/>
              <a:t> definită de utilizator care</a:t>
            </a:r>
            <a:r>
              <a:rPr lang="en-US" dirty="0"/>
              <a:t> 	</a:t>
            </a:r>
            <a:r>
              <a:rPr lang="ro-RO" dirty="0"/>
              <a:t>returnează un tab</a:t>
            </a:r>
            <a:r>
              <a:rPr lang="en-US" dirty="0"/>
              <a:t>el, view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sys.databases</a:t>
            </a:r>
            <a:r>
              <a:rPr lang="en-US" b="1" dirty="0"/>
              <a:t> </a:t>
            </a:r>
            <a:r>
              <a:rPr lang="en-US" dirty="0"/>
              <a:t>– con</a:t>
            </a:r>
            <a:r>
              <a:rPr lang="ro-RO" dirty="0"/>
              <a:t>ține câte o înregistare pentru fiecare bază de date 	existentă pe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5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50811"/>
            <a:ext cx="10483936" cy="5074276"/>
          </a:xfrm>
        </p:spPr>
        <p:txBody>
          <a:bodyPr>
            <a:normAutofit/>
          </a:bodyPr>
          <a:lstStyle/>
          <a:p>
            <a:r>
              <a:rPr lang="en-US" dirty="0"/>
              <a:t>Trigger-ul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b="1" dirty="0"/>
              <a:t>tip special de </a:t>
            </a:r>
            <a:r>
              <a:rPr lang="en-US" b="1" dirty="0" err="1"/>
              <a:t>procedur</a:t>
            </a:r>
            <a:r>
              <a:rPr lang="ro-RO" b="1" dirty="0"/>
              <a:t>ă stocată </a:t>
            </a:r>
            <a:r>
              <a:rPr lang="ro-RO" dirty="0"/>
              <a:t>care se execută automat atunci când </a:t>
            </a:r>
            <a:r>
              <a:rPr lang="en-US" dirty="0"/>
              <a:t>un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b="1" dirty="0" err="1"/>
              <a:t>eveniment</a:t>
            </a:r>
            <a:r>
              <a:rPr lang="en-US" b="1" dirty="0"/>
              <a:t> DML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/>
              <a:t>DDL</a:t>
            </a:r>
            <a:r>
              <a:rPr lang="en-US" dirty="0"/>
              <a:t> are loc </a:t>
            </a:r>
            <a:r>
              <a:rPr lang="ro-RO" dirty="0"/>
              <a:t>în baza de date</a:t>
            </a:r>
          </a:p>
          <a:p>
            <a:r>
              <a:rPr lang="ro-RO" b="1" dirty="0"/>
              <a:t>Nu</a:t>
            </a:r>
            <a:r>
              <a:rPr lang="ro-RO" dirty="0"/>
              <a:t> se poate executa în mod direct</a:t>
            </a:r>
          </a:p>
          <a:p>
            <a:r>
              <a:rPr lang="ro-RO" dirty="0"/>
              <a:t>Evenimente DML: </a:t>
            </a:r>
            <a:endParaRPr lang="en-US" dirty="0"/>
          </a:p>
          <a:p>
            <a:pPr lvl="1"/>
            <a:r>
              <a:rPr lang="ro-RO" dirty="0"/>
              <a:t>INSERT </a:t>
            </a:r>
          </a:p>
          <a:p>
            <a:pPr lvl="1"/>
            <a:r>
              <a:rPr lang="ro-RO" dirty="0"/>
              <a:t>UPDATE </a:t>
            </a:r>
          </a:p>
          <a:p>
            <a:pPr lvl="1"/>
            <a:r>
              <a:rPr lang="ro-RO" dirty="0"/>
              <a:t>DELETE </a:t>
            </a:r>
          </a:p>
          <a:p>
            <a:r>
              <a:rPr lang="ro-RO" dirty="0"/>
              <a:t>Evenimente DDL: </a:t>
            </a:r>
            <a:endParaRPr lang="en-US" dirty="0"/>
          </a:p>
          <a:p>
            <a:pPr lvl="1"/>
            <a:r>
              <a:rPr lang="ro-RO" dirty="0"/>
              <a:t>CREATE </a:t>
            </a:r>
            <a:endParaRPr lang="en-US" dirty="0"/>
          </a:p>
          <a:p>
            <a:pPr lvl="1"/>
            <a:r>
              <a:rPr lang="en-US" dirty="0"/>
              <a:t>ALTER</a:t>
            </a:r>
          </a:p>
          <a:p>
            <a:pPr lvl="1"/>
            <a:r>
              <a:rPr lang="en-US" dirty="0"/>
              <a:t>DROP</a:t>
            </a:r>
          </a:p>
          <a:p>
            <a:r>
              <a:rPr lang="ro-RO" dirty="0"/>
              <a:t>Fiecare trigger (DML) aparține unui singur tabel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8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r>
              <a:rPr lang="en-US" dirty="0">
                <a:latin typeface="+mn-lt"/>
              </a:rPr>
              <a:t>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470733"/>
            <a:ext cx="9175442" cy="4903434"/>
          </a:xfrm>
        </p:spPr>
        <p:txBody>
          <a:bodyPr>
            <a:normAutofit/>
          </a:bodyPr>
          <a:lstStyle/>
          <a:p>
            <a:r>
              <a:rPr lang="ro-RO" dirty="0"/>
              <a:t>Sintaxa: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CREATE TRIGGER </a:t>
            </a:r>
            <a:r>
              <a:rPr lang="en-US" dirty="0" err="1">
                <a:latin typeface="Consolas" panose="020B0609020204030204" pitchFamily="49" charset="0"/>
              </a:rPr>
              <a:t>trigger_name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ON { table | view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WITH &lt;</a:t>
            </a:r>
            <a:r>
              <a:rPr lang="en-US" dirty="0" err="1">
                <a:latin typeface="Consolas" panose="020B0609020204030204" pitchFamily="49" charset="0"/>
              </a:rPr>
              <a:t>dml_trigger_option</a:t>
            </a:r>
            <a:r>
              <a:rPr lang="en-US" dirty="0">
                <a:latin typeface="Consolas" panose="020B0609020204030204" pitchFamily="49" charset="0"/>
              </a:rPr>
              <a:t>&gt; [ ,...n ] 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 FOR | AFTER | INSTEAD OF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 [ INSERT ] [ , ] [ UPDATE ] [ , ] [ DELETE ]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WITH APPEND 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NOT FOR REPLICATION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AS { </a:t>
            </a:r>
            <a:r>
              <a:rPr lang="en-US" dirty="0" err="1">
                <a:latin typeface="Consolas" panose="020B0609020204030204" pitchFamily="49" charset="0"/>
              </a:rPr>
              <a:t>sql_statement</a:t>
            </a:r>
            <a:r>
              <a:rPr lang="en-US" dirty="0">
                <a:latin typeface="Consolas" panose="020B0609020204030204" pitchFamily="49" charset="0"/>
              </a:rPr>
              <a:t>  [ ; ] [ ,...n ] | EXTERNAL NAME </a:t>
            </a: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&lt;method specifier [ ; ] &gt;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04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24000"/>
            <a:ext cx="10625979" cy="4938944"/>
          </a:xfrm>
        </p:spPr>
        <p:txBody>
          <a:bodyPr/>
          <a:lstStyle/>
          <a:p>
            <a:r>
              <a:rPr lang="ro-RO" b="1" dirty="0"/>
              <a:t>Momentul</a:t>
            </a:r>
            <a:r>
              <a:rPr lang="ro-RO" dirty="0"/>
              <a:t> execuției unui trigger</a:t>
            </a:r>
          </a:p>
          <a:p>
            <a:pPr lvl="1"/>
            <a:r>
              <a:rPr lang="ro-RO" b="1" dirty="0"/>
              <a:t>FOR</a:t>
            </a:r>
            <a:r>
              <a:rPr lang="en-US" dirty="0"/>
              <a:t>, </a:t>
            </a:r>
            <a:r>
              <a:rPr lang="ro-RO" b="1" dirty="0"/>
              <a:t>AFTER</a:t>
            </a:r>
            <a:r>
              <a:rPr lang="ro-RO" dirty="0"/>
              <a:t> (se pot defini mai multe trigger-e de acest tip)</a:t>
            </a:r>
            <a:r>
              <a:rPr lang="en-US" dirty="0"/>
              <a:t> – trigger</a:t>
            </a:r>
            <a:r>
              <a:rPr lang="ro-RO" dirty="0"/>
              <a:t>-</a:t>
            </a:r>
            <a:r>
              <a:rPr lang="en-US" dirty="0"/>
              <a:t>u</a:t>
            </a:r>
            <a:r>
              <a:rPr lang="ro-RO" dirty="0"/>
              <a:t>l</a:t>
            </a:r>
            <a:r>
              <a:rPr lang="en-US" dirty="0"/>
              <a:t> se </a:t>
            </a:r>
            <a:r>
              <a:rPr lang="en-US" dirty="0" err="1"/>
              <a:t>execut</a:t>
            </a:r>
            <a:r>
              <a:rPr lang="ro-RO" dirty="0"/>
              <a:t>ă după ce s-a executat </a:t>
            </a:r>
            <a:r>
              <a:rPr lang="en-US" dirty="0" err="1"/>
              <a:t>evenimentul</a:t>
            </a:r>
            <a:r>
              <a:rPr lang="en-US" dirty="0"/>
              <a:t> </a:t>
            </a:r>
            <a:r>
              <a:rPr lang="en-US" dirty="0" err="1"/>
              <a:t>decl</a:t>
            </a:r>
            <a:r>
              <a:rPr lang="ro-RO" dirty="0"/>
              <a:t>anșator </a:t>
            </a:r>
          </a:p>
          <a:p>
            <a:pPr lvl="1"/>
            <a:r>
              <a:rPr lang="ro-RO" b="1" dirty="0"/>
              <a:t>INSTEAD OF </a:t>
            </a:r>
            <a:r>
              <a:rPr lang="ro-RO" dirty="0"/>
              <a:t>– trigger-ul se execută în locul evenimentului declanșator</a:t>
            </a:r>
          </a:p>
          <a:p>
            <a:r>
              <a:rPr lang="ro-RO" dirty="0"/>
              <a:t>Dacă se definesc mai multe trigger-e pentru aceeași acțiune (eveniment), ele se execută în </a:t>
            </a:r>
            <a:r>
              <a:rPr lang="ro-RO" b="1" dirty="0"/>
              <a:t>ordine aleatorie</a:t>
            </a:r>
          </a:p>
          <a:p>
            <a:r>
              <a:rPr lang="ro-RO" dirty="0"/>
              <a:t>Când se execută un trigger, sunt disponibile două </a:t>
            </a:r>
            <a:r>
              <a:rPr lang="ro-RO" b="1" dirty="0"/>
              <a:t>tabele speciale</a:t>
            </a:r>
            <a:r>
              <a:rPr lang="en-US" b="1" dirty="0"/>
              <a:t>:</a:t>
            </a:r>
          </a:p>
          <a:p>
            <a:pPr lvl="1"/>
            <a:r>
              <a:rPr lang="ro-RO" b="1" dirty="0"/>
              <a:t>inserted</a:t>
            </a:r>
            <a:r>
              <a:rPr lang="ro-RO" dirty="0"/>
              <a:t> </a:t>
            </a:r>
            <a:endParaRPr lang="en-US" dirty="0"/>
          </a:p>
          <a:p>
            <a:pPr lvl="1"/>
            <a:r>
              <a:rPr lang="ro-RO" b="1" dirty="0"/>
              <a:t>deleted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46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</a:t>
            </a:r>
            <a:r>
              <a:rPr lang="en-US" dirty="0" err="1">
                <a:latin typeface="+mn-lt"/>
              </a:rPr>
              <a:t>pentru</a:t>
            </a:r>
            <a:r>
              <a:rPr lang="en-US" dirty="0">
                <a:latin typeface="+mn-lt"/>
              </a:rPr>
              <a:t> INSERT </a:t>
            </a:r>
            <a:r>
              <a:rPr lang="ro-RO" dirty="0">
                <a:latin typeface="+mn-lt"/>
              </a:rPr>
              <a:t>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80571"/>
            <a:ext cx="10457303" cy="5112253"/>
          </a:xfrm>
        </p:spPr>
        <p:txBody>
          <a:bodyPr>
            <a:normAutofit/>
          </a:bodyPr>
          <a:lstStyle/>
          <a:p>
            <a:r>
              <a:rPr lang="en-US" dirty="0" err="1"/>
              <a:t>Urm</a:t>
            </a:r>
            <a:r>
              <a:rPr lang="ro-RO" dirty="0"/>
              <a:t>ătorul trigger are scopul de</a:t>
            </a:r>
            <a:r>
              <a:rPr lang="en-US" dirty="0"/>
              <a:t> a </a:t>
            </a:r>
            <a:r>
              <a:rPr lang="en-US" dirty="0" err="1"/>
              <a:t>impiedica</a:t>
            </a:r>
            <a:r>
              <a:rPr lang="en-US" dirty="0"/>
              <a:t> a</a:t>
            </a:r>
            <a:r>
              <a:rPr lang="ro-RO" dirty="0"/>
              <a:t>dăugarea unor înregistrări noi în tabelul </a:t>
            </a:r>
            <a:r>
              <a:rPr lang="ro-RO" i="1" dirty="0"/>
              <a:t>Categorii</a:t>
            </a:r>
            <a:r>
              <a:rPr lang="ro-RO" dirty="0"/>
              <a:t>: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IntroducereCategorie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INSTEAD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OF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		RAISERROR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FF0000"/>
                </a:solidFill>
                <a:latin typeface="Consolas" panose="020B0609020204030204" pitchFamily="49" charset="0"/>
              </a:rPr>
              <a:t>'Momentan nu se pot insera date in acest tabel'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03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pentru</a:t>
            </a:r>
            <a:r>
              <a:rPr lang="en-US" dirty="0">
                <a:latin typeface="+mn-lt"/>
              </a:rPr>
              <a:t> DELETE</a:t>
            </a:r>
            <a:r>
              <a:rPr lang="ro-RO" dirty="0">
                <a:latin typeface="+mn-lt"/>
              </a:rPr>
              <a:t> 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32878"/>
            <a:ext cx="9809233" cy="4419600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ro-RO" dirty="0"/>
              <a:t>Următorul trigger </a:t>
            </a:r>
            <a:r>
              <a:rPr lang="en-US" dirty="0" err="1"/>
              <a:t>insereaz</a:t>
            </a:r>
            <a:r>
              <a:rPr lang="ro-RO" dirty="0"/>
              <a:t>ă fiecare înregistrare ștearsă din tabelul </a:t>
            </a:r>
            <a:r>
              <a:rPr lang="ro-RO" i="1" dirty="0"/>
              <a:t>Categorii </a:t>
            </a:r>
            <a:r>
              <a:rPr lang="ro-RO" dirty="0"/>
              <a:t>într-un tabel numit </a:t>
            </a:r>
            <a:r>
              <a:rPr lang="ro-RO" i="1" dirty="0"/>
              <a:t>CategoriiEliminate</a:t>
            </a:r>
            <a:r>
              <a:rPr lang="ro-RO" dirty="0"/>
              <a:t>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EliminareCategorie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AFTER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CategoriiEliminate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data_si_ora_eliminarii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2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8673-098F-ECFF-85A8-0BDD558D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</a:t>
            </a:r>
            <a:r>
              <a:rPr lang="en-US" dirty="0" err="1"/>
              <a:t>pentru</a:t>
            </a:r>
            <a:r>
              <a:rPr lang="en-US" dirty="0"/>
              <a:t> DELETE - </a:t>
            </a:r>
            <a:r>
              <a:rPr lang="en-US" dirty="0" err="1"/>
              <a:t>Exemplu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C825-A36A-12D2-2893-F0E47CEE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Instruc</a:t>
            </a:r>
            <a:r>
              <a:rPr lang="ro-RO" dirty="0"/>
              <a:t>țiunea folosită la crearea tabelului </a:t>
            </a:r>
            <a:r>
              <a:rPr lang="ro-RO" i="1" dirty="0"/>
              <a:t>CategoriiEliminate</a:t>
            </a:r>
            <a:r>
              <a:rPr lang="ro-RO" dirty="0"/>
              <a:t> este următoarea: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CategoriiEliminate</a:t>
            </a:r>
          </a:p>
          <a:p>
            <a:pPr marL="45720" indent="0">
              <a:buNone/>
            </a:pP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cod_e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cod_c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nume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data_si_ora_eliminarii </a:t>
            </a:r>
            <a:r>
              <a:rPr lang="it-IT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endParaRPr lang="it-I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340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pentru UPDATE 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344" y="1559510"/>
            <a:ext cx="10821287" cy="5033314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ro-RO" dirty="0"/>
              <a:t>Următorul trigger înregistrează într-un tabel numit </a:t>
            </a:r>
            <a:r>
              <a:rPr lang="ro-RO" i="1" dirty="0"/>
              <a:t>ModificariNote</a:t>
            </a:r>
            <a:r>
              <a:rPr lang="ro-RO" dirty="0"/>
              <a:t> toate modificările de note care au loc în tabelul </a:t>
            </a:r>
            <a:r>
              <a:rPr lang="ro-RO" i="1" dirty="0"/>
              <a:t>Note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ActualizareNota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ModificariNote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nota_initiala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nota_actualizata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data_si_ora_actualizarii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inserted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 d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3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C4C7-497A-31B6-1298-CEE4B5AC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pentru UPDATE - Exemplu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DC2D-959F-048D-14AF-4DA07295B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7"/>
            <a:ext cx="9509760" cy="4845787"/>
          </a:xfrm>
        </p:spPr>
        <p:txBody>
          <a:bodyPr>
            <a:normAutofit/>
          </a:bodyPr>
          <a:lstStyle/>
          <a:p>
            <a:r>
              <a:rPr lang="en-US" dirty="0" err="1"/>
              <a:t>Instruc</a:t>
            </a:r>
            <a:r>
              <a:rPr lang="ro-RO" dirty="0"/>
              <a:t>țiunea folosită la crearea tabelului </a:t>
            </a:r>
            <a:r>
              <a:rPr lang="en-US" i="1" dirty="0" err="1"/>
              <a:t>ModificariNote</a:t>
            </a:r>
            <a:r>
              <a:rPr lang="ro-RO" dirty="0"/>
              <a:t> este următoarea: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ModificariNote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cod_v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nota_initiala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nota_actualizata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data_si_ora_actualizarii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6910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Clauza</a:t>
            </a:r>
            <a:r>
              <a:rPr lang="en-US" dirty="0">
                <a:latin typeface="+mn-lt"/>
              </a:rPr>
              <a:t>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88488"/>
            <a:ext cx="10634857" cy="4788025"/>
          </a:xfrm>
        </p:spPr>
        <p:txBody>
          <a:bodyPr/>
          <a:lstStyle/>
          <a:p>
            <a:r>
              <a:rPr lang="en-US" dirty="0"/>
              <a:t>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clauzei</a:t>
            </a:r>
            <a:r>
              <a:rPr lang="en-US" dirty="0"/>
              <a:t> </a:t>
            </a:r>
            <a:r>
              <a:rPr lang="en-US" b="1" dirty="0"/>
              <a:t>OUTPUT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acces</a:t>
            </a:r>
            <a:r>
              <a:rPr lang="en-US" dirty="0"/>
              <a:t> la </a:t>
            </a:r>
            <a:r>
              <a:rPr lang="ro-RO" dirty="0"/>
              <a:t>înregistrările modificate, șterse sau adăugate </a:t>
            </a:r>
            <a:endParaRPr lang="en-US" dirty="0"/>
          </a:p>
          <a:p>
            <a:r>
              <a:rPr lang="ro-RO" dirty="0"/>
              <a:t>În exemplul de mai jos se actualizează numele</a:t>
            </a:r>
            <a:r>
              <a:rPr lang="en-US" dirty="0"/>
              <a:t> </a:t>
            </a:r>
            <a:r>
              <a:rPr lang="en-US" dirty="0" err="1"/>
              <a:t>categoriei</a:t>
            </a:r>
            <a:r>
              <a:rPr lang="ro-RO" dirty="0"/>
              <a:t> c</a:t>
            </a:r>
            <a:r>
              <a:rPr lang="en-US" dirty="0"/>
              <a:t>u </a:t>
            </a:r>
            <a:r>
              <a:rPr lang="en-US" dirty="0" err="1"/>
              <a:t>valoarea</a:t>
            </a:r>
            <a:r>
              <a:rPr lang="en-US" dirty="0"/>
              <a:t> ‘</a:t>
            </a:r>
            <a:r>
              <a:rPr lang="en-US" dirty="0" err="1"/>
              <a:t>seniori</a:t>
            </a:r>
            <a:r>
              <a:rPr lang="en-US" dirty="0"/>
              <a:t>’</a:t>
            </a:r>
            <a:r>
              <a:rPr lang="ro-RO" dirty="0"/>
              <a:t> din tabelul </a:t>
            </a:r>
            <a:r>
              <a:rPr lang="en-US" i="1" dirty="0" err="1"/>
              <a:t>Categorii</a:t>
            </a:r>
            <a:r>
              <a:rPr lang="ro-RO" dirty="0"/>
              <a:t> și se </a:t>
            </a:r>
            <a:r>
              <a:rPr lang="en-US" dirty="0" err="1"/>
              <a:t>afi</a:t>
            </a:r>
            <a:r>
              <a:rPr lang="ro-RO" dirty="0"/>
              <a:t>șează într-un result-set valoarea din coloana </a:t>
            </a:r>
            <a:r>
              <a:rPr lang="ro-RO" i="1" dirty="0"/>
              <a:t>cod_c</a:t>
            </a:r>
            <a:r>
              <a:rPr lang="ro-RO" dirty="0"/>
              <a:t>, valoarea veche a numelui (</a:t>
            </a:r>
            <a:r>
              <a:rPr lang="ro-RO" i="1" dirty="0"/>
              <a:t>deleted.nume</a:t>
            </a:r>
            <a:r>
              <a:rPr lang="ro-RO" dirty="0"/>
              <a:t>), valoarea nouă a numelui (</a:t>
            </a:r>
            <a:r>
              <a:rPr lang="ro-RO" i="1" dirty="0"/>
              <a:t>inserted.nume</a:t>
            </a:r>
            <a:r>
              <a:rPr lang="ro-RO" dirty="0"/>
              <a:t>), data curentă (GETDATE()) și numele login-ului care a realizat modificarea (SUSER_SNAME())</a:t>
            </a:r>
            <a:r>
              <a:rPr lang="en-US" dirty="0"/>
              <a:t>:</a:t>
            </a:r>
            <a:endParaRPr lang="ro-RO" dirty="0"/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  <a:r>
              <a:rPr lang="it-IT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'pensionari'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inserted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nume_initial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inserted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nume_actual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data_si_ora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FF00FF"/>
                </a:solidFill>
                <a:latin typeface="Consolas" panose="020B0609020204030204" pitchFamily="49" charset="0"/>
              </a:rPr>
              <a:t>SUSER_SNAME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server_user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'seniori'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18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515122"/>
            <a:ext cx="10436071" cy="4725880"/>
          </a:xfrm>
        </p:spPr>
        <p:txBody>
          <a:bodyPr/>
          <a:lstStyle/>
          <a:p>
            <a:r>
              <a:rPr lang="ro-RO" sz="2400" dirty="0"/>
              <a:t>Sunt anumite situații în care este </a:t>
            </a:r>
            <a:r>
              <a:rPr lang="en-US" sz="2400" dirty="0" err="1"/>
              <a:t>neces</a:t>
            </a:r>
            <a:r>
              <a:rPr lang="ro-RO" sz="2400" dirty="0"/>
              <a:t>ară procesarea pe rând a fiecărei înregistrări dintr-un result</a:t>
            </a:r>
            <a:r>
              <a:rPr lang="en-US" sz="2400" dirty="0"/>
              <a:t>-</a:t>
            </a:r>
            <a:r>
              <a:rPr lang="ro-RO" sz="2400" dirty="0"/>
              <a:t>set </a:t>
            </a:r>
          </a:p>
          <a:p>
            <a:r>
              <a:rPr lang="ro-RO" sz="2400" dirty="0"/>
              <a:t>Deschiderea unui cursor pe un result-set permite procesarea result-set-ului înregistrare cu înregistrare (se procesează o singură înregistrare la un moment dat)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7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19" y="1572767"/>
            <a:ext cx="10412915" cy="4543947"/>
          </a:xfrm>
        </p:spPr>
        <p:txBody>
          <a:bodyPr>
            <a:normAutofit/>
          </a:bodyPr>
          <a:lstStyle/>
          <a:p>
            <a:r>
              <a:rPr lang="ro-RO" dirty="0"/>
              <a:t>Cursoarele </a:t>
            </a:r>
            <a:r>
              <a:rPr lang="ro-RO" b="1" dirty="0"/>
              <a:t>extind</a:t>
            </a:r>
            <a:r>
              <a:rPr lang="ro-RO" dirty="0"/>
              <a:t> procesarea rezultatelor prin faptul că: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permit poziționarea la înregistrări specifice dintr-un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returnează o înregistrare sau un grup de înregistrări aflate la poziția curentă din 	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ro-RO" dirty="0"/>
              <a:t>	- suportă modificarea înregistrărilor aflate în poziția curentă în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suportă diferite niveluri de vizibilitate a modificărilor făcute de către alți </a:t>
            </a:r>
            <a:r>
              <a:rPr lang="en-US" dirty="0"/>
              <a:t>	</a:t>
            </a:r>
            <a:r>
              <a:rPr lang="ro-RO" dirty="0"/>
              <a:t>utilizatori asupra datelor din baza de date care fac parte din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permit instrucțiunilor T</a:t>
            </a:r>
            <a:r>
              <a:rPr lang="en-US" dirty="0" err="1"/>
              <a:t>ransact</a:t>
            </a:r>
            <a:r>
              <a:rPr lang="ro-RO" dirty="0"/>
              <a:t>-SQL din script-uri, proceduri stocate și </a:t>
            </a:r>
            <a:r>
              <a:rPr lang="en-US" dirty="0"/>
              <a:t>	</a:t>
            </a:r>
            <a:r>
              <a:rPr lang="ro-RO" dirty="0"/>
              <a:t>trigger-e 	accesul la datele dintr-un result</a:t>
            </a:r>
            <a:r>
              <a:rPr lang="en-US" dirty="0"/>
              <a:t>-</a:t>
            </a:r>
            <a:r>
              <a:rPr lang="ro-RO" dirty="0"/>
              <a:t>set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0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5916" y="1515122"/>
            <a:ext cx="10433630" cy="4129825"/>
          </a:xfrm>
        </p:spPr>
        <p:txBody>
          <a:bodyPr/>
          <a:lstStyle/>
          <a:p>
            <a:r>
              <a:rPr lang="ro-RO" dirty="0"/>
              <a:t>Cursoarele </a:t>
            </a:r>
            <a:r>
              <a:rPr lang="ro-RO" dirty="0" err="1"/>
              <a:t>Transact</a:t>
            </a:r>
            <a:r>
              <a:rPr lang="ro-RO" dirty="0"/>
              <a:t>-SQL </a:t>
            </a:r>
            <a:r>
              <a:rPr lang="ro-RO" b="1" dirty="0"/>
              <a:t>necesită</a:t>
            </a:r>
            <a:r>
              <a:rPr lang="ro-RO" dirty="0"/>
              <a:t> anumite </a:t>
            </a:r>
            <a:r>
              <a:rPr lang="ro-RO" b="1" dirty="0"/>
              <a:t>instrucțiuni</a:t>
            </a:r>
            <a:r>
              <a:rPr lang="ro-RO" dirty="0"/>
              <a:t> pentru </a:t>
            </a:r>
            <a:r>
              <a:rPr lang="ro-RO" b="1" dirty="0"/>
              <a:t>declarare</a:t>
            </a:r>
            <a:r>
              <a:rPr lang="ro-RO" dirty="0"/>
              <a:t>, </a:t>
            </a:r>
            <a:r>
              <a:rPr lang="ro-RO" b="1" dirty="0"/>
              <a:t>populare</a:t>
            </a:r>
            <a:r>
              <a:rPr lang="ro-RO" dirty="0"/>
              <a:t> și </a:t>
            </a:r>
            <a:r>
              <a:rPr lang="ro-RO" b="1" dirty="0"/>
              <a:t>extragere</a:t>
            </a:r>
            <a:r>
              <a:rPr lang="ro-RO" dirty="0"/>
              <a:t> de date: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DECLARE CURSOR </a:t>
            </a:r>
            <a:r>
              <a:rPr lang="ro-RO" dirty="0"/>
              <a:t>pentru a declara cursorul și </a:t>
            </a:r>
            <a:r>
              <a:rPr lang="en-US" dirty="0"/>
              <a:t>	</a:t>
            </a:r>
            <a:r>
              <a:rPr lang="ro-RO" dirty="0"/>
              <a:t>se specifică o instrucțiune </a:t>
            </a:r>
            <a:r>
              <a:rPr lang="ro-RO" b="1" dirty="0"/>
              <a:t>SELECT</a:t>
            </a:r>
            <a:r>
              <a:rPr lang="ro-RO" dirty="0"/>
              <a:t> care va produce result</a:t>
            </a:r>
            <a:r>
              <a:rPr lang="en-US" dirty="0"/>
              <a:t>-</a:t>
            </a:r>
            <a:r>
              <a:rPr lang="ro-RO" dirty="0"/>
              <a:t>set-ul cursorului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OPEN</a:t>
            </a:r>
            <a:r>
              <a:rPr lang="ro-RO" dirty="0"/>
              <a:t> pentru a popula cursorul, care execută </a:t>
            </a:r>
            <a:r>
              <a:rPr lang="en-US" dirty="0"/>
              <a:t>	</a:t>
            </a:r>
            <a:r>
              <a:rPr lang="ro-RO" dirty="0"/>
              <a:t>instrucțiunea </a:t>
            </a:r>
            <a:r>
              <a:rPr lang="ro-RO" b="1" dirty="0"/>
              <a:t>SELECT</a:t>
            </a:r>
            <a:r>
              <a:rPr lang="ro-RO" dirty="0"/>
              <a:t> încorporată în instrucțiunea </a:t>
            </a:r>
            <a:r>
              <a:rPr lang="ro-RO" b="1" dirty="0"/>
              <a:t>DECLARE CURSOR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FETCH</a:t>
            </a:r>
            <a:r>
              <a:rPr lang="ro-RO" dirty="0"/>
              <a:t> pentru a extrage înregistrări individual </a:t>
            </a:r>
            <a:r>
              <a:rPr lang="en-US" dirty="0"/>
              <a:t>	</a:t>
            </a:r>
            <a:r>
              <a:rPr lang="ro-RO" dirty="0"/>
              <a:t>din result</a:t>
            </a:r>
            <a:r>
              <a:rPr lang="en-US" dirty="0"/>
              <a:t>-</a:t>
            </a:r>
            <a:r>
              <a:rPr lang="ro-RO" dirty="0"/>
              <a:t>set (de obicei </a:t>
            </a:r>
            <a:r>
              <a:rPr lang="ro-RO" b="1" dirty="0"/>
              <a:t>FETCH</a:t>
            </a:r>
            <a:r>
              <a:rPr lang="ro-RO" dirty="0"/>
              <a:t> se execută de multe ori, cel puțin o dată </a:t>
            </a:r>
            <a:r>
              <a:rPr lang="en-US" dirty="0"/>
              <a:t>	</a:t>
            </a:r>
            <a:r>
              <a:rPr lang="ro-RO" dirty="0"/>
              <a:t>pentru </a:t>
            </a:r>
            <a:r>
              <a:rPr lang="en-US" dirty="0"/>
              <a:t>	</a:t>
            </a:r>
            <a:r>
              <a:rPr lang="ro-RO" dirty="0"/>
              <a:t>fiecare înregistrare din result</a:t>
            </a:r>
            <a:r>
              <a:rPr lang="en-US" dirty="0"/>
              <a:t>-</a:t>
            </a:r>
            <a:r>
              <a:rPr lang="ro-RO" dirty="0"/>
              <a:t>set)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74" y="1452978"/>
            <a:ext cx="10373927" cy="429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ro-RO" dirty="0"/>
              <a:t>dacă este cazul, se folosește o instrucțiune </a:t>
            </a:r>
            <a:r>
              <a:rPr lang="ro-RO" b="1" dirty="0"/>
              <a:t>UPDATE</a:t>
            </a:r>
            <a:r>
              <a:rPr lang="ro-RO" dirty="0"/>
              <a:t> sau </a:t>
            </a:r>
            <a:r>
              <a:rPr lang="ro-RO" b="1" dirty="0"/>
              <a:t>DELETE</a:t>
            </a:r>
            <a:r>
              <a:rPr lang="ro-RO" dirty="0"/>
              <a:t> pentru a modifica înregistrarea (acest pas este opțional)</a:t>
            </a:r>
          </a:p>
          <a:p>
            <a:pPr marL="0" indent="0">
              <a:buNone/>
            </a:pPr>
            <a:r>
              <a:rPr lang="ro-RO" dirty="0"/>
              <a:t>- se folosește o instrucțiune </a:t>
            </a:r>
            <a:r>
              <a:rPr lang="ro-RO" b="1" dirty="0"/>
              <a:t>CLOSE </a:t>
            </a:r>
            <a:r>
              <a:rPr lang="ro-RO" dirty="0"/>
              <a:t>pentru a închide cursorul și a elibera unele resurse (cum ar fi result</a:t>
            </a:r>
            <a:r>
              <a:rPr lang="en-US" dirty="0"/>
              <a:t>-</a:t>
            </a:r>
            <a:r>
              <a:rPr lang="ro-RO" dirty="0"/>
              <a:t>set-ul cursorului și </a:t>
            </a:r>
            <a:r>
              <a:rPr lang="ro-RO" i="1" dirty="0"/>
              <a:t>lock</a:t>
            </a:r>
            <a:r>
              <a:rPr lang="ro-RO" dirty="0"/>
              <a:t>-urile de pe înregistrarea curentă)</a:t>
            </a:r>
          </a:p>
          <a:p>
            <a:pPr marL="0" indent="0">
              <a:buNone/>
            </a:pPr>
            <a:r>
              <a:rPr lang="ro-RO" dirty="0"/>
              <a:t>- cursorul este încă declarat, deci poate fi deschis din nou folosind o instrucțiune </a:t>
            </a:r>
            <a:r>
              <a:rPr lang="ro-RO" b="1" dirty="0"/>
              <a:t>OPEN</a:t>
            </a:r>
          </a:p>
          <a:p>
            <a:pPr marL="0" indent="0">
              <a:buNone/>
            </a:pPr>
            <a:r>
              <a:rPr lang="ro-RO" dirty="0"/>
              <a:t>- se folosește o instrucțiune </a:t>
            </a:r>
            <a:r>
              <a:rPr lang="ro-RO" b="1" dirty="0"/>
              <a:t>DEALLOCATE</a:t>
            </a:r>
            <a:r>
              <a:rPr lang="ro-RO" dirty="0"/>
              <a:t> pentru a elimina referința cursorului din sesiunea curentă iar acest proces eliberează toate resursele alocate cursorului, inclusiv numele său (după acest pas, pentru a reconstrui cursorul este nevoie ca acesta să fie declarat din nou)</a:t>
            </a:r>
          </a:p>
          <a:p>
            <a:pPr marL="0" indent="0">
              <a:buNone/>
            </a:pPr>
            <a:r>
              <a:rPr lang="ro-RO" dirty="0"/>
              <a:t>- cursoarele aflate în interiorul procedurilor stocate nu necesită închidere și eliminare, aceste instrucțiuni se execută automat când procedura stocată își încheie execuția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3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44101"/>
            <a:ext cx="10572713" cy="4310130"/>
          </a:xfrm>
        </p:spPr>
        <p:txBody>
          <a:bodyPr>
            <a:normAutofit/>
          </a:bodyPr>
          <a:lstStyle/>
          <a:p>
            <a:r>
              <a:rPr lang="ro-RO" dirty="0"/>
              <a:t>Cursoarele </a:t>
            </a:r>
            <a:r>
              <a:rPr lang="ro-RO" dirty="0" err="1"/>
              <a:t>Transact</a:t>
            </a:r>
            <a:r>
              <a:rPr lang="ro-RO" dirty="0"/>
              <a:t>-SQL sunt extrem de eficiente atunci când sunt încorporate în proceduri stocate și trigger-e deoarece totul este compilat într-un singur plan de execuție pe server, deci nu există trafic pe rețea asociat cu returnarea înregistrărilor</a:t>
            </a:r>
          </a:p>
          <a:p>
            <a:r>
              <a:rPr lang="ro-RO" dirty="0"/>
              <a:t>Operațiunea de a returna o înregistrare dintr-un cursor se numește </a:t>
            </a:r>
            <a:r>
              <a:rPr lang="en-US" b="1" dirty="0"/>
              <a:t>fetch</a:t>
            </a:r>
            <a:r>
              <a:rPr lang="ro-RO" dirty="0"/>
              <a:t>, iar în cazul cursoarelor Transact-SQL se folosește instrucțiunea </a:t>
            </a:r>
            <a:r>
              <a:rPr lang="ro-RO" b="1" dirty="0"/>
              <a:t>FETCH</a:t>
            </a:r>
            <a:r>
              <a:rPr lang="ro-RO" dirty="0"/>
              <a:t> pentru a returna înregistrări din result-set-ul unui 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9610"/>
            <a:ext cx="10617101" cy="4823536"/>
          </a:xfrm>
        </p:spPr>
        <p:txBody>
          <a:bodyPr>
            <a:normAutofit/>
          </a:bodyPr>
          <a:lstStyle/>
          <a:p>
            <a:r>
              <a:rPr lang="ro-RO" dirty="0"/>
              <a:t>Instrucțiunea </a:t>
            </a:r>
            <a:r>
              <a:rPr lang="ro-RO" b="1" dirty="0"/>
              <a:t>FETCH </a:t>
            </a:r>
            <a:r>
              <a:rPr lang="ro-RO" dirty="0"/>
              <a:t>suportă un număr de opțiuni care permit returnarea unor înregistrări specifice: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FIRST </a:t>
            </a:r>
            <a:r>
              <a:rPr lang="ro-RO" dirty="0"/>
              <a:t>– returnează prima înregistrare din cursor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NEXT </a:t>
            </a:r>
            <a:r>
              <a:rPr lang="ro-RO" dirty="0"/>
              <a:t>– returnează înregistrarea care urmează după ultima 	înregistrare returnată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PRIOR </a:t>
            </a:r>
            <a:r>
              <a:rPr lang="ro-RO" dirty="0"/>
              <a:t>– returnează înregistrarea care se află înaintea ultimei 	înregistrări returnate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LAST </a:t>
            </a:r>
            <a:r>
              <a:rPr lang="ro-RO" dirty="0"/>
              <a:t>– returnează ultima înregistrare din cursor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506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251" y="1441174"/>
            <a:ext cx="10240763" cy="5151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/>
              <a:t>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ABSOLUTE n </a:t>
            </a:r>
            <a:r>
              <a:rPr lang="ro-RO" dirty="0"/>
              <a:t>– returnează a n-a înregistrare de la începutul 	cursorului dacă n este un număr pozitiv, iar dacă n este un număr negativ </a:t>
            </a:r>
            <a:r>
              <a:rPr lang="en-US" dirty="0"/>
              <a:t>	</a:t>
            </a:r>
            <a:r>
              <a:rPr lang="ro-RO" dirty="0"/>
              <a:t>returnează înregistrarea care se află cu n înregistrări înaintea sfârșitului </a:t>
            </a:r>
            <a:r>
              <a:rPr lang="en-US" dirty="0"/>
              <a:t>	</a:t>
            </a:r>
            <a:r>
              <a:rPr lang="ro-RO" dirty="0"/>
              <a:t>cursorului (dacă n este 0, nicio înregistrare nu este returnată)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RELATIVE n </a:t>
            </a:r>
            <a:r>
              <a:rPr lang="ro-RO" dirty="0"/>
              <a:t>– returnează a n-a înregistrare după ultima 	înregistrare returnată dacă n este pozitiv, iar dacă n este negativ returnează </a:t>
            </a:r>
            <a:r>
              <a:rPr lang="en-US" dirty="0"/>
              <a:t>	</a:t>
            </a:r>
            <a:r>
              <a:rPr lang="ro-RO" dirty="0"/>
              <a:t>înregistrarea care se află înainte cu n înregistrări față de ultima înregistrare </a:t>
            </a:r>
            <a:r>
              <a:rPr lang="en-US" dirty="0"/>
              <a:t>	</a:t>
            </a:r>
            <a:r>
              <a:rPr lang="ro-RO" dirty="0"/>
              <a:t>returnată (dacă n este 0, ultima înregistrare </a:t>
            </a:r>
            <a:r>
              <a:rPr lang="en-US" dirty="0" err="1"/>
              <a:t>returnat</a:t>
            </a:r>
            <a:r>
              <a:rPr lang="ro-RO" dirty="0"/>
              <a:t>ă va fi returnată din nou)</a:t>
            </a:r>
            <a:endParaRPr lang="en-US" dirty="0"/>
          </a:p>
          <a:p>
            <a:pPr marL="0" indent="0">
              <a:buNone/>
            </a:pPr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81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93DD-C5BB-FD0E-9DDC-BBCBE154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46E69-DC5C-CD05-BB98-9A0131655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10102197" cy="4142232"/>
          </a:xfrm>
        </p:spPr>
        <p:txBody>
          <a:bodyPr/>
          <a:lstStyle/>
          <a:p>
            <a:pPr marL="0" indent="0">
              <a:buNone/>
            </a:pPr>
            <a:r>
              <a:rPr lang="ro-RO" dirty="0"/>
              <a:t>Comportamentul unui cursor poate fi specificat în două moduri:</a:t>
            </a:r>
          </a:p>
          <a:p>
            <a:r>
              <a:rPr lang="ro-RO" dirty="0"/>
              <a:t>prin specificarea comportamentului cursoarelor folosind cuvintele cheie </a:t>
            </a:r>
            <a:r>
              <a:rPr lang="ro-RO" b="1" dirty="0"/>
              <a:t>SCROLL</a:t>
            </a:r>
            <a:r>
              <a:rPr lang="ro-RO" dirty="0"/>
              <a:t> și </a:t>
            </a:r>
            <a:r>
              <a:rPr lang="ro-RO" b="1" dirty="0"/>
              <a:t>INSENSITIVE</a:t>
            </a:r>
            <a:r>
              <a:rPr lang="ro-RO" dirty="0"/>
              <a:t> în instrucțiunea </a:t>
            </a:r>
            <a:r>
              <a:rPr lang="ro-RO" b="1" dirty="0"/>
              <a:t>DECLARE CURSOR </a:t>
            </a:r>
            <a:r>
              <a:rPr lang="ro-RO" dirty="0"/>
              <a:t>(SQL-92 standard)</a:t>
            </a:r>
            <a:endParaRPr lang="en-US" dirty="0"/>
          </a:p>
          <a:p>
            <a:r>
              <a:rPr lang="ro-RO" dirty="0"/>
              <a:t>prin specificarea comportamentului unui cursor cu ajutorul tipurilor de cursoare</a:t>
            </a:r>
            <a:endParaRPr lang="en-US" dirty="0"/>
          </a:p>
          <a:p>
            <a:pPr lvl="1"/>
            <a:r>
              <a:rPr lang="ro-RO" sz="2000" dirty="0"/>
              <a:t>de obicei API-uri</a:t>
            </a:r>
            <a:r>
              <a:rPr lang="en-US" sz="2000" dirty="0"/>
              <a:t>le</a:t>
            </a:r>
            <a:r>
              <a:rPr lang="ro-RO" sz="2000" dirty="0"/>
              <a:t> pentru baze de date definesc comportamentul cursoarelor împărțindu-le în </a:t>
            </a:r>
            <a:r>
              <a:rPr lang="en-US" sz="2000" dirty="0" err="1"/>
              <a:t>patru</a:t>
            </a:r>
            <a:r>
              <a:rPr lang="ro-RO" sz="2000" dirty="0"/>
              <a:t> tipuri de cursoare: </a:t>
            </a:r>
            <a:r>
              <a:rPr lang="ro-RO" sz="2000" b="1" dirty="0"/>
              <a:t>forward-only</a:t>
            </a:r>
            <a:r>
              <a:rPr lang="ro-RO" sz="2000" dirty="0"/>
              <a:t>, </a:t>
            </a:r>
            <a:r>
              <a:rPr lang="ro-RO" sz="2000" b="1" dirty="0"/>
              <a:t>static</a:t>
            </a:r>
            <a:r>
              <a:rPr lang="ro-RO" sz="2000" dirty="0"/>
              <a:t> (uneori denumit snapshot sau insensitive), </a:t>
            </a:r>
            <a:r>
              <a:rPr lang="ro-RO" sz="2000" b="1" dirty="0"/>
              <a:t>keyset-driven</a:t>
            </a:r>
            <a:r>
              <a:rPr lang="ro-RO" sz="2000" dirty="0"/>
              <a:t> și </a:t>
            </a:r>
            <a:r>
              <a:rPr lang="ro-RO" sz="2000" b="1" dirty="0"/>
              <a:t>dynamic</a:t>
            </a:r>
            <a:endParaRPr lang="en-US" sz="2000" b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2736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479612"/>
            <a:ext cx="10231884" cy="42843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endParaRPr lang="ro-RO" dirty="0"/>
          </a:p>
          <a:p>
            <a:r>
              <a:rPr lang="ro-RO" dirty="0"/>
              <a:t>Declararea unui cursor – sintaxa ISO</a:t>
            </a:r>
            <a:r>
              <a:rPr lang="en-US" dirty="0"/>
              <a:t>:</a:t>
            </a:r>
            <a:endParaRPr lang="ro-RO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DECLARE </a:t>
            </a:r>
            <a:r>
              <a:rPr lang="en-US" dirty="0" err="1">
                <a:latin typeface="Consolas" panose="020B0609020204030204" pitchFamily="49" charset="0"/>
              </a:rPr>
              <a:t>cursor_name</a:t>
            </a:r>
            <a:r>
              <a:rPr lang="en-US" dirty="0">
                <a:latin typeface="Consolas" panose="020B0609020204030204" pitchFamily="49" charset="0"/>
              </a:rPr>
              <a:t> [ INSENSITIVE ] [ SCROLL ] CURSOR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FOR 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 { READ ONLY | UPDATE [ OF </a:t>
            </a:r>
            <a:r>
              <a:rPr lang="en-US" dirty="0" err="1">
                <a:latin typeface="Consolas" panose="020B0609020204030204" pitchFamily="49" charset="0"/>
              </a:rPr>
              <a:t>column_name</a:t>
            </a:r>
            <a:r>
              <a:rPr lang="en-US" dirty="0">
                <a:latin typeface="Consolas" panose="020B0609020204030204" pitchFamily="49" charset="0"/>
              </a:rPr>
              <a:t> [ ,...n ] ] } ]</a:t>
            </a:r>
            <a:endParaRPr lang="ro-RO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3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395" y="1497366"/>
            <a:ext cx="8770571" cy="4219977"/>
          </a:xfrm>
        </p:spPr>
        <p:txBody>
          <a:bodyPr/>
          <a:lstStyle/>
          <a:p>
            <a:r>
              <a:rPr lang="ro-RO" dirty="0"/>
              <a:t>Declararea unui cursor – sintaxa </a:t>
            </a:r>
            <a:r>
              <a:rPr lang="ro-RO" dirty="0" err="1"/>
              <a:t>Transact</a:t>
            </a:r>
            <a:r>
              <a:rPr lang="ro-RO" dirty="0"/>
              <a:t>-SQL: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DECLARE </a:t>
            </a:r>
            <a:r>
              <a:rPr lang="en-US" dirty="0" err="1">
                <a:latin typeface="Consolas" panose="020B0609020204030204" pitchFamily="49" charset="0"/>
              </a:rPr>
              <a:t>cursor_name</a:t>
            </a:r>
            <a:r>
              <a:rPr lang="en-US" dirty="0">
                <a:latin typeface="Consolas" panose="020B0609020204030204" pitchFamily="49" charset="0"/>
              </a:rPr>
              <a:t> CURSOR [ LOCAL | GLOBAL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FORWARD_ONLY | SCROLL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STATIC | KEYSET | DYNAMIC | FAST_FORWARD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READ_ONLY | SCROLL_LOCKS | OPTIMISTIC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TYPE_WARNING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FOR 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 UPDATE [ OF </a:t>
            </a:r>
            <a:r>
              <a:rPr lang="en-US" dirty="0" err="1">
                <a:latin typeface="Consolas" panose="020B0609020204030204" pitchFamily="49" charset="0"/>
              </a:rPr>
              <a:t>column_name</a:t>
            </a:r>
            <a:r>
              <a:rPr lang="en-US" dirty="0">
                <a:latin typeface="Consolas" panose="020B0609020204030204" pitchFamily="49" charset="0"/>
              </a:rPr>
              <a:t> [ ,...n ] ] ]</a:t>
            </a:r>
          </a:p>
        </p:txBody>
      </p:sp>
    </p:spTree>
    <p:extLst>
      <p:ext uri="{BB962C8B-B14F-4D97-AF65-F5344CB8AC3E}">
        <p14:creationId xmlns:p14="http://schemas.microsoft.com/office/powerpoint/2010/main" val="16813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 - Exemplu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251" y="1503202"/>
            <a:ext cx="10533726" cy="5354797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FAST_FORWARD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OPEN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@@FETCH_STATUS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0 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'Vizitatorul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',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 face parte din categoria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CLOSE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DEALLOCATE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9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38B2-9091-DB7E-0F83-5B1E25BA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Exerciții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8F2F-84B6-23E0-609F-8EE3D852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379825" cy="4855741"/>
          </a:xfrm>
        </p:spPr>
        <p:txBody>
          <a:bodyPr/>
          <a:lstStyle/>
          <a:p>
            <a:r>
              <a:rPr lang="ro-RO" sz="2400" dirty="0"/>
              <a:t>1) Creați un trigger care împiedică execuția operațiilor de ștergere din tabelul </a:t>
            </a:r>
            <a:r>
              <a:rPr lang="ro-RO" sz="2400" i="1" dirty="0"/>
              <a:t>Categorii</a:t>
            </a:r>
            <a:r>
              <a:rPr lang="ro-RO" sz="2400" dirty="0"/>
              <a:t> și afișează un mesaj corespunzător. </a:t>
            </a:r>
          </a:p>
          <a:p>
            <a:r>
              <a:rPr lang="ro-RO" sz="2400" dirty="0"/>
              <a:t>2) Pentru baza de date creată în primul laborator, găsiți un scenariu de utilizare a unui trigger DML pentru operația de insert, update sau delete. Creați și testați acest trigger. 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8929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5EFC8-5587-A537-CE04-ADE61EDF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Bibliografie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5BD9-1C39-8DA8-3C42-36FEADFC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470734"/>
            <a:ext cx="10590468" cy="4237608"/>
          </a:xfrm>
        </p:spPr>
        <p:txBody>
          <a:bodyPr>
            <a:normAutofit lnSpcReduction="10000"/>
          </a:bodyPr>
          <a:lstStyle/>
          <a:p>
            <a:r>
              <a:rPr lang="ro-RO" dirty="0">
                <a:hlinkClick r:id="rId2"/>
              </a:rPr>
              <a:t>https://learn.microsoft.com/en-us/sql/t-sql/statements/create-function-transact-sql?view=sql-server-ver16</a:t>
            </a:r>
            <a:endParaRPr lang="ro-RO" dirty="0"/>
          </a:p>
          <a:p>
            <a:r>
              <a:rPr lang="ro-RO" dirty="0">
                <a:hlinkClick r:id="rId3"/>
              </a:rPr>
              <a:t>https://learn.microsoft.com/en-us/sql/t-sql/statements/create-view-transact-sql?view=sql-server-ver16</a:t>
            </a:r>
            <a:endParaRPr lang="ro-RO" dirty="0"/>
          </a:p>
          <a:p>
            <a:r>
              <a:rPr lang="ro-RO" dirty="0">
                <a:hlinkClick r:id="rId4"/>
              </a:rPr>
              <a:t>https://learn.microsoft.com/en-us/sql/t-sql/queries/output-clause-transact-sql?view=sql-server-ver16</a:t>
            </a:r>
            <a:endParaRPr lang="ro-RO" dirty="0"/>
          </a:p>
          <a:p>
            <a:r>
              <a:rPr lang="ro-RO" dirty="0">
                <a:hlinkClick r:id="rId5"/>
              </a:rPr>
              <a:t>https://learn.microsoft.com/en-us/sql/t-sql/statements/create-trigger-transact-sql?view=sql-server-ver16</a:t>
            </a:r>
            <a:endParaRPr lang="ro-RO" dirty="0"/>
          </a:p>
          <a:p>
            <a:r>
              <a:rPr lang="ro-RO" dirty="0">
                <a:hlinkClick r:id="rId6"/>
              </a:rPr>
              <a:t>https://learn.microsoft.com/en-us/sql/relational-databases/cursors?view=sql-server-ver16</a:t>
            </a:r>
            <a:endParaRPr lang="ro-RO" dirty="0"/>
          </a:p>
          <a:p>
            <a:r>
              <a:rPr lang="ro-RO" dirty="0">
                <a:hlinkClick r:id="rId7"/>
              </a:rPr>
              <a:t>https://learn.microsoft.com/en-us/sql/relational-databases/system-catalog-views/catalog-views-transact-sql?view=sql-server-ver16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1067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757_TF02895256" id="{3618AF2C-E955-4D87-AA77-A632EB049885}" vid="{2F1D0CFD-78FA-41B2-9059-A58E1373FFEB}"/>
    </a:ext>
  </a:extLst>
</a:theme>
</file>

<file path=ppt/theme/theme2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D88A48650F9741BF9B7C709494C35B" ma:contentTypeVersion="3" ma:contentTypeDescription="Create a new document." ma:contentTypeScope="" ma:versionID="5ee329150722eff8c65ade61c6a0bc56">
  <xsd:schema xmlns:xsd="http://www.w3.org/2001/XMLSchema" xmlns:xs="http://www.w3.org/2001/XMLSchema" xmlns:p="http://schemas.microsoft.com/office/2006/metadata/properties" xmlns:ns2="e93771f4-8680-4d7b-a030-d4f7bec17881" targetNamespace="http://schemas.microsoft.com/office/2006/metadata/properties" ma:root="true" ma:fieldsID="3994df76df266a98ff4a395305a3cea5" ns2:_="">
    <xsd:import namespace="e93771f4-8680-4d7b-a030-d4f7bec178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771f4-8680-4d7b-a030-d4f7bec178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7A2B1F-FE7C-472C-816F-107B24339F1B}"/>
</file>

<file path=customXml/itemProps2.xml><?xml version="1.0" encoding="utf-8"?>
<ds:datastoreItem xmlns:ds="http://schemas.openxmlformats.org/officeDocument/2006/customXml" ds:itemID="{E8B2567D-7998-4014-9FA9-B45A29CA5D41}"/>
</file>

<file path=customXml/itemProps3.xml><?xml version="1.0" encoding="utf-8"?>
<ds:datastoreItem xmlns:ds="http://schemas.openxmlformats.org/officeDocument/2006/customXml" ds:itemID="{668997B7-C5F0-4A27-8DA9-DE0A05230060}"/>
</file>

<file path=docProps/app.xml><?xml version="1.0" encoding="utf-8"?>
<Properties xmlns="http://schemas.openxmlformats.org/officeDocument/2006/extended-properties" xmlns:vt="http://schemas.openxmlformats.org/officeDocument/2006/docPropsVTypes">
  <Template>Prezentare cu pictură Ocean (ecran lat)</Template>
  <TotalTime>1890</TotalTime>
  <Words>3574</Words>
  <Application>Microsoft Office PowerPoint</Application>
  <PresentationFormat>Widescreen</PresentationFormat>
  <Paragraphs>325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Consolas</vt:lpstr>
      <vt:lpstr>Georgia</vt:lpstr>
      <vt:lpstr>Ocean 16x9</vt:lpstr>
      <vt:lpstr>Funcții definite de utilizator. View. Trigger. Cursoare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Exerciții</vt:lpstr>
      <vt:lpstr>View</vt:lpstr>
      <vt:lpstr>View</vt:lpstr>
      <vt:lpstr>View</vt:lpstr>
      <vt:lpstr>View</vt:lpstr>
      <vt:lpstr>View</vt:lpstr>
      <vt:lpstr>View</vt:lpstr>
      <vt:lpstr>View</vt:lpstr>
      <vt:lpstr>Exerciții</vt:lpstr>
      <vt:lpstr>Tabele sistem</vt:lpstr>
      <vt:lpstr>Tabele sistem</vt:lpstr>
      <vt:lpstr>Trigger</vt:lpstr>
      <vt:lpstr>Trigger DML</vt:lpstr>
      <vt:lpstr>Trigger</vt:lpstr>
      <vt:lpstr>Trigger pentru INSERT - Exemplu</vt:lpstr>
      <vt:lpstr>Trigger pentru DELETE - Exemplu</vt:lpstr>
      <vt:lpstr>Trigger pentru DELETE - Exemplu</vt:lpstr>
      <vt:lpstr>Trigger pentru UPDATE - Exemplu</vt:lpstr>
      <vt:lpstr>Trigger pentru UPDATE - Exemplu</vt:lpstr>
      <vt:lpstr>Clauza OUTPUT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 - Exemplu</vt:lpstr>
      <vt:lpstr>Exerciții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Funcții definite de utilizator. View. Trigger. Cursoare</dc:title>
  <dc:creator>Camelia Andor</dc:creator>
  <cp:lastModifiedBy>Camelia - Florina Andor</cp:lastModifiedBy>
  <cp:revision>116</cp:revision>
  <dcterms:created xsi:type="dcterms:W3CDTF">2023-10-15T20:14:32Z</dcterms:created>
  <dcterms:modified xsi:type="dcterms:W3CDTF">2025-11-10T20:53:47Z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0x01010018D88A48650F9741BF9B7C709494C35B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