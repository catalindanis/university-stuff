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0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 rtl="0"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DA37D80-6434-44D0-A028-1B22A696006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4" autoAdjust="0"/>
    <p:restoredTop sz="94660"/>
  </p:normalViewPr>
  <p:slideViewPr>
    <p:cSldViewPr snapToGrid="0">
      <p:cViewPr varScale="1">
        <p:scale>
          <a:sx n="83" d="100"/>
          <a:sy n="83" d="100"/>
        </p:scale>
        <p:origin x="547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414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o-RO" dirty="0"/>
          </a:p>
        </p:txBody>
      </p:sp>
      <p:sp>
        <p:nvSpPr>
          <p:cNvPr id="3" name="Substituent dată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0C55261-D00D-4531-85F2-7815D4272C20}" type="datetime1">
              <a:rPr lang="ro-RO" smtClean="0"/>
              <a:t>08.12.2025</a:t>
            </a:fld>
            <a:endParaRPr lang="ro-RO" dirty="0"/>
          </a:p>
        </p:txBody>
      </p:sp>
      <p:sp>
        <p:nvSpPr>
          <p:cNvPr id="4" name="Substituent subsol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o-RO" dirty="0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02BA2C8-71FC-43D0-BD87-0547616971FA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72921363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o-RO" noProof="0" dirty="0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297A191-F9ED-44AA-AEE4-9E7ED26D0F78}" type="datetime1">
              <a:rPr lang="ro-RO" noProof="0" smtClean="0"/>
              <a:t>08.12.2025</a:t>
            </a:fld>
            <a:endParaRPr lang="ro-RO" noProof="0" dirty="0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o-RO" noProof="0" dirty="0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o-RO" noProof="0" dirty="0"/>
              <a:t>Faceți clic pentru a edita stilurile de text Coordonator</a:t>
            </a:r>
          </a:p>
          <a:p>
            <a:pPr lvl="1" rtl="0"/>
            <a:r>
              <a:rPr lang="ro-RO" noProof="0" dirty="0"/>
              <a:t>Al doilea nivel</a:t>
            </a:r>
          </a:p>
          <a:p>
            <a:pPr lvl="2" rtl="0"/>
            <a:r>
              <a:rPr lang="ro-RO" noProof="0" dirty="0"/>
              <a:t>Al treilea nivel</a:t>
            </a:r>
          </a:p>
          <a:p>
            <a:pPr lvl="3" rtl="0"/>
            <a:r>
              <a:rPr lang="ro-RO" noProof="0" dirty="0"/>
              <a:t>Al patrulea nivel</a:t>
            </a:r>
          </a:p>
          <a:p>
            <a:pPr lvl="4" rtl="0"/>
            <a:r>
              <a:rPr lang="ro-RO" noProof="0" dirty="0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o-RO" noProof="0" dirty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539446-6953-447E-A4E3-E7CFBF870046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4239292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C6539446-6953-447E-A4E3-E7CFBF870046}" type="slidenum">
              <a:rPr lang="ro-RO" smtClean="0"/>
              <a:t>1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775014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pă3"/>
          <p:cNvSpPr/>
          <p:nvPr/>
        </p:nvSpPr>
        <p:spPr bwMode="gray">
          <a:xfrm>
            <a:off x="2552" y="5243129"/>
            <a:ext cx="12188952" cy="1614871"/>
          </a:xfrm>
          <a:prstGeom prst="rect">
            <a:avLst/>
          </a:prstGeom>
          <a:gradFill>
            <a:gsLst>
              <a:gs pos="833">
                <a:schemeClr val="accent2">
                  <a:lumMod val="60000"/>
                  <a:lumOff val="40000"/>
                  <a:alpha val="38000"/>
                </a:schemeClr>
              </a:gs>
              <a:gs pos="23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  <a:alpha val="89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5" name="cer"/>
          <p:cNvSpPr/>
          <p:nvPr/>
        </p:nvSpPr>
        <p:spPr bwMode="white">
          <a:xfrm>
            <a:off x="2552" y="0"/>
            <a:ext cx="12188952" cy="5334000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80000"/>
                </a:schemeClr>
              </a:gs>
              <a:gs pos="99000">
                <a:schemeClr val="accent2">
                  <a:lumMod val="20000"/>
                  <a:lumOff val="80000"/>
                  <a:alpha val="6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pic>
        <p:nvPicPr>
          <p:cNvPr id="6" name="apă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4" r="9901"/>
          <a:stretch/>
        </p:blipFill>
        <p:spPr bwMode="ltGray">
          <a:xfrm>
            <a:off x="-1425" y="5497897"/>
            <a:ext cx="12188952" cy="463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apă1"/>
          <p:cNvPicPr>
            <a:picLocks noChangeAspect="1"/>
          </p:cNvPicPr>
          <p:nvPr/>
        </p:nvPicPr>
        <p:blipFill rotWithShape="1"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18" r="6356"/>
          <a:stretch/>
        </p:blipFill>
        <p:spPr bwMode="gray">
          <a:xfrm flipH="1">
            <a:off x="-1425" y="5221111"/>
            <a:ext cx="12188952" cy="26828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Dreptunghi 7"/>
          <p:cNvSpPr/>
          <p:nvPr/>
        </p:nvSpPr>
        <p:spPr>
          <a:xfrm>
            <a:off x="-1425" y="5961106"/>
            <a:ext cx="12188952" cy="896846"/>
          </a:xfrm>
          <a:prstGeom prst="rect">
            <a:avLst/>
          </a:prstGeom>
          <a:gradFill>
            <a:gsLst>
              <a:gs pos="25000">
                <a:schemeClr val="accent6">
                  <a:lumMod val="60000"/>
                  <a:lumOff val="40000"/>
                  <a:alpha val="0"/>
                </a:schemeClr>
              </a:gs>
              <a:gs pos="100000">
                <a:schemeClr val="accent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/>
          <p:cNvSpPr>
            <a:spLocks noGrp="1"/>
          </p:cNvSpPr>
          <p:nvPr>
            <p:ph type="ctrTitle"/>
          </p:nvPr>
        </p:nvSpPr>
        <p:spPr>
          <a:xfrm>
            <a:off x="1305872" y="1309047"/>
            <a:ext cx="9602789" cy="2667000"/>
          </a:xfrm>
        </p:spPr>
        <p:txBody>
          <a:bodyPr rtlCol="0" anchor="b">
            <a:noAutofit/>
          </a:bodyPr>
          <a:lstStyle>
            <a:lvl1pPr algn="ctr">
              <a:defRPr sz="6000"/>
            </a:lvl1pPr>
          </a:lstStyle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>
          <a:xfrm>
            <a:off x="1305872" y="4038600"/>
            <a:ext cx="9601200" cy="990600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cap="all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en-US" noProof="0"/>
              <a:t>Click to edit Master subtitle style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942361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3DB0413-3825-4517-84C4-BC4D0AB13719}" type="datetime1">
              <a:rPr lang="ro-RO" noProof="0" smtClean="0"/>
              <a:t>08.12.2025</a:t>
            </a:fld>
            <a:endParaRPr lang="ro-RO" noProof="0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405082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er"/>
          <p:cNvSpPr/>
          <p:nvPr/>
        </p:nvSpPr>
        <p:spPr>
          <a:xfrm>
            <a:off x="2552" y="-1"/>
            <a:ext cx="12188952" cy="6858002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80000"/>
                </a:schemeClr>
              </a:gs>
              <a:gs pos="99000">
                <a:schemeClr val="accent2">
                  <a:lumMod val="20000"/>
                  <a:lumOff val="80000"/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0"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1293813" y="1309047"/>
            <a:ext cx="9601252" cy="2667000"/>
          </a:xfrm>
        </p:spPr>
        <p:txBody>
          <a:bodyPr rtlCol="0" anchor="b">
            <a:normAutofit/>
          </a:bodyPr>
          <a:lstStyle>
            <a:lvl1pPr algn="ctr">
              <a:defRPr sz="6000" b="0"/>
            </a:lvl1pPr>
          </a:lstStyle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1293813" y="4038600"/>
            <a:ext cx="9601200" cy="1143000"/>
          </a:xfrm>
        </p:spPr>
        <p:txBody>
          <a:bodyPr rtlCol="0"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all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057804-296C-404E-AB5A-AECE13AB895F}" type="datetime1">
              <a:rPr lang="ro-RO" noProof="0" smtClean="0"/>
              <a:t>08.12.2025</a:t>
            </a:fld>
            <a:endParaRPr lang="ro-RO" noProof="0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043559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6278880" y="1572768"/>
            <a:ext cx="4572000" cy="4142232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3" name="Substituent conținut 2"/>
          <p:cNvSpPr>
            <a:spLocks noGrp="1"/>
          </p:cNvSpPr>
          <p:nvPr>
            <p:ph sz="half" idx="1"/>
          </p:nvPr>
        </p:nvSpPr>
        <p:spPr>
          <a:xfrm>
            <a:off x="1341120" y="1572768"/>
            <a:ext cx="4572000" cy="4142232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42983A4-6813-4B72-A61A-A17CFCC7D384}" type="datetime1">
              <a:rPr lang="ro-RO" noProof="0" smtClean="0"/>
              <a:t>08.12.2025</a:t>
            </a:fld>
            <a:endParaRPr lang="ro-RO" noProof="0" dirty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4249378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u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1341120" y="1572768"/>
            <a:ext cx="4572000" cy="766588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1341120" y="2365861"/>
            <a:ext cx="4572000" cy="334914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5" name="Substituent text 4"/>
          <p:cNvSpPr>
            <a:spLocks noGrp="1"/>
          </p:cNvSpPr>
          <p:nvPr>
            <p:ph type="body" sz="quarter" idx="3"/>
          </p:nvPr>
        </p:nvSpPr>
        <p:spPr>
          <a:xfrm>
            <a:off x="6278880" y="1572768"/>
            <a:ext cx="4572000" cy="766588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Substituent conținut 5"/>
          <p:cNvSpPr>
            <a:spLocks noGrp="1"/>
          </p:cNvSpPr>
          <p:nvPr>
            <p:ph sz="quarter" idx="4"/>
          </p:nvPr>
        </p:nvSpPr>
        <p:spPr>
          <a:xfrm>
            <a:off x="6278880" y="2365861"/>
            <a:ext cx="4572000" cy="334914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8" name="Substituent subsol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7" name="Substituent dată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10E1F3A-7531-4910-B6EB-58549CF60FD5}" type="datetime1">
              <a:rPr lang="ro-RO" noProof="0" smtClean="0"/>
              <a:t>08.12.2025</a:t>
            </a:fld>
            <a:endParaRPr lang="ro-RO" noProof="0" dirty="0"/>
          </a:p>
        </p:txBody>
      </p:sp>
      <p:sp>
        <p:nvSpPr>
          <p:cNvPr id="9" name="Substituent număr diapozitiv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072378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u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4" name="Substituent subsol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3" name="Substituent dată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95A7078-7B7F-48B7-8822-93D7DA5E9327}" type="datetime1">
              <a:rPr lang="ro-RO" noProof="0" smtClean="0"/>
              <a:t>08.12.2025</a:t>
            </a:fld>
            <a:endParaRPr lang="ro-RO" noProof="0" dirty="0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681886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er"/>
          <p:cNvSpPr/>
          <p:nvPr/>
        </p:nvSpPr>
        <p:spPr>
          <a:xfrm>
            <a:off x="2552" y="-1"/>
            <a:ext cx="12188952" cy="6858002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80000"/>
                </a:schemeClr>
              </a:gs>
              <a:gs pos="99000">
                <a:schemeClr val="accent2">
                  <a:lumMod val="20000"/>
                  <a:lumOff val="80000"/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0" rtlCol="0" anchor="ctr"/>
          <a:lstStyle/>
          <a:p>
            <a:pPr algn="ctr" rtl="0"/>
            <a:endParaRPr lang="ro-RO" noProof="0" dirty="0"/>
          </a:p>
        </p:txBody>
      </p:sp>
      <p:sp>
        <p:nvSpPr>
          <p:cNvPr id="3" name="Substituent subsol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2" name="Substituent dată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D67F5C-FACA-46A7-A8EA-9CDEA26B0827}" type="datetime1">
              <a:rPr lang="ro-RO" noProof="0" smtClean="0"/>
              <a:t>08.12.2025</a:t>
            </a:fld>
            <a:endParaRPr lang="ro-RO" noProof="0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492262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8127479" y="762000"/>
            <a:ext cx="3377133" cy="2743200"/>
          </a:xfrm>
        </p:spPr>
        <p:txBody>
          <a:bodyPr rtlCol="0" anchor="b">
            <a:normAutofit/>
          </a:bodyPr>
          <a:lstStyle>
            <a:lvl1pPr>
              <a:defRPr sz="3200" b="0"/>
            </a:lvl1pPr>
          </a:lstStyle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760413" y="685800"/>
            <a:ext cx="6858000" cy="45720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8127479" y="3554104"/>
            <a:ext cx="3377133" cy="1703696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9DC185D-BB37-4190-AD07-0A9F79920DF0}" type="datetime1">
              <a:rPr lang="ro-RO" noProof="0" smtClean="0"/>
              <a:t>08.12.2025</a:t>
            </a:fld>
            <a:endParaRPr lang="ro-RO" noProof="0" dirty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483897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8127479" y="762000"/>
            <a:ext cx="3377133" cy="2743200"/>
          </a:xfrm>
        </p:spPr>
        <p:txBody>
          <a:bodyPr rtlCol="0" anchor="b">
            <a:normAutofit/>
          </a:bodyPr>
          <a:lstStyle>
            <a:lvl1pPr>
              <a:defRPr sz="3400" b="0"/>
            </a:lvl1pPr>
          </a:lstStyle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imagine 2" descr="Un substituent gol pentru a adăuga o imagine. Faceți clic pe substituent și selectați imaginea pe care doriți s-o adăugați"/>
          <p:cNvSpPr>
            <a:spLocks noGrp="1"/>
          </p:cNvSpPr>
          <p:nvPr>
            <p:ph type="pic" idx="1"/>
          </p:nvPr>
        </p:nvSpPr>
        <p:spPr>
          <a:xfrm>
            <a:off x="760413" y="685800"/>
            <a:ext cx="6858000" cy="4572000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 noProof="0"/>
              <a:t>Click icon to add picture</a:t>
            </a:r>
            <a:endParaRPr lang="ro-RO" noProof="0" dirty="0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8127479" y="3554104"/>
            <a:ext cx="3377133" cy="1703696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82CB56C-2BA1-4215-B6A3-04C489B091CB}" type="datetime1">
              <a:rPr lang="ro-RO" noProof="0" smtClean="0"/>
              <a:t>08.12.2025</a:t>
            </a:fld>
            <a:endParaRPr lang="ro-RO" noProof="0" dirty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4216615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9C0E6F7-DBC8-44CA-A21F-7876F2AEC1C8}" type="datetime1">
              <a:rPr lang="ro-RO" noProof="0" smtClean="0"/>
              <a:t>08.12.2025</a:t>
            </a:fld>
            <a:endParaRPr lang="ro-RO" noProof="0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536256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440362"/>
          </a:xfrm>
        </p:spPr>
        <p:txBody>
          <a:bodyPr vert="eaVert" rtlCol="0"/>
          <a:lstStyle/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440362"/>
          </a:xfrm>
        </p:spPr>
        <p:txBody>
          <a:bodyPr vert="eaVert"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F8C643B-5485-403E-8EBD-16244D488590}" type="datetime1">
              <a:rPr lang="ro-RO" noProof="0" smtClean="0"/>
              <a:t>08.12.2025</a:t>
            </a:fld>
            <a:endParaRPr lang="ro-RO" noProof="0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358651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er"/>
          <p:cNvSpPr/>
          <p:nvPr/>
        </p:nvSpPr>
        <p:spPr>
          <a:xfrm>
            <a:off x="2552" y="-1"/>
            <a:ext cx="12188952" cy="6858002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58000"/>
                </a:schemeClr>
              </a:gs>
              <a:gs pos="88000">
                <a:schemeClr val="accent2">
                  <a:lumMod val="20000"/>
                  <a:lumOff val="80000"/>
                  <a:alpha val="6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0" rtlCol="0" anchor="ctr"/>
          <a:lstStyle/>
          <a:p>
            <a:pPr algn="ctr" rtl="0"/>
            <a:endParaRPr lang="ro-RO" noProof="0" dirty="0"/>
          </a:p>
        </p:txBody>
      </p:sp>
      <p:sp>
        <p:nvSpPr>
          <p:cNvPr id="8" name="apă3"/>
          <p:cNvSpPr/>
          <p:nvPr/>
        </p:nvSpPr>
        <p:spPr bwMode="gray">
          <a:xfrm>
            <a:off x="2552" y="6064101"/>
            <a:ext cx="12188952" cy="793899"/>
          </a:xfrm>
          <a:prstGeom prst="rect">
            <a:avLst/>
          </a:prstGeom>
          <a:gradFill>
            <a:gsLst>
              <a:gs pos="833">
                <a:schemeClr val="accent2">
                  <a:lumMod val="60000"/>
                  <a:lumOff val="40000"/>
                  <a:alpha val="38000"/>
                </a:schemeClr>
              </a:gs>
              <a:gs pos="49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  <a:alpha val="89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pic>
        <p:nvPicPr>
          <p:cNvPr id="9" name="apă2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4" r="9901"/>
          <a:stretch/>
        </p:blipFill>
        <p:spPr bwMode="white">
          <a:xfrm>
            <a:off x="-1425" y="6256181"/>
            <a:ext cx="12188952" cy="463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apă1"/>
          <p:cNvPicPr>
            <a:picLocks noChangeAspect="1"/>
          </p:cNvPicPr>
          <p:nvPr/>
        </p:nvPicPr>
        <p:blipFill rotWithShape="1">
          <a:blip r:embed="rId1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18" r="6356"/>
          <a:stretch/>
        </p:blipFill>
        <p:spPr bwMode="gray">
          <a:xfrm flipH="1">
            <a:off x="-1425" y="5979395"/>
            <a:ext cx="12188952" cy="2682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ubstituent titlu 1"/>
          <p:cNvSpPr>
            <a:spLocks noGrp="1"/>
          </p:cNvSpPr>
          <p:nvPr>
            <p:ph type="title"/>
          </p:nvPr>
        </p:nvSpPr>
        <p:spPr>
          <a:xfrm>
            <a:off x="1341120" y="265176"/>
            <a:ext cx="9509759" cy="10881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o-RO" noProof="0" dirty="0"/>
              <a:t>Faceți clic pentru a edita stilul de titlu Coordonator</a:t>
            </a:r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1341120" y="1572768"/>
            <a:ext cx="9509760" cy="4142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o-RO" noProof="0" dirty="0"/>
              <a:t>Faceți clic pentru a edita stilurile de text Coordonator</a:t>
            </a:r>
          </a:p>
          <a:p>
            <a:pPr lvl="1" rtl="0"/>
            <a:r>
              <a:rPr lang="ro-RO" noProof="0" dirty="0"/>
              <a:t>Al doilea nivel</a:t>
            </a:r>
          </a:p>
          <a:p>
            <a:pPr lvl="2" rtl="0"/>
            <a:r>
              <a:rPr lang="ro-RO" noProof="0" dirty="0"/>
              <a:t>Al treilea nivel</a:t>
            </a:r>
          </a:p>
          <a:p>
            <a:pPr lvl="3" rtl="0"/>
            <a:r>
              <a:rPr lang="ro-RO" noProof="0" dirty="0"/>
              <a:t>Al patrulea nivel</a:t>
            </a:r>
          </a:p>
          <a:p>
            <a:pPr lvl="4" rtl="0"/>
            <a:r>
              <a:rPr lang="ro-RO" noProof="0" dirty="0"/>
              <a:t>Al cincilea nivel</a:t>
            </a:r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3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2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pPr rtl="0"/>
            <a:fld id="{5EF10CAA-0CF2-43FB-B8EE-A41EE9E83454}" type="datetime1">
              <a:rPr lang="ro-RO" noProof="0" smtClean="0"/>
              <a:t>08.12.2025</a:t>
            </a:fld>
            <a:endParaRPr lang="ro-RO" noProof="0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4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cap="all" baseline="0">
                <a:solidFill>
                  <a:schemeClr val="tx1"/>
                </a:solidFill>
              </a:defRPr>
            </a:lvl1pPr>
          </a:lstStyle>
          <a:p>
            <a:pPr rtl="0"/>
            <a:fld id="{4FAB73BC-B049-4115-A692-8D63A059BFB8}" type="slidenum">
              <a:rPr lang="ro-RO" noProof="0" smtClean="0"/>
              <a:pPr rtl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877551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kern="1200">
          <a:solidFill>
            <a:schemeClr val="accent2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•"/>
        <a:defRPr sz="20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90000"/>
        </a:lnSpc>
        <a:spcBef>
          <a:spcPts val="1000"/>
        </a:spcBef>
        <a:buSzPct val="100000"/>
        <a:buFont typeface="Arial" pitchFamily="34" charset="0"/>
        <a:buChar char="•"/>
        <a:defRPr sz="18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6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6pPr>
      <a:lvl7pPr marL="192024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8pPr>
      <a:lvl9pPr marL="2240280" indent="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None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n-US" dirty="0" err="1"/>
              <a:t>Exemple</a:t>
            </a:r>
            <a:r>
              <a:rPr lang="en-US" dirty="0"/>
              <a:t> de </a:t>
            </a:r>
            <a:r>
              <a:rPr lang="en-US" dirty="0" err="1"/>
              <a:t>probleme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examenul</a:t>
            </a:r>
            <a:r>
              <a:rPr lang="en-US" dirty="0"/>
              <a:t> </a:t>
            </a:r>
            <a:r>
              <a:rPr lang="en-US" dirty="0" err="1"/>
              <a:t>practic</a:t>
            </a:r>
            <a:endParaRPr lang="ro-RO" dirty="0"/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ro-RO" dirty="0"/>
              <a:t>Seminar 6</a:t>
            </a:r>
          </a:p>
        </p:txBody>
      </p:sp>
    </p:spTree>
    <p:extLst>
      <p:ext uri="{BB962C8B-B14F-4D97-AF65-F5344CB8AC3E}">
        <p14:creationId xmlns:p14="http://schemas.microsoft.com/office/powerpoint/2010/main" val="150390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77E58-E44E-56F9-A54A-C2A89D440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+mn-lt"/>
              </a:rPr>
              <a:t>Varianta</a:t>
            </a:r>
            <a:r>
              <a:rPr lang="en-US" dirty="0">
                <a:latin typeface="+mn-lt"/>
              </a:rPr>
              <a:t> 1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2FE52-4C88-23FA-07D3-8BF647460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Creați</a:t>
            </a:r>
            <a:r>
              <a:rPr lang="en-US" dirty="0"/>
              <a:t> o </a:t>
            </a:r>
            <a:r>
              <a:rPr lang="en-US" dirty="0" err="1"/>
              <a:t>bază</a:t>
            </a:r>
            <a:r>
              <a:rPr lang="en-US" dirty="0"/>
              <a:t> de date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gestiunea</a:t>
            </a:r>
            <a:r>
              <a:rPr lang="en-US" dirty="0"/>
              <a:t> </a:t>
            </a:r>
            <a:r>
              <a:rPr lang="en-US" dirty="0" err="1"/>
              <a:t>mersului</a:t>
            </a:r>
            <a:r>
              <a:rPr lang="en-US" dirty="0"/>
              <a:t> </a:t>
            </a:r>
            <a:r>
              <a:rPr lang="en-US" dirty="0" err="1"/>
              <a:t>trenurilor</a:t>
            </a:r>
            <a:r>
              <a:rPr lang="en-US" dirty="0"/>
              <a:t>. </a:t>
            </a:r>
            <a:r>
              <a:rPr lang="en-US" dirty="0" err="1"/>
              <a:t>Baza</a:t>
            </a:r>
            <a:r>
              <a:rPr lang="en-US" dirty="0"/>
              <a:t> de date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conține</a:t>
            </a:r>
            <a:r>
              <a:rPr lang="en-US" dirty="0"/>
              <a:t> </a:t>
            </a:r>
            <a:r>
              <a:rPr lang="en-US" dirty="0" err="1"/>
              <a:t>informații</a:t>
            </a:r>
            <a:r>
              <a:rPr lang="en-US" dirty="0"/>
              <a:t> </a:t>
            </a:r>
            <a:r>
              <a:rPr lang="en-US" dirty="0" err="1"/>
              <a:t>despre</a:t>
            </a:r>
            <a:r>
              <a:rPr lang="en-US" dirty="0"/>
              <a:t> </a:t>
            </a:r>
            <a:r>
              <a:rPr lang="en-US" dirty="0" err="1"/>
              <a:t>rutele</a:t>
            </a:r>
            <a:r>
              <a:rPr lang="en-US" dirty="0"/>
              <a:t> </a:t>
            </a:r>
            <a:r>
              <a:rPr lang="en-US" dirty="0" err="1"/>
              <a:t>tuturor</a:t>
            </a:r>
            <a:r>
              <a:rPr lang="en-US" dirty="0"/>
              <a:t> </a:t>
            </a:r>
            <a:r>
              <a:rPr lang="en-US" dirty="0" err="1"/>
              <a:t>trenurilor</a:t>
            </a:r>
            <a:r>
              <a:rPr lang="en-US" dirty="0"/>
              <a:t>. </a:t>
            </a:r>
            <a:endParaRPr lang="ro-RO" dirty="0"/>
          </a:p>
          <a:p>
            <a:r>
              <a:rPr lang="ro-RO" dirty="0"/>
              <a:t>E</a:t>
            </a:r>
            <a:r>
              <a:rPr lang="en-US" dirty="0" err="1"/>
              <a:t>ntitățile</a:t>
            </a:r>
            <a:r>
              <a:rPr lang="en-US" dirty="0"/>
              <a:t> de </a:t>
            </a:r>
            <a:r>
              <a:rPr lang="en-US" dirty="0" err="1"/>
              <a:t>interes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domeniul</a:t>
            </a:r>
            <a:r>
              <a:rPr lang="en-US" dirty="0"/>
              <a:t> </a:t>
            </a:r>
            <a:r>
              <a:rPr lang="en-US" dirty="0" err="1"/>
              <a:t>problemei</a:t>
            </a:r>
            <a:r>
              <a:rPr lang="en-US" dirty="0"/>
              <a:t> sunt: </a:t>
            </a:r>
            <a:r>
              <a:rPr lang="en-US" dirty="0" err="1"/>
              <a:t>trenuri</a:t>
            </a:r>
            <a:r>
              <a:rPr lang="en-US" dirty="0"/>
              <a:t>, </a:t>
            </a:r>
            <a:r>
              <a:rPr lang="en-US" dirty="0" err="1"/>
              <a:t>tipuri</a:t>
            </a:r>
            <a:r>
              <a:rPr lang="en-US" dirty="0"/>
              <a:t> de </a:t>
            </a:r>
            <a:r>
              <a:rPr lang="en-US" dirty="0" err="1"/>
              <a:t>tren</a:t>
            </a:r>
            <a:r>
              <a:rPr lang="en-US" dirty="0"/>
              <a:t>, </a:t>
            </a:r>
            <a:r>
              <a:rPr lang="en-US" dirty="0" err="1"/>
              <a:t>stații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rute</a:t>
            </a:r>
            <a:r>
              <a:rPr lang="ro-RO" dirty="0"/>
              <a:t>.</a:t>
            </a:r>
            <a:r>
              <a:rPr lang="en-US" dirty="0"/>
              <a:t> </a:t>
            </a:r>
            <a:endParaRPr lang="ro-RO" dirty="0"/>
          </a:p>
          <a:p>
            <a:r>
              <a:rPr lang="ro-RO" dirty="0"/>
              <a:t>F</a:t>
            </a:r>
            <a:r>
              <a:rPr lang="en-US" dirty="0" err="1"/>
              <a:t>iecare</a:t>
            </a:r>
            <a:r>
              <a:rPr lang="en-US" dirty="0"/>
              <a:t> </a:t>
            </a:r>
            <a:r>
              <a:rPr lang="en-US" dirty="0" err="1"/>
              <a:t>tren</a:t>
            </a:r>
            <a:r>
              <a:rPr lang="en-US" dirty="0"/>
              <a:t> are un </a:t>
            </a:r>
            <a:r>
              <a:rPr lang="en-US" dirty="0" err="1"/>
              <a:t>nume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aparține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tip</a:t>
            </a:r>
            <a:r>
              <a:rPr lang="ro-RO" dirty="0"/>
              <a:t>.</a:t>
            </a:r>
            <a:r>
              <a:rPr lang="en-US" dirty="0"/>
              <a:t> </a:t>
            </a:r>
            <a:r>
              <a:rPr lang="ro-RO" dirty="0"/>
              <a:t>T</a:t>
            </a:r>
            <a:r>
              <a:rPr lang="en-US" dirty="0" err="1"/>
              <a:t>ipul</a:t>
            </a:r>
            <a:r>
              <a:rPr lang="en-US" dirty="0"/>
              <a:t> </a:t>
            </a:r>
            <a:r>
              <a:rPr lang="en-US" dirty="0" err="1"/>
              <a:t>trenului</a:t>
            </a:r>
            <a:r>
              <a:rPr lang="en-US" dirty="0"/>
              <a:t> are o </a:t>
            </a:r>
            <a:r>
              <a:rPr lang="en-US" dirty="0" err="1"/>
              <a:t>descriere</a:t>
            </a:r>
            <a:r>
              <a:rPr lang="ro-RO" dirty="0"/>
              <a:t>.</a:t>
            </a:r>
          </a:p>
          <a:p>
            <a:r>
              <a:rPr lang="ro-RO" dirty="0"/>
              <a:t>F</a:t>
            </a:r>
            <a:r>
              <a:rPr lang="en-US" dirty="0" err="1"/>
              <a:t>iecare</a:t>
            </a:r>
            <a:r>
              <a:rPr lang="en-US" dirty="0"/>
              <a:t> </a:t>
            </a:r>
            <a:r>
              <a:rPr lang="en-US" dirty="0" err="1"/>
              <a:t>rută</a:t>
            </a:r>
            <a:r>
              <a:rPr lang="en-US" dirty="0"/>
              <a:t> are un </a:t>
            </a:r>
            <a:r>
              <a:rPr lang="en-US" dirty="0" err="1"/>
              <a:t>nume</a:t>
            </a:r>
            <a:r>
              <a:rPr lang="en-US" dirty="0"/>
              <a:t>, un </a:t>
            </a:r>
            <a:r>
              <a:rPr lang="en-US" dirty="0" err="1"/>
              <a:t>tren</a:t>
            </a:r>
            <a:r>
              <a:rPr lang="en-US" dirty="0"/>
              <a:t> </a:t>
            </a:r>
            <a:r>
              <a:rPr lang="en-US" dirty="0" err="1"/>
              <a:t>asociat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o </a:t>
            </a:r>
            <a:r>
              <a:rPr lang="en-US" dirty="0" err="1"/>
              <a:t>listă</a:t>
            </a:r>
            <a:r>
              <a:rPr lang="en-US" dirty="0"/>
              <a:t> de </a:t>
            </a:r>
            <a:r>
              <a:rPr lang="en-US" dirty="0" err="1"/>
              <a:t>stații</a:t>
            </a:r>
            <a:r>
              <a:rPr lang="en-US" dirty="0"/>
              <a:t> cu </a:t>
            </a:r>
            <a:r>
              <a:rPr lang="en-US" dirty="0" err="1"/>
              <a:t>ora</a:t>
            </a:r>
            <a:r>
              <a:rPr lang="en-US" dirty="0"/>
              <a:t> </a:t>
            </a:r>
            <a:r>
              <a:rPr lang="en-US" dirty="0" err="1"/>
              <a:t>sosirii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ora</a:t>
            </a:r>
            <a:r>
              <a:rPr lang="en-US" dirty="0"/>
              <a:t> </a:t>
            </a:r>
            <a:r>
              <a:rPr lang="en-US" dirty="0" err="1"/>
              <a:t>plecării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stație</a:t>
            </a:r>
            <a:r>
              <a:rPr lang="ro-RO" dirty="0"/>
              <a:t>.</a:t>
            </a:r>
            <a:r>
              <a:rPr lang="en-US" dirty="0"/>
              <a:t> </a:t>
            </a:r>
            <a:r>
              <a:rPr lang="ro-RO" dirty="0"/>
              <a:t>O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sosirii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ora</a:t>
            </a:r>
            <a:r>
              <a:rPr lang="en-US" dirty="0"/>
              <a:t> </a:t>
            </a:r>
            <a:r>
              <a:rPr lang="en-US" dirty="0" err="1"/>
              <a:t>plecării</a:t>
            </a:r>
            <a:r>
              <a:rPr lang="en-US" dirty="0"/>
              <a:t> sunt </a:t>
            </a:r>
            <a:r>
              <a:rPr lang="en-US" dirty="0" err="1"/>
              <a:t>reprezentate</a:t>
            </a:r>
            <a:r>
              <a:rPr lang="en-US" dirty="0"/>
              <a:t> ca </a:t>
            </a:r>
            <a:r>
              <a:rPr lang="en-US" dirty="0" err="1"/>
              <a:t>perechi</a:t>
            </a:r>
            <a:r>
              <a:rPr lang="en-US" dirty="0"/>
              <a:t> </a:t>
            </a:r>
            <a:r>
              <a:rPr lang="en-US" dirty="0" err="1"/>
              <a:t>oră</a:t>
            </a:r>
            <a:r>
              <a:rPr lang="en-US" dirty="0"/>
              <a:t>/</a:t>
            </a:r>
            <a:r>
              <a:rPr lang="en-US" dirty="0" err="1"/>
              <a:t>minut</a:t>
            </a:r>
            <a:r>
              <a:rPr lang="en-US" dirty="0"/>
              <a:t> (</a:t>
            </a:r>
            <a:r>
              <a:rPr lang="en-US" dirty="0" err="1"/>
              <a:t>exemplu</a:t>
            </a:r>
            <a:r>
              <a:rPr lang="en-US" dirty="0"/>
              <a:t>: </a:t>
            </a:r>
            <a:r>
              <a:rPr lang="en-US" dirty="0" err="1"/>
              <a:t>trenul</a:t>
            </a:r>
            <a:r>
              <a:rPr lang="en-US" dirty="0"/>
              <a:t> </a:t>
            </a:r>
            <a:r>
              <a:rPr lang="en-US" dirty="0" err="1"/>
              <a:t>ajunge</a:t>
            </a:r>
            <a:r>
              <a:rPr lang="en-US" dirty="0"/>
              <a:t> la 5 PM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pleacă</a:t>
            </a:r>
            <a:r>
              <a:rPr lang="en-US" dirty="0"/>
              <a:t> la 5:10 PM). Sta</a:t>
            </a:r>
            <a:r>
              <a:rPr lang="ro-RO" dirty="0"/>
              <a:t>ția are un nume.</a:t>
            </a:r>
            <a:endParaRPr lang="en-US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486659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7DD80-FD06-E7FD-564F-50F1FA3D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Cerințe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F295A-B7BA-9380-D4E3-AE28873B1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1) </a:t>
            </a:r>
            <a:r>
              <a:rPr lang="en-US" dirty="0" err="1"/>
              <a:t>Scrieți</a:t>
            </a:r>
            <a:r>
              <a:rPr lang="en-US" dirty="0"/>
              <a:t> un script SQL care </a:t>
            </a:r>
            <a:r>
              <a:rPr lang="en-US" dirty="0" err="1"/>
              <a:t>creează</a:t>
            </a:r>
            <a:r>
              <a:rPr lang="en-US" dirty="0"/>
              <a:t> un model </a:t>
            </a:r>
            <a:r>
              <a:rPr lang="en-US" dirty="0" err="1"/>
              <a:t>relațional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reprezenta</a:t>
            </a:r>
            <a:r>
              <a:rPr lang="en-US" dirty="0"/>
              <a:t> </a:t>
            </a:r>
            <a:r>
              <a:rPr lang="en-US" dirty="0" err="1"/>
              <a:t>datele</a:t>
            </a:r>
            <a:r>
              <a:rPr lang="en-US" dirty="0"/>
              <a:t>. </a:t>
            </a:r>
            <a:r>
              <a:rPr lang="ro-RO" dirty="0"/>
              <a:t>(</a:t>
            </a:r>
            <a:r>
              <a:rPr lang="en-US" dirty="0"/>
              <a:t>4</a:t>
            </a:r>
            <a:r>
              <a:rPr lang="ro-RO" dirty="0"/>
              <a:t> puncte)</a:t>
            </a:r>
          </a:p>
          <a:p>
            <a:r>
              <a:rPr lang="en-US" dirty="0"/>
              <a:t>2) </a:t>
            </a:r>
            <a:r>
              <a:rPr lang="en-US" dirty="0" err="1"/>
              <a:t>Creați</a:t>
            </a:r>
            <a:r>
              <a:rPr lang="en-US" dirty="0"/>
              <a:t> o </a:t>
            </a:r>
            <a:r>
              <a:rPr lang="en-US" dirty="0" err="1"/>
              <a:t>procedură</a:t>
            </a:r>
            <a:r>
              <a:rPr lang="en-US" dirty="0"/>
              <a:t> </a:t>
            </a:r>
            <a:r>
              <a:rPr lang="en-US" dirty="0" err="1"/>
              <a:t>stocată</a:t>
            </a:r>
            <a:r>
              <a:rPr lang="en-US" dirty="0"/>
              <a:t> care </a:t>
            </a:r>
            <a:r>
              <a:rPr lang="en-US" dirty="0" err="1"/>
              <a:t>primește</a:t>
            </a:r>
            <a:r>
              <a:rPr lang="en-US" dirty="0"/>
              <a:t> o </a:t>
            </a:r>
            <a:r>
              <a:rPr lang="en-US" dirty="0" err="1"/>
              <a:t>rută</a:t>
            </a:r>
            <a:r>
              <a:rPr lang="en-US" dirty="0"/>
              <a:t>, o </a:t>
            </a:r>
            <a:r>
              <a:rPr lang="en-US" dirty="0" err="1"/>
              <a:t>stație</a:t>
            </a:r>
            <a:r>
              <a:rPr lang="en-US" dirty="0"/>
              <a:t>, </a:t>
            </a:r>
            <a:r>
              <a:rPr lang="en-US" dirty="0" err="1"/>
              <a:t>ora</a:t>
            </a:r>
            <a:r>
              <a:rPr lang="en-US" dirty="0"/>
              <a:t> </a:t>
            </a:r>
            <a:r>
              <a:rPr lang="en-US" dirty="0" err="1"/>
              <a:t>sosirii</a:t>
            </a:r>
            <a:r>
              <a:rPr lang="en-US" dirty="0"/>
              <a:t>, </a:t>
            </a:r>
            <a:r>
              <a:rPr lang="en-US" dirty="0" err="1"/>
              <a:t>ora</a:t>
            </a:r>
            <a:r>
              <a:rPr lang="en-US" dirty="0"/>
              <a:t> </a:t>
            </a:r>
            <a:r>
              <a:rPr lang="en-US" dirty="0" err="1"/>
              <a:t>plecării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adaugă</a:t>
            </a:r>
            <a:r>
              <a:rPr lang="en-US" dirty="0"/>
              <a:t> </a:t>
            </a:r>
            <a:r>
              <a:rPr lang="en-US" dirty="0" err="1"/>
              <a:t>noua</a:t>
            </a:r>
            <a:r>
              <a:rPr lang="en-US" dirty="0"/>
              <a:t> </a:t>
            </a:r>
            <a:r>
              <a:rPr lang="en-US" dirty="0" err="1"/>
              <a:t>stație</a:t>
            </a:r>
            <a:r>
              <a:rPr lang="en-US" dirty="0"/>
              <a:t> </a:t>
            </a:r>
            <a:r>
              <a:rPr lang="en-US" dirty="0" err="1"/>
              <a:t>rutei</a:t>
            </a:r>
            <a:r>
              <a:rPr lang="en-US" dirty="0"/>
              <a:t>.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stația</a:t>
            </a:r>
            <a:r>
              <a:rPr lang="en-US" dirty="0"/>
              <a:t> </a:t>
            </a:r>
            <a:r>
              <a:rPr lang="en-US" dirty="0" err="1"/>
              <a:t>există</a:t>
            </a:r>
            <a:r>
              <a:rPr lang="en-US" dirty="0"/>
              <a:t> </a:t>
            </a:r>
            <a:r>
              <a:rPr lang="en-US" dirty="0" err="1"/>
              <a:t>deja</a:t>
            </a:r>
            <a:r>
              <a:rPr lang="en-US" dirty="0"/>
              <a:t>, se </a:t>
            </a:r>
            <a:r>
              <a:rPr lang="en-US" dirty="0" err="1"/>
              <a:t>actualizează</a:t>
            </a:r>
            <a:r>
              <a:rPr lang="en-US" dirty="0"/>
              <a:t> </a:t>
            </a:r>
            <a:r>
              <a:rPr lang="en-US" dirty="0" err="1"/>
              <a:t>ora</a:t>
            </a:r>
            <a:r>
              <a:rPr lang="en-US" dirty="0"/>
              <a:t> </a:t>
            </a:r>
            <a:r>
              <a:rPr lang="en-US" dirty="0" err="1"/>
              <a:t>sosirii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ora</a:t>
            </a:r>
            <a:r>
              <a:rPr lang="en-US" dirty="0"/>
              <a:t> </a:t>
            </a:r>
            <a:r>
              <a:rPr lang="en-US" dirty="0" err="1"/>
              <a:t>plecării</a:t>
            </a:r>
            <a:r>
              <a:rPr lang="en-US" dirty="0"/>
              <a:t>. </a:t>
            </a:r>
            <a:r>
              <a:rPr lang="ro-RO" dirty="0"/>
              <a:t>(</a:t>
            </a:r>
            <a:r>
              <a:rPr lang="en-US" dirty="0"/>
              <a:t>3</a:t>
            </a:r>
            <a:r>
              <a:rPr lang="ro-RO" dirty="0"/>
              <a:t> puncte)</a:t>
            </a:r>
            <a:r>
              <a:rPr lang="en-US" dirty="0"/>
              <a:t> </a:t>
            </a:r>
            <a:endParaRPr lang="ro-RO" dirty="0"/>
          </a:p>
          <a:p>
            <a:r>
              <a:rPr lang="en-US" b="1" dirty="0"/>
              <a:t>3) </a:t>
            </a:r>
            <a:r>
              <a:rPr lang="en-US" b="1" dirty="0" err="1"/>
              <a:t>Creați</a:t>
            </a:r>
            <a:r>
              <a:rPr lang="en-US" b="1" dirty="0"/>
              <a:t> un view care </a:t>
            </a:r>
            <a:r>
              <a:rPr lang="en-US" b="1" dirty="0" err="1"/>
              <a:t>afișează</a:t>
            </a:r>
            <a:r>
              <a:rPr lang="en-US" b="1" dirty="0"/>
              <a:t> </a:t>
            </a:r>
            <a:r>
              <a:rPr lang="en-US" b="1" dirty="0" err="1"/>
              <a:t>numele</a:t>
            </a:r>
            <a:r>
              <a:rPr lang="en-US" b="1" dirty="0"/>
              <a:t> </a:t>
            </a:r>
            <a:r>
              <a:rPr lang="en-US" b="1" dirty="0" err="1"/>
              <a:t>rutelor</a:t>
            </a:r>
            <a:r>
              <a:rPr lang="en-US" b="1" dirty="0"/>
              <a:t> care </a:t>
            </a:r>
            <a:r>
              <a:rPr lang="en-US" b="1" dirty="0" err="1"/>
              <a:t>conțin</a:t>
            </a:r>
            <a:r>
              <a:rPr lang="en-US" b="1" dirty="0"/>
              <a:t> </a:t>
            </a:r>
            <a:r>
              <a:rPr lang="en-US" b="1" dirty="0" err="1"/>
              <a:t>toate</a:t>
            </a:r>
            <a:r>
              <a:rPr lang="en-US" b="1" dirty="0"/>
              <a:t> </a:t>
            </a:r>
            <a:r>
              <a:rPr lang="en-US" b="1" dirty="0" err="1"/>
              <a:t>stațiile</a:t>
            </a:r>
            <a:r>
              <a:rPr lang="en-US" b="1" dirty="0"/>
              <a:t>. </a:t>
            </a:r>
            <a:r>
              <a:rPr lang="ro-RO" b="1" dirty="0"/>
              <a:t>(</a:t>
            </a:r>
            <a:r>
              <a:rPr lang="en-US" b="1" dirty="0"/>
              <a:t>2</a:t>
            </a:r>
            <a:r>
              <a:rPr lang="ro-RO" b="1" dirty="0"/>
              <a:t> punct</a:t>
            </a:r>
            <a:r>
              <a:rPr lang="en-US" b="1" dirty="0"/>
              <a:t>e</a:t>
            </a:r>
            <a:r>
              <a:rPr lang="ro-RO" b="1" dirty="0"/>
              <a:t>)</a:t>
            </a:r>
          </a:p>
          <a:p>
            <a:r>
              <a:rPr lang="ro-RO" dirty="0"/>
              <a:t>Oficiu - </a:t>
            </a:r>
            <a:r>
              <a:rPr lang="en-US" dirty="0"/>
              <a:t>1</a:t>
            </a:r>
            <a:r>
              <a:rPr lang="ro-RO" dirty="0"/>
              <a:t> punct</a:t>
            </a:r>
            <a:endParaRPr lang="en-US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133593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491CA-D388-5715-7D5E-8258B9EAA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+mn-lt"/>
              </a:rPr>
              <a:t>Varianta</a:t>
            </a:r>
            <a:r>
              <a:rPr lang="en-US" dirty="0">
                <a:latin typeface="+mn-lt"/>
              </a:rPr>
              <a:t> 2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F04C0-EFCC-45AB-98A3-4B95E2CD1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19" y="1572767"/>
            <a:ext cx="10501693" cy="4899053"/>
          </a:xfrm>
        </p:spPr>
        <p:txBody>
          <a:bodyPr>
            <a:normAutofit/>
          </a:bodyPr>
          <a:lstStyle/>
          <a:p>
            <a:r>
              <a:rPr lang="ro-RO" dirty="0">
                <a:effectLst/>
                <a:latin typeface="Georgia (Body)"/>
                <a:ea typeface="Calibri" panose="020F0502020204030204" pitchFamily="34" charset="0"/>
                <a:cs typeface="Times New Roman" panose="02020603050405020304" pitchFamily="18" charset="0"/>
              </a:rPr>
              <a:t>Să se creeze baza de date a unei aplicații care gestionează notele date de utilizatori restaurantelor pe care le-au frecventat. </a:t>
            </a:r>
            <a:endParaRPr lang="en-US" dirty="0">
              <a:effectLst/>
              <a:latin typeface="Georgia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o-RO" dirty="0">
                <a:effectLst/>
                <a:latin typeface="Georgia (Body)"/>
                <a:ea typeface="Calibri" panose="020F0502020204030204" pitchFamily="34" charset="0"/>
                <a:cs typeface="Times New Roman" panose="02020603050405020304" pitchFamily="18" charset="0"/>
              </a:rPr>
              <a:t>Entitățile de interes pentru domeniul problemei sunt: </a:t>
            </a:r>
            <a:r>
              <a:rPr lang="ro-RO" b="1" dirty="0">
                <a:effectLst/>
                <a:latin typeface="Georgia (Body)"/>
                <a:ea typeface="Calibri" panose="020F0502020204030204" pitchFamily="34" charset="0"/>
                <a:cs typeface="Times New Roman" panose="02020603050405020304" pitchFamily="18" charset="0"/>
              </a:rPr>
              <a:t>tipuri de restaurante</a:t>
            </a:r>
            <a:r>
              <a:rPr lang="ro-RO" dirty="0">
                <a:effectLst/>
                <a:latin typeface="Georgia (Body)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o-RO" b="1" dirty="0">
                <a:effectLst/>
                <a:latin typeface="Georgia (Body)"/>
                <a:ea typeface="Calibri" panose="020F0502020204030204" pitchFamily="34" charset="0"/>
                <a:cs typeface="Times New Roman" panose="02020603050405020304" pitchFamily="18" charset="0"/>
              </a:rPr>
              <a:t>restaurante</a:t>
            </a:r>
            <a:r>
              <a:rPr lang="ro-RO" dirty="0">
                <a:effectLst/>
                <a:latin typeface="Georgia (Body)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o-RO" b="1" dirty="0">
                <a:effectLst/>
                <a:latin typeface="Georgia (Body)"/>
                <a:ea typeface="Calibri" panose="020F0502020204030204" pitchFamily="34" charset="0"/>
                <a:cs typeface="Times New Roman" panose="02020603050405020304" pitchFamily="18" charset="0"/>
              </a:rPr>
              <a:t>orașe</a:t>
            </a:r>
            <a:r>
              <a:rPr lang="ro-RO" dirty="0">
                <a:effectLst/>
                <a:latin typeface="Georgia (Body)"/>
                <a:ea typeface="Calibri" panose="020F0502020204030204" pitchFamily="34" charset="0"/>
                <a:cs typeface="Times New Roman" panose="02020603050405020304" pitchFamily="18" charset="0"/>
              </a:rPr>
              <a:t> și </a:t>
            </a:r>
            <a:r>
              <a:rPr lang="ro-RO" b="1" dirty="0">
                <a:effectLst/>
                <a:latin typeface="Georgia (Body)"/>
                <a:ea typeface="Calibri" panose="020F0502020204030204" pitchFamily="34" charset="0"/>
                <a:cs typeface="Times New Roman" panose="02020603050405020304" pitchFamily="18" charset="0"/>
              </a:rPr>
              <a:t>utilizatori</a:t>
            </a:r>
            <a:r>
              <a:rPr lang="ro-RO" dirty="0">
                <a:effectLst/>
                <a:latin typeface="Georgia (Body)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dirty="0">
              <a:effectLst/>
              <a:latin typeface="Georgia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o-RO" dirty="0">
                <a:effectLst/>
                <a:latin typeface="Georgia (Body)"/>
                <a:ea typeface="Calibri" panose="020F0502020204030204" pitchFamily="34" charset="0"/>
                <a:cs typeface="Times New Roman" panose="02020603050405020304" pitchFamily="18" charset="0"/>
              </a:rPr>
              <a:t>Fiecare tip de restaurant are un nume și o descriere.</a:t>
            </a:r>
            <a:r>
              <a:rPr lang="en-US" dirty="0">
                <a:effectLst/>
                <a:latin typeface="Georgia (Body)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dirty="0">
                <a:effectLst/>
                <a:latin typeface="Georgia (Body)"/>
                <a:ea typeface="Calibri" panose="020F0502020204030204" pitchFamily="34" charset="0"/>
                <a:cs typeface="Times New Roman" panose="02020603050405020304" pitchFamily="18" charset="0"/>
              </a:rPr>
              <a:t>Un restaurant are un nume, o adresă, un număr de telefon, aparține unui singur oraș și unui singur tip de restaurant. Un tip de restaurant poate conține mai multe restaurante, dar fiecare restaurant are doar un singur tip. </a:t>
            </a:r>
            <a:endParaRPr lang="en-US" dirty="0">
              <a:effectLst/>
              <a:latin typeface="Georgia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o-RO" dirty="0">
                <a:effectLst/>
                <a:latin typeface="Georgia (Body)"/>
                <a:ea typeface="Calibri" panose="020F0502020204030204" pitchFamily="34" charset="0"/>
                <a:cs typeface="Times New Roman" panose="02020603050405020304" pitchFamily="18" charset="0"/>
              </a:rPr>
              <a:t>Fiecare oraș are un nume. Un oraș are mai multe restaurante, dar fiecare restaurant aparține unui singur oraș. </a:t>
            </a:r>
            <a:endParaRPr lang="en-US" dirty="0">
              <a:effectLst/>
              <a:latin typeface="Georgia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o-RO" dirty="0">
                <a:effectLst/>
                <a:latin typeface="Georgia (Body)"/>
                <a:ea typeface="Calibri" panose="020F0502020204030204" pitchFamily="34" charset="0"/>
                <a:cs typeface="Times New Roman" panose="02020603050405020304" pitchFamily="18" charset="0"/>
              </a:rPr>
              <a:t>Un utilizator are un nume de utilizator, o adresă de email și o parolă. Fiecare utilizator poate da note mai multor restaurante, iar fiecare restaurant poate primi mai multe note. Un utilizator poate da o singură notă fiecărui restaurant. Nota este un număr real.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115728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EBD3E-B578-F3BC-7EA0-0A2B111B1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Cerințe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42AA6-ACD9-5A30-674A-3BBA019CB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19" y="1572768"/>
            <a:ext cx="9509759" cy="4142232"/>
          </a:xfrm>
        </p:spPr>
        <p:txBody>
          <a:bodyPr/>
          <a:lstStyle/>
          <a:p>
            <a:r>
              <a:rPr lang="en-US" dirty="0"/>
              <a:t>1) </a:t>
            </a:r>
            <a:r>
              <a:rPr lang="en-US" dirty="0" err="1"/>
              <a:t>Scrieți</a:t>
            </a:r>
            <a:r>
              <a:rPr lang="en-US" dirty="0"/>
              <a:t> un script SQL care </a:t>
            </a:r>
            <a:r>
              <a:rPr lang="en-US" dirty="0" err="1"/>
              <a:t>creează</a:t>
            </a:r>
            <a:r>
              <a:rPr lang="en-US" dirty="0"/>
              <a:t> un model </a:t>
            </a:r>
            <a:r>
              <a:rPr lang="en-US" dirty="0" err="1"/>
              <a:t>relațional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reprezenta</a:t>
            </a:r>
            <a:r>
              <a:rPr lang="en-US" dirty="0"/>
              <a:t> </a:t>
            </a:r>
            <a:r>
              <a:rPr lang="en-US" dirty="0" err="1"/>
              <a:t>datele</a:t>
            </a:r>
            <a:r>
              <a:rPr lang="en-US" dirty="0"/>
              <a:t>. </a:t>
            </a:r>
            <a:r>
              <a:rPr lang="ro-RO" dirty="0"/>
              <a:t>(</a:t>
            </a:r>
            <a:r>
              <a:rPr lang="en-US" dirty="0"/>
              <a:t>4</a:t>
            </a:r>
            <a:r>
              <a:rPr lang="ro-RO" dirty="0"/>
              <a:t> puncte)</a:t>
            </a:r>
          </a:p>
          <a:p>
            <a:r>
              <a:rPr lang="en-US" dirty="0"/>
              <a:t>2) </a:t>
            </a:r>
            <a:r>
              <a:rPr lang="en-US" dirty="0" err="1"/>
              <a:t>Creați</a:t>
            </a:r>
            <a:r>
              <a:rPr lang="en-US" dirty="0"/>
              <a:t> o </a:t>
            </a:r>
            <a:r>
              <a:rPr lang="en-US" dirty="0" err="1"/>
              <a:t>procedură</a:t>
            </a:r>
            <a:r>
              <a:rPr lang="en-US" dirty="0"/>
              <a:t> </a:t>
            </a:r>
            <a:r>
              <a:rPr lang="en-US" dirty="0" err="1"/>
              <a:t>stocată</a:t>
            </a:r>
            <a:r>
              <a:rPr lang="en-US" dirty="0"/>
              <a:t> care </a:t>
            </a:r>
            <a:r>
              <a:rPr lang="en-US" dirty="0" err="1"/>
              <a:t>primește</a:t>
            </a:r>
            <a:r>
              <a:rPr lang="en-US" dirty="0"/>
              <a:t> un restaurant, un </a:t>
            </a:r>
            <a:r>
              <a:rPr lang="en-US" dirty="0" err="1"/>
              <a:t>utilizator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o </a:t>
            </a:r>
            <a:r>
              <a:rPr lang="en-US" dirty="0" err="1"/>
              <a:t>notă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adaugă</a:t>
            </a:r>
            <a:r>
              <a:rPr lang="en-US" dirty="0"/>
              <a:t> nota </a:t>
            </a:r>
            <a:r>
              <a:rPr lang="en-US" dirty="0" err="1"/>
              <a:t>dată</a:t>
            </a:r>
            <a:r>
              <a:rPr lang="en-US" dirty="0"/>
              <a:t> de </a:t>
            </a:r>
            <a:r>
              <a:rPr lang="en-US" dirty="0" err="1"/>
              <a:t>către</a:t>
            </a:r>
            <a:r>
              <a:rPr lang="en-US" dirty="0"/>
              <a:t> </a:t>
            </a:r>
            <a:r>
              <a:rPr lang="en-US" dirty="0" err="1"/>
              <a:t>utilizator</a:t>
            </a:r>
            <a:r>
              <a:rPr lang="en-US" dirty="0"/>
              <a:t> </a:t>
            </a:r>
            <a:r>
              <a:rPr lang="en-US" dirty="0" err="1"/>
              <a:t>restaurantului</a:t>
            </a:r>
            <a:r>
              <a:rPr lang="en-US" dirty="0"/>
              <a:t>.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utilizatorul</a:t>
            </a:r>
            <a:r>
              <a:rPr lang="en-US" dirty="0"/>
              <a:t> a </a:t>
            </a:r>
            <a:r>
              <a:rPr lang="en-US" dirty="0" err="1"/>
              <a:t>dat</a:t>
            </a:r>
            <a:r>
              <a:rPr lang="en-US" dirty="0"/>
              <a:t> </a:t>
            </a:r>
            <a:r>
              <a:rPr lang="en-US" dirty="0" err="1"/>
              <a:t>deja</a:t>
            </a:r>
            <a:r>
              <a:rPr lang="en-US" dirty="0"/>
              <a:t> o </a:t>
            </a:r>
            <a:r>
              <a:rPr lang="en-US" dirty="0" err="1"/>
              <a:t>notă</a:t>
            </a:r>
            <a:r>
              <a:rPr lang="en-US" dirty="0"/>
              <a:t> </a:t>
            </a:r>
            <a:r>
              <a:rPr lang="en-US" dirty="0" err="1"/>
              <a:t>acelui</a:t>
            </a:r>
            <a:r>
              <a:rPr lang="en-US" dirty="0"/>
              <a:t> restaurant, </a:t>
            </a:r>
            <a:r>
              <a:rPr lang="en-US" dirty="0" err="1"/>
              <a:t>valoarea</a:t>
            </a:r>
            <a:r>
              <a:rPr lang="en-US" dirty="0"/>
              <a:t> </a:t>
            </a:r>
            <a:r>
              <a:rPr lang="en-US" dirty="0" err="1"/>
              <a:t>notei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fi </a:t>
            </a:r>
            <a:r>
              <a:rPr lang="en-US" dirty="0" err="1"/>
              <a:t>actualizată</a:t>
            </a:r>
            <a:r>
              <a:rPr lang="en-US" dirty="0"/>
              <a:t>. </a:t>
            </a:r>
            <a:r>
              <a:rPr lang="ro-RO" dirty="0"/>
              <a:t>(</a:t>
            </a:r>
            <a:r>
              <a:rPr lang="en-US" dirty="0"/>
              <a:t>3</a:t>
            </a:r>
            <a:r>
              <a:rPr lang="ro-RO" dirty="0"/>
              <a:t> puncte)</a:t>
            </a:r>
            <a:r>
              <a:rPr lang="en-US" dirty="0"/>
              <a:t> </a:t>
            </a:r>
            <a:endParaRPr lang="ro-RO" dirty="0"/>
          </a:p>
          <a:p>
            <a:r>
              <a:rPr lang="en-US" b="1" dirty="0"/>
              <a:t>3) </a:t>
            </a:r>
            <a:r>
              <a:rPr lang="en-US" b="1" dirty="0" err="1"/>
              <a:t>Creați</a:t>
            </a:r>
            <a:r>
              <a:rPr lang="en-US" b="1" dirty="0"/>
              <a:t> o </a:t>
            </a:r>
            <a:r>
              <a:rPr lang="en-US" b="1" dirty="0" err="1"/>
              <a:t>funcție</a:t>
            </a:r>
            <a:r>
              <a:rPr lang="en-US" b="1" dirty="0"/>
              <a:t> care </a:t>
            </a:r>
            <a:r>
              <a:rPr lang="ro-RO" b="1" dirty="0"/>
              <a:t>primește ca parametru de intrare adresa de email a unui utilizator și </a:t>
            </a:r>
            <a:r>
              <a:rPr lang="en-US" b="1" dirty="0" err="1"/>
              <a:t>afișează</a:t>
            </a:r>
            <a:r>
              <a:rPr lang="ro-RO" b="1" dirty="0"/>
              <a:t> numele tipului de restaurant, </a:t>
            </a:r>
            <a:r>
              <a:rPr lang="en-US" b="1" dirty="0" err="1"/>
              <a:t>numele</a:t>
            </a:r>
            <a:r>
              <a:rPr lang="en-US" b="1" dirty="0"/>
              <a:t> </a:t>
            </a:r>
            <a:r>
              <a:rPr lang="ro-RO" b="1" dirty="0"/>
              <a:t>și numărul de telefon al </a:t>
            </a:r>
            <a:r>
              <a:rPr lang="en-US" b="1" dirty="0" err="1"/>
              <a:t>restaurantului</a:t>
            </a:r>
            <a:r>
              <a:rPr lang="ro-RO" b="1" dirty="0"/>
              <a:t>, orașul, nota, numele și adresa de email a utilizatorului pentru toate evaluările utilizatorului care are adresa de email egală cu cea transmisă prin intermediul parametrului de intrare</a:t>
            </a:r>
            <a:r>
              <a:rPr lang="en-US" b="1" dirty="0"/>
              <a:t>. </a:t>
            </a:r>
            <a:r>
              <a:rPr lang="ro-RO" b="1" dirty="0"/>
              <a:t>(</a:t>
            </a:r>
            <a:r>
              <a:rPr lang="en-US" b="1" dirty="0"/>
              <a:t>2</a:t>
            </a:r>
            <a:r>
              <a:rPr lang="ro-RO" b="1" dirty="0"/>
              <a:t> puncte)</a:t>
            </a:r>
          </a:p>
          <a:p>
            <a:r>
              <a:rPr lang="ro-RO" dirty="0"/>
              <a:t>Oficiu - </a:t>
            </a:r>
            <a:r>
              <a:rPr lang="en-US" dirty="0"/>
              <a:t>1</a:t>
            </a:r>
            <a:r>
              <a:rPr lang="ro-RO" dirty="0"/>
              <a:t> punct</a:t>
            </a:r>
            <a:endParaRPr lang="en-US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214967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cean 16x9">
  <a:themeElements>
    <a:clrScheme name="Ocean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4557A1"/>
      </a:accent1>
      <a:accent2>
        <a:srgbClr val="3691AA"/>
      </a:accent2>
      <a:accent3>
        <a:srgbClr val="893768"/>
      </a:accent3>
      <a:accent4>
        <a:srgbClr val="4E8542"/>
      </a:accent4>
      <a:accent5>
        <a:srgbClr val="A25A12"/>
      </a:accent5>
      <a:accent6>
        <a:srgbClr val="C19859"/>
      </a:accent6>
      <a:hlink>
        <a:srgbClr val="6B9F25"/>
      </a:hlink>
      <a:folHlink>
        <a:srgbClr val="B26B02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308757_TF02895256" id="{3618AF2C-E955-4D87-AA77-A632EB049885}" vid="{2F1D0CFD-78FA-41B2-9059-A58E1373FFEB}"/>
    </a:ext>
  </a:extLst>
</a:theme>
</file>

<file path=ppt/theme/theme2.xml><?xml version="1.0" encoding="utf-8"?>
<a:theme xmlns:a="http://schemas.openxmlformats.org/drawingml/2006/main" name="Temă Office">
  <a:themeElements>
    <a:clrScheme name="Ocean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4557A1"/>
      </a:accent1>
      <a:accent2>
        <a:srgbClr val="3691AA"/>
      </a:accent2>
      <a:accent3>
        <a:srgbClr val="893768"/>
      </a:accent3>
      <a:accent4>
        <a:srgbClr val="4E8542"/>
      </a:accent4>
      <a:accent5>
        <a:srgbClr val="A25A12"/>
      </a:accent5>
      <a:accent6>
        <a:srgbClr val="C19859"/>
      </a:accent6>
      <a:hlink>
        <a:srgbClr val="6B9F25"/>
      </a:hlink>
      <a:folHlink>
        <a:srgbClr val="B26B02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ă Office">
  <a:themeElements>
    <a:clrScheme name="Ocean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4557A1"/>
      </a:accent1>
      <a:accent2>
        <a:srgbClr val="3691AA"/>
      </a:accent2>
      <a:accent3>
        <a:srgbClr val="893768"/>
      </a:accent3>
      <a:accent4>
        <a:srgbClr val="4E8542"/>
      </a:accent4>
      <a:accent5>
        <a:srgbClr val="A25A12"/>
      </a:accent5>
      <a:accent6>
        <a:srgbClr val="C19859"/>
      </a:accent6>
      <a:hlink>
        <a:srgbClr val="6B9F25"/>
      </a:hlink>
      <a:folHlink>
        <a:srgbClr val="B26B02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D88A48650F9741BF9B7C709494C35B" ma:contentTypeVersion="3" ma:contentTypeDescription="Create a new document." ma:contentTypeScope="" ma:versionID="49808481200db64cb568cd528b4a2da1">
  <xsd:schema xmlns:xsd="http://www.w3.org/2001/XMLSchema" xmlns:xs="http://www.w3.org/2001/XMLSchema" xmlns:p="http://schemas.microsoft.com/office/2006/metadata/properties" xmlns:ns2="e93771f4-8680-4d7b-a030-d4f7bec17881" targetNamespace="http://schemas.microsoft.com/office/2006/metadata/properties" ma:root="true" ma:fieldsID="ac410fccd40da3bfded973d0b85a08a5" ns2:_="">
    <xsd:import namespace="e93771f4-8680-4d7b-a030-d4f7bec1788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3771f4-8680-4d7b-a030-d4f7bec178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6607D9C-2E74-4A98-B720-C791F04819B7}"/>
</file>

<file path=customXml/itemProps2.xml><?xml version="1.0" encoding="utf-8"?>
<ds:datastoreItem xmlns:ds="http://schemas.openxmlformats.org/officeDocument/2006/customXml" ds:itemID="{39F5091C-402F-4C4A-A374-0FDE6A8CD9F1}"/>
</file>

<file path=customXml/itemProps3.xml><?xml version="1.0" encoding="utf-8"?>
<ds:datastoreItem xmlns:ds="http://schemas.openxmlformats.org/officeDocument/2006/customXml" ds:itemID="{AC814D4A-173D-4F60-96E0-887CC13D5736}"/>
</file>

<file path=docProps/app.xml><?xml version="1.0" encoding="utf-8"?>
<Properties xmlns="http://schemas.openxmlformats.org/officeDocument/2006/extended-properties" xmlns:vt="http://schemas.openxmlformats.org/officeDocument/2006/docPropsVTypes">
  <Template>Prezentare cu pictură Ocean (ecran lat)</Template>
  <TotalTime>221</TotalTime>
  <Words>516</Words>
  <Application>Microsoft Office PowerPoint</Application>
  <PresentationFormat>Widescreen</PresentationFormat>
  <Paragraphs>24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Georgia</vt:lpstr>
      <vt:lpstr>Georgia (Body)</vt:lpstr>
      <vt:lpstr>Ocean 16x9</vt:lpstr>
      <vt:lpstr>Exemple de probleme pentru examenul practic</vt:lpstr>
      <vt:lpstr>Varianta 1</vt:lpstr>
      <vt:lpstr>Cerințe</vt:lpstr>
      <vt:lpstr>Varianta 2</vt:lpstr>
      <vt:lpstr>Cerințe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Exemple de probleme pentru examenul practic</dc:title>
  <dc:creator>Camelia Andor</dc:creator>
  <cp:lastModifiedBy>Camelia - Florina Andor</cp:lastModifiedBy>
  <cp:revision>9</cp:revision>
  <dcterms:created xsi:type="dcterms:W3CDTF">2023-12-08T18:55:08Z</dcterms:created>
  <dcterms:modified xsi:type="dcterms:W3CDTF">2025-12-08T19:51:16Z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0x01010018D88A48650F9741BF9B7C709494C35B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