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67760"/>
            <a:ext cx="3256200" cy="156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9782C50A-994B-4977-9801-5F161349157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63720" y="3934080"/>
            <a:ext cx="43596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F74DB555-EAB9-4E0B-8E52-2A6BBB3A0A5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3194640"/>
            <a:ext cx="3873960" cy="173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87480" y="3388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4587480" y="2573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587480" y="379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587480" y="420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4587480" y="21661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4587480" y="29808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587480" y="4611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587480" y="17586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0"/>
          <p:cNvSpPr>
            <a:spLocks noGrp="1"/>
          </p:cNvSpPr>
          <p:nvPr>
            <p:ph type="sldNum" idx="3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4B3BF9C5-68F9-46E4-A4E2-62E887637D05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43621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D550B9D-5C6F-4ECB-AB72-E703C52B76A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94D8FA2-49C9-47FA-B8BF-0ACF4CB1C395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343320" y="3076200"/>
            <a:ext cx="3400200" cy="185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ldNum" idx="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E5F0D5BF-3C1F-480A-859F-03AA7595862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43080" y="2571840"/>
            <a:ext cx="3141720" cy="22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sldNum" idx="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ED981D18-03F6-46F7-A8F2-9D005FC11F1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01360" y="3379680"/>
            <a:ext cx="2731320" cy="15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28600" y="119556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228600" y="2102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218088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E8F5D146-05A5-4208-884A-286C79B2EAF1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256200" cy="156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0C8F4C63-C03F-486F-935E-0B87EE5A6C8D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800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2A8F30E5-3146-455B-A9B2-C7876773B99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11;p20"/>
          <p:cNvSpPr/>
          <p:nvPr/>
        </p:nvSpPr>
        <p:spPr>
          <a:xfrm>
            <a:off x="5655600" y="3925440"/>
            <a:ext cx="32464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just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Spline Sans"/>
                <a:ea typeface="Spline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801880" y="3453120"/>
            <a:ext cx="61131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28600" y="190080"/>
            <a:ext cx="165168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E73E551B-13A8-4776-B934-B58842966C5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1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2E4D8C62-AED8-45BE-9D35-072C03067AD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" name="Google Shape;114;p21"/>
          <p:cNvGrpSpPr/>
          <p:nvPr/>
        </p:nvGrpSpPr>
        <p:grpSpPr>
          <a:xfrm>
            <a:off x="228600" y="228600"/>
            <a:ext cx="8686800" cy="4686120"/>
            <a:chOff x="228600" y="228600"/>
            <a:chExt cx="8686800" cy="4686120"/>
          </a:xfrm>
        </p:grpSpPr>
        <p:cxnSp>
          <p:nvCxnSpPr>
            <p:cNvPr id="40" name="Google Shape;115;p21"/>
            <p:cNvCxnSpPr/>
            <p:nvPr/>
          </p:nvCxnSpPr>
          <p:spPr>
            <a:xfrm>
              <a:off x="1321920" y="424872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1" name="Google Shape;116;p21"/>
            <p:cNvCxnSpPr/>
            <p:nvPr/>
          </p:nvCxnSpPr>
          <p:spPr>
            <a:xfrm>
              <a:off x="1321920" y="402012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2" name="Google Shape;117;p21"/>
            <p:cNvCxnSpPr/>
            <p:nvPr/>
          </p:nvCxnSpPr>
          <p:spPr>
            <a:xfrm flipH="1">
              <a:off x="1196640" y="413460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3" name="Google Shape;118;p21"/>
            <p:cNvCxnSpPr/>
            <p:nvPr/>
          </p:nvCxnSpPr>
          <p:spPr>
            <a:xfrm flipH="1">
              <a:off x="1321920" y="2286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4" name="Google Shape;119;p21"/>
            <p:cNvCxnSpPr/>
            <p:nvPr/>
          </p:nvCxnSpPr>
          <p:spPr>
            <a:xfrm flipH="1">
              <a:off x="1425240" y="4134600"/>
              <a:ext cx="74905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5" name="Google Shape;120;p21"/>
            <p:cNvCxnSpPr/>
            <p:nvPr/>
          </p:nvCxnSpPr>
          <p:spPr>
            <a:xfrm flipH="1">
              <a:off x="228600" y="4134600"/>
              <a:ext cx="968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3"/>
          </p:nvPr>
        </p:nvSpPr>
        <p:spPr>
          <a:xfrm>
            <a:off x="1314360" y="17856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DFF7E600-918F-4AD4-81A4-761AFAC25A4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7" name="Google Shape;123;p22"/>
          <p:cNvGrpSpPr/>
          <p:nvPr/>
        </p:nvGrpSpPr>
        <p:grpSpPr>
          <a:xfrm>
            <a:off x="228240" y="228240"/>
            <a:ext cx="8687160" cy="4686480"/>
            <a:chOff x="228240" y="228240"/>
            <a:chExt cx="8687160" cy="4686480"/>
          </a:xfrm>
        </p:grpSpPr>
        <p:cxnSp>
          <p:nvCxnSpPr>
            <p:cNvPr id="48" name="Google Shape;124;p22"/>
            <p:cNvCxnSpPr/>
            <p:nvPr/>
          </p:nvCxnSpPr>
          <p:spPr>
            <a:xfrm flipV="1">
              <a:off x="2404800" y="22824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9" name="Google Shape;125;p22"/>
            <p:cNvCxnSpPr/>
            <p:nvPr/>
          </p:nvCxnSpPr>
          <p:spPr>
            <a:xfrm flipV="1">
              <a:off x="2404800" y="89424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0" name="Google Shape;126;p22"/>
            <p:cNvCxnSpPr/>
            <p:nvPr/>
          </p:nvCxnSpPr>
          <p:spPr>
            <a:xfrm flipH="1">
              <a:off x="2279520" y="10087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1" name="Google Shape;127;p22"/>
            <p:cNvCxnSpPr/>
            <p:nvPr/>
          </p:nvCxnSpPr>
          <p:spPr>
            <a:xfrm flipH="1" flipV="1">
              <a:off x="2404800" y="11232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2" name="Google Shape;128;p22"/>
            <p:cNvCxnSpPr/>
            <p:nvPr/>
          </p:nvCxnSpPr>
          <p:spPr>
            <a:xfrm flipH="1">
              <a:off x="2507760" y="1008720"/>
              <a:ext cx="64080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3" name="Google Shape;129;p22"/>
            <p:cNvCxnSpPr/>
            <p:nvPr/>
          </p:nvCxnSpPr>
          <p:spPr>
            <a:xfrm flipH="1">
              <a:off x="228240" y="1008720"/>
              <a:ext cx="20516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28600" y="149868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1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B4B6B8A-C2FC-432D-ADFE-C4B08B7D607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11652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1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AC19550F-BD42-4551-BC96-7B4FEBEC591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sldNum" idx="1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59A73BCB-320F-4260-B938-C086FF702A1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2169720" cy="158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1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E14EE36-EC55-4D3B-8BE0-DFFB3B283E45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ldNum" idx="1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96B43D52-2BAD-449B-990B-E1DA135F662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3727440"/>
            <a:ext cx="434304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sldNum" idx="1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FA55209-FE14-4A27-B98C-A40C5C6FAB5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5620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2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AC82B67-3595-4BE2-A99F-B43D642E1C1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3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145;p27"/>
          <p:cNvGrpSpPr/>
          <p:nvPr/>
        </p:nvGrpSpPr>
        <p:grpSpPr>
          <a:xfrm>
            <a:off x="212760" y="236520"/>
            <a:ext cx="8692920" cy="4674600"/>
            <a:chOff x="212760" y="236520"/>
            <a:chExt cx="8692920" cy="4674600"/>
          </a:xfrm>
        </p:grpSpPr>
        <p:cxnSp>
          <p:nvCxnSpPr>
            <p:cNvPr id="76" name="Google Shape;146;p27"/>
            <p:cNvCxnSpPr/>
            <p:nvPr/>
          </p:nvCxnSpPr>
          <p:spPr>
            <a:xfrm>
              <a:off x="4568040" y="2685960"/>
              <a:ext cx="360" cy="222552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77" name="Google Shape;147;p27"/>
            <p:cNvCxnSpPr/>
            <p:nvPr/>
          </p:nvCxnSpPr>
          <p:spPr>
            <a:xfrm>
              <a:off x="4568040" y="245736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8" name="Google Shape;148;p27"/>
            <p:cNvCxnSpPr/>
            <p:nvPr/>
          </p:nvCxnSpPr>
          <p:spPr>
            <a:xfrm>
              <a:off x="4464720" y="257148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9" name="Google Shape;149;p27"/>
            <p:cNvCxnSpPr/>
            <p:nvPr/>
          </p:nvCxnSpPr>
          <p:spPr>
            <a:xfrm>
              <a:off x="4568040" y="236520"/>
              <a:ext cx="360" cy="2221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0" name="Google Shape;150;p27"/>
            <p:cNvCxnSpPr/>
            <p:nvPr/>
          </p:nvCxnSpPr>
          <p:spPr>
            <a:xfrm>
              <a:off x="212760" y="2571480"/>
              <a:ext cx="42523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1" name="Google Shape;151;p27"/>
            <p:cNvCxnSpPr/>
            <p:nvPr/>
          </p:nvCxnSpPr>
          <p:spPr>
            <a:xfrm>
              <a:off x="4693320" y="2571480"/>
              <a:ext cx="4212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8600" y="171360"/>
            <a:ext cx="325728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Școlară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743880" y="4143240"/>
            <a:ext cx="2171520" cy="7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Strategii și tipuri de itemi pedagogici esențiali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9E19B7F-9A1D-4F08-94E8-1DFC4EA29A3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155;p27"/>
          <p:cNvSpPr/>
          <p:nvPr/>
        </p:nvSpPr>
        <p:spPr>
          <a:xfrm>
            <a:off x="212760" y="4221023"/>
            <a:ext cx="1942920" cy="615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dirty="0">
                <a:solidFill>
                  <a:schemeClr val="accent1"/>
                </a:solidFill>
                <a:latin typeface="Arial"/>
              </a:rPr>
              <a:t>Opri</a:t>
            </a:r>
            <a:r>
              <a:rPr lang="ro-RO" sz="1000" dirty="0">
                <a:solidFill>
                  <a:schemeClr val="accent1"/>
                </a:solidFill>
                <a:latin typeface="Arial"/>
              </a:rPr>
              <a:t>ș Matia-Elisei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o-RO" sz="1000" b="0" u="none" strike="noStrike" dirty="0">
                <a:solidFill>
                  <a:schemeClr val="accent1"/>
                </a:solidFill>
                <a:effectLst/>
                <a:uFillTx/>
                <a:latin typeface="Arial"/>
              </a:rPr>
              <a:t>Miheț Marius</a:t>
            </a:r>
            <a:r>
              <a:rPr lang="en-US" sz="1000" b="0" u="none" strike="noStrike" dirty="0">
                <a:solidFill>
                  <a:schemeClr val="accent1"/>
                </a:solidFill>
                <a:effectLst/>
                <a:uFillTx/>
                <a:latin typeface="Arial"/>
              </a:rPr>
              <a:t>-</a:t>
            </a:r>
            <a:r>
              <a:rPr lang="ro-RO" sz="1000" b="0" u="none" strike="noStrike" dirty="0">
                <a:solidFill>
                  <a:schemeClr val="accent1"/>
                </a:solidFill>
                <a:effectLst/>
                <a:uFillTx/>
                <a:latin typeface="Arial"/>
              </a:rPr>
              <a:t>Ștefan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o-RO" sz="1000" dirty="0">
                <a:solidFill>
                  <a:schemeClr val="accent1"/>
                </a:solidFill>
                <a:latin typeface="Arial"/>
              </a:rPr>
              <a:t>Mintar Dinu-Dragoș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o-RO" sz="1000" b="0" u="none" strike="noStrike" dirty="0">
                <a:solidFill>
                  <a:schemeClr val="accent1"/>
                </a:solidFill>
                <a:effectLst/>
                <a:uFillTx/>
                <a:latin typeface="Arial"/>
              </a:rPr>
              <a:t>Daniș Georgian Cătălin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87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8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89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90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1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2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Introducere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Un proces complex: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Nu doar o notă, ci un ansamblu de strategii și instrumente (itemi pedagogici).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Scopul principal: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Radiografierea clară a nivelului de cunoștințe și competențe ale elevilor.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Finalitatea: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Identificarea progresului școlar.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Îmbunătățirea continuă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procesului educațional.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5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3"/>
          <p:cNvSpPr>
            <a:spLocks noGrp="1"/>
          </p:cNvSpPr>
          <p:nvPr>
            <p:ph type="sldNum" idx="22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505D411-4FDA-440F-BD9F-2C1DD184771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98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9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00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01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2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3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Strategii de evaluare a rezultatelor școlare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Spline Sans"/>
              <a:ea typeface="Spline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23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F45C15C6-DFC3-4750-BA21-886F266F246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08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9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0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1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2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3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formativă și sumativă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Inițială (Diagnostică):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Se realizează la începutul programului de instruire pentru a stabili nivelul de pregătire al elevilor și a adapta predarea.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Formativă (Continuă):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Urmărește să ofere feedback constant pe parcursul învățării, facilitând ajustările necesare și îmbunătățirea performanțelor în timp real.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Sumativă (Finală):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Măsoară realizările elevilor la finalul unui ciclu educațional, oferind o imagine de ansamblu și o certificare a nivelului de competență atins.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4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BC3E9CE-4946-4502-903B-92F7019F602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18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criterială și normativă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Criterială: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Compară performanța elevului cu un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set clar de standarde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(obiective educaționale), ajutând la măsurarea obiectivă a competențelor.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(Se verifică ce știe elevul, nu ce știe colegul său).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Evaluarea Normativă: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Situează rezultatele elevului în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raport cu performanțele grupului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evidențiind poziționarea relativă într-un context de învățare competitiv.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(Stabilește ierarhii: cine este primul, cine este ultimul).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778F86B-08D4-4EF5-90D1-03DB39C00D6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28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9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30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31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32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33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Feedback constructiv și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autoevaluare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Feedback-ul constructiv: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Sprijină îmbunătățirea continuă prin evidențierea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punctelor forte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și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oportunităților de dezvoltare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(nu doar corectarea erorilor).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Autoevaluarea: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Promovează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autonomia elevilor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stimulând două aspecte esențiale: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1. Reflexia critică asupra propriilor performanțe.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1. Implicarea activă în propriul proces de învățare.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6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3"/>
          <p:cNvSpPr>
            <a:spLocks noGrp="1"/>
          </p:cNvSpPr>
          <p:nvPr>
            <p:ph type="sldNum" idx="26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96489A5-87B9-44D6-ABB5-0319E584A947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39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4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42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3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4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Tipuri de itemi pedagogici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Spline Sans"/>
              <a:ea typeface="Spline San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27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DDCD53BB-BC35-4D57-9A94-D9FD60D470C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49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0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51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52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3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4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 închis - alegere multiplă,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adevărat/fals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Utilitate: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Sunt eficienți pentru evaluarea rapidă a cunoștințelor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factuale și conceptuale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(ceea ce elevul a memorat sau a înțeles exact).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Exemple concrete: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Întrebări cu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alegere multiplă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(tip grilă).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Itemi de tip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Adevărat / Fals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(alegere duală).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Avantaj major: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Asigură o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corectare obiectivă și standardizată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eliminând subiectivitatea profesorului și facilitând analiza cantitativă a rezultatelor.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7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PlaceHolder 3"/>
          <p:cNvSpPr>
            <a:spLocks noGrp="1"/>
          </p:cNvSpPr>
          <p:nvPr>
            <p:ph type="sldNum" idx="28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4C6FBAD-D85A-435C-8222-328B7A0BFCED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60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1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2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3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4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5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 deschis - răspuns scurt și eseu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Mecanism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Spre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deosebire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grilă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acești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solicită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elevilor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formularea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răspunsurilor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proprii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construirea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răspunsului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Tipologie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Se pot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realiza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prin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Formulări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scurte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semiobiectivi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- ex: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completarea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unei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fraze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</a:t>
            </a:r>
            <a:r>
              <a:rPr lang="ro-RO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Eseuri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argumentate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subiectivi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- ex: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comentarii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rezolvări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probleme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testează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Verifică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capacități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superioare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precum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exprimarea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sinteza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reflecția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critică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Rezultatul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evaluării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Oferă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o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imagine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complexă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asupra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profunzimii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înțelegerii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competențelor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comunicare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scrisă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29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F9EB4D01-6DF9-4BDF-949E-71D99392799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70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1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3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5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Itemi de performanță și proiecte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Conexiunea cu realitatea: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Itemii de performanță implică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sarcini practice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care reflectă situații reale de viață, solicitând elevului să aplice efectiv cunoștințele (să știe „să facă”, nu doar „să știe”).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Metoda Proiectului: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Permite evaluarea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competențelor complexe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și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creativității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oferind timp pentru aprofundare, spre deosebire de un test clasic limitat de timp.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Abilități transversale verificate: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Sunt instrumente ideale pentru aprecierea unor capacități esențiale în viața reală: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Planificare și organizare.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Cooperare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(lucrul în echipă).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Adaptarea la contexte educaționale diverse.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9467CF6-5D4A-4800-ABC6-920736E024D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10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80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1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82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83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4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5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Planificarea evaluării eficiente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Spline Sans"/>
              <a:ea typeface="Spline Sans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3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5BCEDFCB-232C-435E-B4E6-EAC9CD2508B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90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91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92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93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94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95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Stabilirea obiectivelor clare de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evaluare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20000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Punctul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plecare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Stabilirea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obiectivelor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precise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este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pasul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esențial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care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ghidează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întregul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demers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(Nu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putem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dacă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nu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știm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i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urmărim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Caracteristicile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obiectivelor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Acestea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trebuie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fie: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1.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Măsurabile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poată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fi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cuantificate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o-RO" sz="1200" dirty="0">
                <a:solidFill>
                  <a:schemeClr val="dk1"/>
                </a:solidFill>
                <a:latin typeface="Spline Sans"/>
                <a:ea typeface="Spline Sans"/>
              </a:rPr>
              <a:t>2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Realiste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adaptate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nivelului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clasei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o-RO" sz="1200" dirty="0">
                <a:solidFill>
                  <a:schemeClr val="dk1"/>
                </a:solidFill>
                <a:latin typeface="Spline Sans"/>
                <a:ea typeface="Spline Sans"/>
              </a:rPr>
              <a:t>3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Aliniate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cu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competențele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vizate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programă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Rezultatul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Asigurarea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coerenței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obligatorii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între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predăm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evaluăm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98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3"/>
          <p:cNvSpPr>
            <a:spLocks noGrp="1"/>
          </p:cNvSpPr>
          <p:nvPr>
            <p:ph type="sldNum" idx="32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4ED8E35A-43BB-4B88-BDDA-84273E654C4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01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02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03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04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05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06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Alegerea metodei potrivite de evaluare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Criterii de selecție: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Metoda de evaluare nu se alege aleatoriu, ci în funcție de două variabile majore: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Natura competențelor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(ce vrem să testăm: teorie sau practică?).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Contextul educațional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(resursele disponibile, timpul, nivelul clasei).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Indicatorii de calitate: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O selecție adecvată garantează cei doi piloni ai unei evaluări corecte: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Validitatea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(măsurăm exact ceea ce ne-am propus).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Fidelitatea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(rezultatele sunt constante și de încredere).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Rezultatul: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Asigurarea unei evaluări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corecte și relevante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învățării.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3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C46B5AB-79CC-400A-BF64-DEE109DEC87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11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12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13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14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15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16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Adaptarea evaluării la diversitatea elevilor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Centrarea pe elev: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Evaluarea trebuie să țină cont de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nevoile și particularitățile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fiecărui elev, respectând: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Diversitatea culturală.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Stilurile variate de învățare (vizual, auditiv, practic).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Acțiunea profesorului: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Este necesară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adaptarea instrumentelor și metodelor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evaluare (flexibilizare), nu aplicarea rigidă a unui standard unic.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Finalitatea: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Această abordare promovează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echitatea și incluziunea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reală în procesul educațional.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4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47CBF2E-887E-4994-82BF-D5F1E303245D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21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22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23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24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25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26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Analiza și interpretarea rezultatelor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Spline Sans"/>
              <a:ea typeface="Spline San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3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7B92066A-032C-486D-82FB-501CE2FBF9B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231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32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33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34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35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36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Interpretarea datelor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evaluative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0000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Scopul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principal (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Validarea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Interpretarea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corectă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datelor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este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crucială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măsura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exact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nivelul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realizare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al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obiectivelor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educaționale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cât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mult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s-a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atins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din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ne-am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propus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Funcția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diagnostică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Permite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identificarea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concretă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ariilor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necesită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îmbunătățiri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lacunele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elevilor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sau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punctele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slabe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ale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predării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Condiții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calitate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fi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validă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interpretarea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nu se face „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după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ureche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”, ci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trebuie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fie:li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Riguroasă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bazată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date, nu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impresii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-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Susținută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criterii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clare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evaluare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39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PlaceHolder 3"/>
          <p:cNvSpPr>
            <a:spLocks noGrp="1"/>
          </p:cNvSpPr>
          <p:nvPr>
            <p:ph type="sldNum" idx="36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9FCB36F4-356F-404B-87CD-EAD33B895AE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42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43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44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45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46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47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Utilizarea rezultatelor pentru îmbunătățire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Rolul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strategic: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Rezultatele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nu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sunt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doar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statistici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ci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informații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esențiale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planificarea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strategiilor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viitoare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(de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remediere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consolidare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sau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performanță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Impactul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dual: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Analiza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datelor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vizează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îmbunătățirea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simultană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1.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Predării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profesorul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își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ajustează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metodele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o-RO" sz="1200" dirty="0">
                <a:solidFill>
                  <a:schemeClr val="dk1"/>
                </a:solidFill>
                <a:latin typeface="Spline Sans"/>
                <a:ea typeface="Spline Sans"/>
              </a:rPr>
              <a:t>2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Învățării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elevul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își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corectează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lacunele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Finalitatea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Folosirea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acestor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date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mod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constructiv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(nu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punitiv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contribuie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decisiv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la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creșterea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calității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întregului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proces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educațional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37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F943B20-A33C-4AAF-AF80-9D0BDD8C0EC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52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53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54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55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56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57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Comunicarea rezultatelor către părțile interesate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Parteneriatul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educațional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Comunicarea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eficientă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rezultatelor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vizează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toți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actorii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implicați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elevi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părinți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alte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cadre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didactice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asigurând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transparența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decizională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Rolul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comunicării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Susține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colaborarea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școală-familie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în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vederea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atingerii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obiectivelor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educaționale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comune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Calitatea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mesajului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fi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receptat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corect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mesajul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trebuie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fie: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1.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Clar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fără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ambiguități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o-RO" sz="1200" dirty="0">
                <a:solidFill>
                  <a:schemeClr val="dk1"/>
                </a:solidFill>
                <a:latin typeface="Spline Sans"/>
                <a:ea typeface="Spline Sans"/>
              </a:rPr>
              <a:t>2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Constructiv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orientat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spre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progres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nu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spre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critică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o-RO" sz="1200" dirty="0">
                <a:solidFill>
                  <a:schemeClr val="dk1"/>
                </a:solidFill>
                <a:latin typeface="Spline Sans"/>
                <a:ea typeface="Spline Sans"/>
              </a:rPr>
              <a:t>3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Adaptat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audienței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(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limbaj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accesibil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părinți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/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elevi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vs.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limbaj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tehnic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pentru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colegi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).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38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F1291E6-0FCC-4715-A1F5-CBEC1B3F34B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62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3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64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65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6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7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Concluzii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Abordarea Integrată: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Implementarea unor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strategii variate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și utilizarea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tipurilor diverse de itemi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sunt condiții obligatorii pentru o evaluare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comprehensivă și echitabilă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Managementul Calității:Planificarea riguroasă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și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interpretarea atentă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rezultatelor transformă evaluarea într-un instrument de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dezvoltare continuă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 procesului educațional.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Finalitatea: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Un sistem de evaluare corect susține simultan două obiective majore: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performanța școlară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și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incluziunea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39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7A4416E-25BA-4B54-8355-35156C82E7D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262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3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64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265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6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67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o-RO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Bibliografie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ro-RO" sz="1200" b="1" dirty="0"/>
              <a:t>1. </a:t>
            </a:r>
            <a:r>
              <a:rPr lang="vi-VN" sz="1200" b="1" dirty="0"/>
              <a:t>Centrul Național de Politici și Evaluare în Educație (CNPEE)</a:t>
            </a:r>
            <a:endParaRPr lang="vi-VN" sz="1200" dirty="0"/>
          </a:p>
          <a:p>
            <a:r>
              <a:rPr lang="vi-VN" sz="1200" i="1" dirty="0"/>
              <a:t>www.rocnee.eu</a:t>
            </a:r>
            <a:r>
              <a:rPr lang="vi-VN" sz="1200" dirty="0"/>
              <a:t> – Sursa oficială pentru elaborarea itemilor de examen și a metodologiilor de evaluare din România.</a:t>
            </a:r>
          </a:p>
          <a:p>
            <a:r>
              <a:rPr lang="ro-RO" sz="1200" b="1" dirty="0"/>
              <a:t>2. </a:t>
            </a:r>
            <a:r>
              <a:rPr lang="vi-VN" sz="1200" b="1" dirty="0"/>
              <a:t>Ministerul Educației</a:t>
            </a:r>
            <a:endParaRPr lang="vi-VN" sz="1200" dirty="0"/>
          </a:p>
          <a:p>
            <a:r>
              <a:rPr lang="vi-VN" sz="1200" i="1" dirty="0"/>
              <a:t>www.edu.ro</a:t>
            </a:r>
            <a:r>
              <a:rPr lang="vi-VN" sz="1200" dirty="0"/>
              <a:t> – Secțiunea dedicată învățământului preuniversitar și ghidurilor metodologice.</a:t>
            </a:r>
          </a:p>
          <a:p>
            <a:r>
              <a:rPr lang="ro-RO" sz="1200" b="1" dirty="0"/>
              <a:t>3. </a:t>
            </a:r>
            <a:r>
              <a:rPr lang="vi-VN" sz="1200" b="1" dirty="0"/>
              <a:t>Institutul de Științe ale Educației (ISE)</a:t>
            </a:r>
            <a:endParaRPr lang="vi-VN" sz="1200" dirty="0"/>
          </a:p>
          <a:p>
            <a:r>
              <a:rPr lang="vi-VN" sz="1200" i="1" dirty="0"/>
              <a:t>www.ise.ro</a:t>
            </a:r>
            <a:r>
              <a:rPr lang="vi-VN" sz="1200" dirty="0"/>
              <a:t> – Studii și cercetări privind strategiile de evaluare și politicile educaționale.</a:t>
            </a:r>
          </a:p>
          <a:p>
            <a:r>
              <a:rPr lang="ro-RO" sz="1200" b="1" dirty="0"/>
              <a:t>4. </a:t>
            </a:r>
            <a:r>
              <a:rPr lang="vi-VN" sz="1200" b="1" dirty="0"/>
              <a:t>Portalul eLearning.ro</a:t>
            </a:r>
            <a:endParaRPr lang="vi-VN" sz="1200" dirty="0"/>
          </a:p>
          <a:p>
            <a:r>
              <a:rPr lang="vi-VN" sz="1200" i="1" dirty="0"/>
              <a:t>www.elearning.ro</a:t>
            </a:r>
            <a:r>
              <a:rPr lang="vi-VN" sz="1200" dirty="0"/>
              <a:t> – Articole despre evaluarea digitală și metode moderne (pentru partea de strategii alternative).</a:t>
            </a:r>
          </a:p>
        </p:txBody>
      </p:sp>
      <p:sp>
        <p:nvSpPr>
          <p:cNvPr id="270" name="PlaceHolder 3"/>
          <p:cNvSpPr>
            <a:spLocks noGrp="1"/>
          </p:cNvSpPr>
          <p:nvPr>
            <p:ph type="sldNum" idx="429496729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7A4416E-25BA-4B54-8355-35156C82E7D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20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027930666"/>
      </p:ext>
    </p:extLst>
  </p:cSld>
  <p:clrMapOvr>
    <a:masterClrMapping/>
  </p:clrMapOvr>
</p:sld>
</file>

<file path=ppt/theme/theme1.xml><?xml version="1.0" encoding="utf-8"?>
<a:theme xmlns:a="http://schemas.openxmlformats.org/drawingml/2006/main" name="SWOT Analysis by Slidesgo">
  <a:themeElements>
    <a:clrScheme name="Simple Light">
      <a:dk1>
        <a:srgbClr val="181818"/>
      </a:dk1>
      <a:lt1>
        <a:srgbClr val="E5E2D9"/>
      </a:lt1>
      <a:dk2>
        <a:srgbClr val="181818"/>
      </a:dk2>
      <a:lt2>
        <a:srgbClr val="FDFAFA"/>
      </a:lt2>
      <a:accent1>
        <a:srgbClr val="A9242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1278</Words>
  <Application>Microsoft Office PowerPoint</Application>
  <PresentationFormat>On-screen Show (16:9)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Gloock</vt:lpstr>
      <vt:lpstr>OpenSymbol</vt:lpstr>
      <vt:lpstr>Spline Sans</vt:lpstr>
      <vt:lpstr>Symbol</vt:lpstr>
      <vt:lpstr>Wingdings</vt:lpstr>
      <vt:lpstr>SWOT Analysis by Slidesgo</vt:lpstr>
      <vt:lpstr>Slidesgo Final Pages</vt:lpstr>
      <vt:lpstr>Evaluarea  Școlară</vt:lpstr>
      <vt:lpstr>Introducere</vt:lpstr>
      <vt:lpstr>Strategii de evaluare a rezultatelor școlare</vt:lpstr>
      <vt:lpstr>Evaluarea formativă și sumativă</vt:lpstr>
      <vt:lpstr>Evaluarea criterială și normativă</vt:lpstr>
      <vt:lpstr>Feedback constructiv și  autoevaluare</vt:lpstr>
      <vt:lpstr>Tipuri de itemi pedagogici</vt:lpstr>
      <vt:lpstr>Itemi închis - alegere multiplă,  adevărat/fals</vt:lpstr>
      <vt:lpstr>Itemi deschis - răspuns scurt și eseu</vt:lpstr>
      <vt:lpstr>Itemi de performanță și proiecte</vt:lpstr>
      <vt:lpstr>Planificarea evaluării eficiente</vt:lpstr>
      <vt:lpstr>Stabilirea obiectivelor clare de  evaluare</vt:lpstr>
      <vt:lpstr>Alegerea metodei potrivite de evaluare</vt:lpstr>
      <vt:lpstr>Adaptarea evaluării la diversitatea elevilor</vt:lpstr>
      <vt:lpstr>Analiza și interpretarea rezultatelor</vt:lpstr>
      <vt:lpstr>Interpretarea datelor  evaluative</vt:lpstr>
      <vt:lpstr>Utilizarea rezultatelor pentru îmbunătățire</vt:lpstr>
      <vt:lpstr>Comunicarea rezultatelor către părțile interesate</vt:lpstr>
      <vt:lpstr>Concluzii</vt:lpstr>
      <vt:lpstr>Bibliografie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Evaluarea  Școlară</dc:title>
  <cp:lastModifiedBy>Marius Stefan Mihet</cp:lastModifiedBy>
  <cp:revision>7</cp:revision>
  <dcterms:modified xsi:type="dcterms:W3CDTF">2026-01-09T09:14:01Z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2026-01-08T17:22:57Z</dcterms:created>
  <dc:creator>Unknown Creator</dc:creator>
  <dc:description/>
  <dc:language>en-US</dc:language>
  <cp:lastModifiedBy>Unknown Creator</cp:lastModifiedBy>
  <dcterms:modified xsi:type="dcterms:W3CDTF">2026-01-08T17:22:57Z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