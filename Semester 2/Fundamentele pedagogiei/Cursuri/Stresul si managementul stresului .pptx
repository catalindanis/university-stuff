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4"/>
    <p:sldMasterId id="2147483650" r:id="rId5"/>
    <p:sldMasterId id="2147483657" r:id="rId6"/>
  </p:sldMasterIdLst>
  <p:notesMasterIdLst>
    <p:notesMasterId r:id="rId3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78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9144000" cy="6858000" type="screen4x3"/>
  <p:notesSz cx="6858000" cy="9144000"/>
  <p:embeddedFontLst>
    <p:embeddedFont>
      <p:font typeface="Arial Black" panose="020B0A04020102020204" pitchFamily="34" charset="0"/>
      <p:regular r:id="rId31"/>
      <p:bold r:id="rId32"/>
    </p:embeddedFont>
    <p:embeddedFont>
      <p:font typeface="Book Antiqua" panose="02040602050305030304" pitchFamily="18" charset="0"/>
      <p:regular r:id="rId33"/>
      <p:bold r:id="rId34"/>
      <p:italic r:id="rId35"/>
      <p:boldItalic r:id="rId36"/>
    </p:embeddedFont>
    <p:embeddedFont>
      <p:font typeface="Century Schoolbook" panose="02040604050505020304" pitchFamily="18" charset="0"/>
      <p:regular r:id="rId37"/>
      <p:bold r:id="rId38"/>
      <p:italic r:id="rId39"/>
      <p:boldItalic r:id="rId40"/>
    </p:embeddedFont>
    <p:embeddedFont>
      <p:font typeface="Verdana" panose="020B0604030504040204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5" roundtripDataSignature="AMtx7mgocBIFHEQIFEQ56TKTPXCU8qOU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692B31-367C-5847-95C4-62E42C257884}" v="5" dt="2025-01-16T22:16:32.132"/>
    <p1510:client id="{BA98B34C-A24A-E99B-CD16-9DD03DFEB42C}" v="1" dt="2025-01-17T10:16:08.159"/>
    <p1510:client id="{D2C3DCB3-3774-E559-E2F4-3C44AA38A650}" v="1" dt="2025-01-16T18:40:05.3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font" Target="fonts/font9.fntdata"/><Relationship Id="rId21" Type="http://schemas.openxmlformats.org/officeDocument/2006/relationships/slide" Target="slides/slide15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customschemas.google.com/relationships/presentationmetadata" Target="meta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font" Target="fonts/font6.fntdata"/><Relationship Id="rId49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theme" Target="theme/theme1.xml"/><Relationship Id="rId8" Type="http://schemas.openxmlformats.org/officeDocument/2006/relationships/slide" Target="slides/slide2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presProps" Target="presProps.xml"/><Relationship Id="rId20" Type="http://schemas.openxmlformats.org/officeDocument/2006/relationships/slide" Target="slides/slide14.xml"/><Relationship Id="rId41" Type="http://schemas.openxmlformats.org/officeDocument/2006/relationships/font" Target="fonts/font11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OANA-ALEXANDRA POP" userId="S::ioana.alexandra.pop2@stud.ubbcluj.ro::1ba43a88-5a1c-4f8a-b4c2-1db2fb1afe59" providerId="AD" clId="Web-{D2C3DCB3-3774-E559-E2F4-3C44AA38A650}"/>
    <pc:docChg chg="addSld">
      <pc:chgData name="IOANA-ALEXANDRA POP" userId="S::ioana.alexandra.pop2@stud.ubbcluj.ro::1ba43a88-5a1c-4f8a-b4c2-1db2fb1afe59" providerId="AD" clId="Web-{D2C3DCB3-3774-E559-E2F4-3C44AA38A650}" dt="2025-01-16T18:40:05.349" v="0"/>
      <pc:docMkLst>
        <pc:docMk/>
      </pc:docMkLst>
      <pc:sldChg chg="new">
        <pc:chgData name="IOANA-ALEXANDRA POP" userId="S::ioana.alexandra.pop2@stud.ubbcluj.ro::1ba43a88-5a1c-4f8a-b4c2-1db2fb1afe59" providerId="AD" clId="Web-{D2C3DCB3-3774-E559-E2F4-3C44AA38A650}" dt="2025-01-16T18:40:05.349" v="0"/>
        <pc:sldMkLst>
          <pc:docMk/>
          <pc:sldMk cId="3096377986" sldId="278"/>
        </pc:sldMkLst>
      </pc:sldChg>
    </pc:docChg>
  </pc:docChgLst>
  <pc:docChgLst>
    <pc:chgData name="CARMEN-ELENA OPRINESCU-ȘERBAN" userId="60fd4e80-e0df-4888-9998-1255d3a832d5" providerId="ADAL" clId="{91692B31-367C-5847-95C4-62E42C257884}"/>
    <pc:docChg chg="custSel modSld">
      <pc:chgData name="CARMEN-ELENA OPRINESCU-ȘERBAN" userId="60fd4e80-e0df-4888-9998-1255d3a832d5" providerId="ADAL" clId="{91692B31-367C-5847-95C4-62E42C257884}" dt="2025-01-16T22:16:32.132" v="4" actId="27636"/>
      <pc:docMkLst>
        <pc:docMk/>
      </pc:docMkLst>
      <pc:sldChg chg="modSp mod">
        <pc:chgData name="CARMEN-ELENA OPRINESCU-ȘERBAN" userId="60fd4e80-e0df-4888-9998-1255d3a832d5" providerId="ADAL" clId="{91692B31-367C-5847-95C4-62E42C257884}" dt="2025-01-16T22:16:32.126" v="1" actId="27636"/>
        <pc:sldMkLst>
          <pc:docMk/>
          <pc:sldMk cId="0" sldId="256"/>
        </pc:sldMkLst>
        <pc:spChg chg="mod">
          <ac:chgData name="CARMEN-ELENA OPRINESCU-ȘERBAN" userId="60fd4e80-e0df-4888-9998-1255d3a832d5" providerId="ADAL" clId="{91692B31-367C-5847-95C4-62E42C257884}" dt="2025-01-16T22:16:32.126" v="1" actId="27636"/>
          <ac:spMkLst>
            <pc:docMk/>
            <pc:sldMk cId="0" sldId="256"/>
            <ac:spMk id="115" creationId="{00000000-0000-0000-0000-000000000000}"/>
          </ac:spMkLst>
        </pc:spChg>
      </pc:sldChg>
      <pc:sldChg chg="modSp mod">
        <pc:chgData name="CARMEN-ELENA OPRINESCU-ȘERBAN" userId="60fd4e80-e0df-4888-9998-1255d3a832d5" providerId="ADAL" clId="{91692B31-367C-5847-95C4-62E42C257884}" dt="2025-01-16T22:16:32.127" v="2" actId="27636"/>
        <pc:sldMkLst>
          <pc:docMk/>
          <pc:sldMk cId="0" sldId="258"/>
        </pc:sldMkLst>
        <pc:spChg chg="mod">
          <ac:chgData name="CARMEN-ELENA OPRINESCU-ȘERBAN" userId="60fd4e80-e0df-4888-9998-1255d3a832d5" providerId="ADAL" clId="{91692B31-367C-5847-95C4-62E42C257884}" dt="2025-01-16T22:16:32.127" v="2" actId="27636"/>
          <ac:spMkLst>
            <pc:docMk/>
            <pc:sldMk cId="0" sldId="258"/>
            <ac:spMk id="128" creationId="{00000000-0000-0000-0000-000000000000}"/>
          </ac:spMkLst>
        </pc:spChg>
      </pc:sldChg>
      <pc:sldChg chg="modSp mod">
        <pc:chgData name="CARMEN-ELENA OPRINESCU-ȘERBAN" userId="60fd4e80-e0df-4888-9998-1255d3a832d5" providerId="ADAL" clId="{91692B31-367C-5847-95C4-62E42C257884}" dt="2025-01-16T22:16:32.128" v="3" actId="27636"/>
        <pc:sldMkLst>
          <pc:docMk/>
          <pc:sldMk cId="0" sldId="260"/>
        </pc:sldMkLst>
        <pc:spChg chg="mod">
          <ac:chgData name="CARMEN-ELENA OPRINESCU-ȘERBAN" userId="60fd4e80-e0df-4888-9998-1255d3a832d5" providerId="ADAL" clId="{91692B31-367C-5847-95C4-62E42C257884}" dt="2025-01-16T22:16:32.128" v="3" actId="27636"/>
          <ac:spMkLst>
            <pc:docMk/>
            <pc:sldMk cId="0" sldId="260"/>
            <ac:spMk id="146" creationId="{00000000-0000-0000-0000-000000000000}"/>
          </ac:spMkLst>
        </pc:spChg>
      </pc:sldChg>
      <pc:sldChg chg="modSp mod">
        <pc:chgData name="CARMEN-ELENA OPRINESCU-ȘERBAN" userId="60fd4e80-e0df-4888-9998-1255d3a832d5" providerId="ADAL" clId="{91692B31-367C-5847-95C4-62E42C257884}" dt="2025-01-16T22:16:32.132" v="4" actId="27636"/>
        <pc:sldMkLst>
          <pc:docMk/>
          <pc:sldMk cId="0" sldId="261"/>
        </pc:sldMkLst>
        <pc:spChg chg="mod">
          <ac:chgData name="CARMEN-ELENA OPRINESCU-ȘERBAN" userId="60fd4e80-e0df-4888-9998-1255d3a832d5" providerId="ADAL" clId="{91692B31-367C-5847-95C4-62E42C257884}" dt="2025-01-16T22:16:32.132" v="4" actId="27636"/>
          <ac:spMkLst>
            <pc:docMk/>
            <pc:sldMk cId="0" sldId="261"/>
            <ac:spMk id="152" creationId="{00000000-0000-0000-0000-000000000000}"/>
          </ac:spMkLst>
        </pc:spChg>
      </pc:sldChg>
      <pc:sldChg chg="modSp mod">
        <pc:chgData name="CARMEN-ELENA OPRINESCU-ȘERBAN" userId="60fd4e80-e0df-4888-9998-1255d3a832d5" providerId="ADAL" clId="{91692B31-367C-5847-95C4-62E42C257884}" dt="2025-01-16T22:16:32.111" v="0" actId="27636"/>
        <pc:sldMkLst>
          <pc:docMk/>
          <pc:sldMk cId="0" sldId="266"/>
        </pc:sldMkLst>
        <pc:spChg chg="mod">
          <ac:chgData name="CARMEN-ELENA OPRINESCU-ȘERBAN" userId="60fd4e80-e0df-4888-9998-1255d3a832d5" providerId="ADAL" clId="{91692B31-367C-5847-95C4-62E42C257884}" dt="2025-01-16T22:16:32.111" v="0" actId="27636"/>
          <ac:spMkLst>
            <pc:docMk/>
            <pc:sldMk cId="0" sldId="266"/>
            <ac:spMk id="196" creationId="{00000000-0000-0000-0000-000000000000}"/>
          </ac:spMkLst>
        </pc:spChg>
      </pc:sldChg>
    </pc:docChg>
  </pc:docChgLst>
  <pc:docChgLst>
    <pc:chgData name="BOGDAN-DUMITRU RUSU" userId="S::bogdan.dumitru.rusu@stud.ubbcluj.ro::139251fb-b1e7-4c86-bf1e-7a4d60d7a7c4" providerId="AD" clId="Web-{BA98B34C-A24A-E99B-CD16-9DD03DFEB42C}"/>
    <pc:docChg chg="modSld">
      <pc:chgData name="BOGDAN-DUMITRU RUSU" userId="S::bogdan.dumitru.rusu@stud.ubbcluj.ro::139251fb-b1e7-4c86-bf1e-7a4d60d7a7c4" providerId="AD" clId="Web-{BA98B34C-A24A-E99B-CD16-9DD03DFEB42C}" dt="2025-01-17T10:16:08.144" v="0" actId="1076"/>
      <pc:docMkLst>
        <pc:docMk/>
      </pc:docMkLst>
      <pc:sldChg chg="modSp">
        <pc:chgData name="BOGDAN-DUMITRU RUSU" userId="S::bogdan.dumitru.rusu@stud.ubbcluj.ro::139251fb-b1e7-4c86-bf1e-7a4d60d7a7c4" providerId="AD" clId="Web-{BA98B34C-A24A-E99B-CD16-9DD03DFEB42C}" dt="2025-01-17T10:16:08.144" v="0" actId="1076"/>
        <pc:sldMkLst>
          <pc:docMk/>
          <pc:sldMk cId="0" sldId="260"/>
        </pc:sldMkLst>
        <pc:spChg chg="mod">
          <ac:chgData name="BOGDAN-DUMITRU RUSU" userId="S::bogdan.dumitru.rusu@stud.ubbcluj.ro::139251fb-b1e7-4c86-bf1e-7a4d60d7a7c4" providerId="AD" clId="Web-{BA98B34C-A24A-E99B-CD16-9DD03DFEB42C}" dt="2025-01-17T10:16:08.144" v="0" actId="1076"/>
          <ac:spMkLst>
            <pc:docMk/>
            <pc:sldMk cId="0" sldId="260"/>
            <ac:spMk id="14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/>
          </a:p>
        </p:txBody>
      </p:sp>
      <p:sp>
        <p:nvSpPr>
          <p:cNvPr id="110" name="Google Shape;1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:notes"/>
          <p:cNvSpPr txBox="1"/>
          <p:nvPr/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113" name="Google Shape;113;p1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SEMINAR LA INTRODUCERE IN PSIHOLOGIE, SEM. II, 2014/2015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 txBox="1"/>
          <p:nvPr/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135" name="Google Shape;135;p4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SEMINAR LA INTRODUCERE IN PSIHOLOGIE, SEM. II, 2014/2015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 txBox="1"/>
          <p:nvPr/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144" name="Google Shape;144;p5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SEMINAR LA INTRODUCERE IN PSIHOLOGIE, SEM. II, 2014/2015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/>
          </a:p>
        </p:txBody>
      </p:sp>
      <p:sp>
        <p:nvSpPr>
          <p:cNvPr id="157" name="Google Shape;1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7:notes"/>
          <p:cNvSpPr txBox="1"/>
          <p:nvPr/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160" name="Google Shape;160;p7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SEMINAR LA INTRODUCERE IN PSIHOLOGIE, SEM. II, 2014/2015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/>
          </a:p>
        </p:txBody>
      </p:sp>
      <p:sp>
        <p:nvSpPr>
          <p:cNvPr id="167" name="Google Shape;1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8:notes"/>
          <p:cNvSpPr txBox="1"/>
          <p:nvPr/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170" name="Google Shape;170;p8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SEMINAR LA INTRODUCERE IN PSIHOLOGIE, SEM. II, 2014/2015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/>
          </a:p>
        </p:txBody>
      </p:sp>
      <p:sp>
        <p:nvSpPr>
          <p:cNvPr id="177" name="Google Shape;17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9:notes"/>
          <p:cNvSpPr txBox="1"/>
          <p:nvPr/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180" name="Google Shape;180;p9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SEMINAR LA INTRODUCERE IN PSIHOLOGIE, SEM. II, 2014/2015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/>
          </a:p>
        </p:txBody>
      </p:sp>
      <p:sp>
        <p:nvSpPr>
          <p:cNvPr id="203" name="Google Shape;20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2:notes"/>
          <p:cNvSpPr txBox="1"/>
          <p:nvPr/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206" name="Google Shape;206;p12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SEMINAR LA INTRODUCERE IN PSIHOLOGIE, SEM. II, 2014/2015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/>
          </a:p>
        </p:txBody>
      </p:sp>
      <p:sp>
        <p:nvSpPr>
          <p:cNvPr id="213" name="Google Shape;21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3:notes"/>
          <p:cNvSpPr txBox="1"/>
          <p:nvPr/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216" name="Google Shape;216;p13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SEMINAR LA INTRODUCERE IN PSIHOLOGIE, SEM. II, 2014/2015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/>
          </a:p>
        </p:txBody>
      </p:sp>
      <p:sp>
        <p:nvSpPr>
          <p:cNvPr id="229" name="Google Shape;22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5:notes"/>
          <p:cNvSpPr txBox="1"/>
          <p:nvPr/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232" name="Google Shape;232;p15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SEMINAR LA INTRODUCERE IN PSIHOLOGIE, SEM. II, 2014/2015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/>
          </a:p>
        </p:txBody>
      </p:sp>
      <p:sp>
        <p:nvSpPr>
          <p:cNvPr id="240" name="Google Shape;24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6:notes"/>
          <p:cNvSpPr txBox="1"/>
          <p:nvPr/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243" name="Google Shape;243;p16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SEMINAR LA INTRODUCERE IN PSIHOLOGIE, SEM. II, 2014/2015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/>
          </a:p>
        </p:txBody>
      </p:sp>
      <p:sp>
        <p:nvSpPr>
          <p:cNvPr id="249" name="Google Shape;24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7:notes"/>
          <p:cNvSpPr txBox="1"/>
          <p:nvPr/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252" name="Google Shape;252;p17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SEMINAR LA INTRODUCERE IN PSIHOLOGIE, SEM. II, 2014/2015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/>
          </a:p>
        </p:txBody>
      </p:sp>
      <p:sp>
        <p:nvSpPr>
          <p:cNvPr id="258" name="Google Shape;25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8:notes"/>
          <p:cNvSpPr txBox="1"/>
          <p:nvPr/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261" name="Google Shape;261;p18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SEMINAR LA INTRODUCERE IN PSIHOLOGIE, SEM. II, 2014/2015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/>
          </a:p>
        </p:txBody>
      </p:sp>
      <p:sp>
        <p:nvSpPr>
          <p:cNvPr id="267" name="Google Shape;26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9:notes"/>
          <p:cNvSpPr txBox="1"/>
          <p:nvPr/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270" name="Google Shape;270;p19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SEMINAR LA INTRODUCERE IN PSIHOLOGIE, SEM. II, 2014/2015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/>
          </a:p>
        </p:txBody>
      </p:sp>
      <p:sp>
        <p:nvSpPr>
          <p:cNvPr id="277" name="Google Shape;27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0:notes"/>
          <p:cNvSpPr txBox="1"/>
          <p:nvPr/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280" name="Google Shape;280;p20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SEMINAR LA INTRODUCERE IN PSIHOLOGIE, SEM. II, 2014/2015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/>
          </a:p>
        </p:txBody>
      </p:sp>
      <p:sp>
        <p:nvSpPr>
          <p:cNvPr id="286" name="Google Shape;28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1:notes"/>
          <p:cNvSpPr txBox="1"/>
          <p:nvPr/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289" name="Google Shape;289;p21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SEMINAR LA INTRODUCERE IN PSIHOLOGIE, SEM. II, 2014/2015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/>
          </a:p>
        </p:txBody>
      </p:sp>
      <p:sp>
        <p:nvSpPr>
          <p:cNvPr id="295" name="Google Shape;29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2:notes"/>
          <p:cNvSpPr txBox="1"/>
          <p:nvPr/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298" name="Google Shape;298;p22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SEMINAR LA INTRODUCERE IN PSIHOLOGIE, SEM. II, 2014/2015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>
                <a:solidFill>
                  <a:schemeClr val="dk2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224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dt" idx="10"/>
          </p:nvPr>
        </p:nvSpPr>
        <p:spPr>
          <a:xfrm rot="5400000">
            <a:off x="7764462" y="117475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ftr" idx="11"/>
          </p:nvPr>
        </p:nvSpPr>
        <p:spPr>
          <a:xfrm rot="5400000">
            <a:off x="7077075" y="4181475"/>
            <a:ext cx="36576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sldNum" idx="12"/>
          </p:nvPr>
        </p:nvSpPr>
        <p:spPr>
          <a:xfrm>
            <a:off x="1325562" y="4929187"/>
            <a:ext cx="609600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>
            <a:spLocks noGrp="1"/>
          </p:cNvSpPr>
          <p:nvPr>
            <p:ph type="dt" idx="10"/>
          </p:nvPr>
        </p:nvSpPr>
        <p:spPr>
          <a:xfrm rot="5400000">
            <a:off x="7589043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ftr" idx="11"/>
          </p:nvPr>
        </p:nvSpPr>
        <p:spPr>
          <a:xfrm rot="5400000">
            <a:off x="6989762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7"/>
          <p:cNvSpPr txBox="1">
            <a:spLocks noGrp="1"/>
          </p:cNvSpPr>
          <p:nvPr>
            <p:ph type="sldNum" idx="12"/>
          </p:nvPr>
        </p:nvSpPr>
        <p:spPr>
          <a:xfrm>
            <a:off x="8129587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0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0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4038600" cy="18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4038600" cy="18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body" idx="3"/>
          </p:nvPr>
        </p:nvSpPr>
        <p:spPr>
          <a:xfrm>
            <a:off x="457200" y="4000500"/>
            <a:ext cx="4038600" cy="18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30"/>
          <p:cNvSpPr txBox="1">
            <a:spLocks noGrp="1"/>
          </p:cNvSpPr>
          <p:nvPr>
            <p:ph type="body" idx="4"/>
          </p:nvPr>
        </p:nvSpPr>
        <p:spPr>
          <a:xfrm>
            <a:off x="4648200" y="4000500"/>
            <a:ext cx="4038600" cy="18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30"/>
          <p:cNvSpPr txBox="1">
            <a:spLocks noGrp="1"/>
          </p:cNvSpPr>
          <p:nvPr>
            <p:ph type="dt" idx="10"/>
          </p:nvPr>
        </p:nvSpPr>
        <p:spPr>
          <a:xfrm rot="5400000">
            <a:off x="7589043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ftr" idx="11"/>
          </p:nvPr>
        </p:nvSpPr>
        <p:spPr>
          <a:xfrm rot="5400000">
            <a:off x="6989762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8129587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31"/>
          <p:cNvSpPr txBox="1">
            <a:spLocks noGrp="1"/>
          </p:cNvSpPr>
          <p:nvPr>
            <p:ph type="body" idx="2"/>
          </p:nvPr>
        </p:nvSpPr>
        <p:spPr>
          <a:xfrm>
            <a:off x="4270248" y="16002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31"/>
          <p:cNvSpPr txBox="1">
            <a:spLocks noGrp="1"/>
          </p:cNvSpPr>
          <p:nvPr>
            <p:ph type="dt" idx="10"/>
          </p:nvPr>
        </p:nvSpPr>
        <p:spPr>
          <a:xfrm rot="5400000">
            <a:off x="7589043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1"/>
          <p:cNvSpPr txBox="1">
            <a:spLocks noGrp="1"/>
          </p:cNvSpPr>
          <p:nvPr>
            <p:ph type="ftr" idx="11"/>
          </p:nvPr>
        </p:nvSpPr>
        <p:spPr>
          <a:xfrm rot="5400000">
            <a:off x="6989762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1"/>
          <p:cNvSpPr txBox="1">
            <a:spLocks noGrp="1"/>
          </p:cNvSpPr>
          <p:nvPr>
            <p:ph type="sldNum" idx="12"/>
          </p:nvPr>
        </p:nvSpPr>
        <p:spPr>
          <a:xfrm>
            <a:off x="8129587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2"/>
          <p:cNvSpPr txBox="1">
            <a:spLocks noGrp="1"/>
          </p:cNvSpPr>
          <p:nvPr>
            <p:ph type="title"/>
          </p:nvPr>
        </p:nvSpPr>
        <p:spPr>
          <a:xfrm rot="5400000">
            <a:off x="4541837" y="2362202"/>
            <a:ext cx="5851525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32"/>
          <p:cNvSpPr txBox="1">
            <a:spLocks noGrp="1"/>
          </p:cNvSpPr>
          <p:nvPr>
            <p:ph type="dt" idx="10"/>
          </p:nvPr>
        </p:nvSpPr>
        <p:spPr>
          <a:xfrm rot="5400000">
            <a:off x="7589043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2"/>
          <p:cNvSpPr txBox="1">
            <a:spLocks noGrp="1"/>
          </p:cNvSpPr>
          <p:nvPr>
            <p:ph type="ftr" idx="11"/>
          </p:nvPr>
        </p:nvSpPr>
        <p:spPr>
          <a:xfrm rot="5400000">
            <a:off x="6989762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2"/>
          <p:cNvSpPr txBox="1">
            <a:spLocks noGrp="1"/>
          </p:cNvSpPr>
          <p:nvPr>
            <p:ph type="sldNum" idx="12"/>
          </p:nvPr>
        </p:nvSpPr>
        <p:spPr>
          <a:xfrm>
            <a:off x="8129587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body" idx="1"/>
          </p:nvPr>
        </p:nvSpPr>
        <p:spPr>
          <a:xfrm rot="5400000">
            <a:off x="1754187" y="303212"/>
            <a:ext cx="4873625" cy="74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33"/>
          <p:cNvSpPr txBox="1">
            <a:spLocks noGrp="1"/>
          </p:cNvSpPr>
          <p:nvPr>
            <p:ph type="dt" idx="10"/>
          </p:nvPr>
        </p:nvSpPr>
        <p:spPr>
          <a:xfrm rot="5400000">
            <a:off x="7589043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3"/>
          <p:cNvSpPr txBox="1">
            <a:spLocks noGrp="1"/>
          </p:cNvSpPr>
          <p:nvPr>
            <p:ph type="ftr" idx="11"/>
          </p:nvPr>
        </p:nvSpPr>
        <p:spPr>
          <a:xfrm rot="5400000">
            <a:off x="6989762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3"/>
          <p:cNvSpPr txBox="1">
            <a:spLocks noGrp="1"/>
          </p:cNvSpPr>
          <p:nvPr>
            <p:ph type="sldNum" idx="12"/>
          </p:nvPr>
        </p:nvSpPr>
        <p:spPr>
          <a:xfrm>
            <a:off x="8129587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body" idx="1"/>
          </p:nvPr>
        </p:nvSpPr>
        <p:spPr>
          <a:xfrm>
            <a:off x="457200" y="2362200"/>
            <a:ext cx="3657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34"/>
          <p:cNvSpPr txBox="1">
            <a:spLocks noGrp="1"/>
          </p:cNvSpPr>
          <p:nvPr>
            <p:ph type="body" idx="2"/>
          </p:nvPr>
        </p:nvSpPr>
        <p:spPr>
          <a:xfrm>
            <a:off x="4371975" y="2362200"/>
            <a:ext cx="3657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4"/>
          <p:cNvSpPr>
            <a:spLocks noGrp="1"/>
          </p:cNvSpPr>
          <p:nvPr>
            <p:ph type="body" idx="3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Font typeface="Century Schoolbook"/>
              <a:buNone/>
              <a:defRPr sz="2000" b="1">
                <a:solidFill>
                  <a:srgbClr val="FFFFFF"/>
                </a:solidFill>
              </a:defRPr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34"/>
          <p:cNvSpPr>
            <a:spLocks noGrp="1"/>
          </p:cNvSpPr>
          <p:nvPr>
            <p:ph type="body" idx="4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Font typeface="Century Schoolbook"/>
              <a:buNone/>
              <a:defRPr sz="2000" b="1">
                <a:solidFill>
                  <a:srgbClr val="FFFFFF"/>
                </a:solidFill>
              </a:defRPr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34"/>
          <p:cNvSpPr txBox="1">
            <a:spLocks noGrp="1"/>
          </p:cNvSpPr>
          <p:nvPr>
            <p:ph type="dt" idx="10"/>
          </p:nvPr>
        </p:nvSpPr>
        <p:spPr>
          <a:xfrm rot="5400000">
            <a:off x="7589043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4"/>
          <p:cNvSpPr txBox="1">
            <a:spLocks noGrp="1"/>
          </p:cNvSpPr>
          <p:nvPr>
            <p:ph type="ftr" idx="11"/>
          </p:nvPr>
        </p:nvSpPr>
        <p:spPr>
          <a:xfrm rot="5400000">
            <a:off x="6989762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4"/>
          <p:cNvSpPr txBox="1">
            <a:spLocks noGrp="1"/>
          </p:cNvSpPr>
          <p:nvPr>
            <p:ph type="sldNum" idx="12"/>
          </p:nvPr>
        </p:nvSpPr>
        <p:spPr>
          <a:xfrm>
            <a:off x="8129587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29"/>
          <p:cNvSpPr txBox="1">
            <a:spLocks noGrp="1"/>
          </p:cNvSpPr>
          <p:nvPr>
            <p:ph type="dt" idx="10"/>
          </p:nvPr>
        </p:nvSpPr>
        <p:spPr>
          <a:xfrm rot="5400000">
            <a:off x="7589043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9"/>
          <p:cNvSpPr txBox="1">
            <a:spLocks noGrp="1"/>
          </p:cNvSpPr>
          <p:nvPr>
            <p:ph type="sldNum" idx="12"/>
          </p:nvPr>
        </p:nvSpPr>
        <p:spPr>
          <a:xfrm>
            <a:off x="8129587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29"/>
          <p:cNvSpPr txBox="1">
            <a:spLocks noGrp="1"/>
          </p:cNvSpPr>
          <p:nvPr>
            <p:ph type="ftr" idx="11"/>
          </p:nvPr>
        </p:nvSpPr>
        <p:spPr>
          <a:xfrm rot="5400000">
            <a:off x="6989762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/>
        </p:nvSpPr>
        <p:spPr>
          <a:xfrm>
            <a:off x="381000" y="0"/>
            <a:ext cx="609600" cy="6858000"/>
          </a:xfrm>
          <a:prstGeom prst="rect">
            <a:avLst/>
          </a:prstGeom>
          <a:solidFill>
            <a:srgbClr val="FEC3AE">
              <a:alpha val="5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4"/>
          <p:cNvSpPr txBox="1"/>
          <p:nvPr/>
        </p:nvSpPr>
        <p:spPr>
          <a:xfrm>
            <a:off x="276225" y="0"/>
            <a:ext cx="104775" cy="6858000"/>
          </a:xfrm>
          <a:prstGeom prst="rect">
            <a:avLst/>
          </a:prstGeom>
          <a:solidFill>
            <a:srgbClr val="FFD9CE">
              <a:alpha val="3568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4"/>
          <p:cNvSpPr txBox="1"/>
          <p:nvPr/>
        </p:nvSpPr>
        <p:spPr>
          <a:xfrm>
            <a:off x="990600" y="0"/>
            <a:ext cx="182562" cy="6858000"/>
          </a:xfrm>
          <a:prstGeom prst="rect">
            <a:avLst/>
          </a:prstGeom>
          <a:solidFill>
            <a:srgbClr val="FFD9CE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4"/>
          <p:cNvSpPr txBox="1"/>
          <p:nvPr/>
        </p:nvSpPr>
        <p:spPr>
          <a:xfrm>
            <a:off x="1141412" y="0"/>
            <a:ext cx="230187" cy="6858000"/>
          </a:xfrm>
          <a:prstGeom prst="rect">
            <a:avLst/>
          </a:prstGeom>
          <a:solidFill>
            <a:srgbClr val="FFEDE8">
              <a:alpha val="7058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" name="Google Shape;14;p24"/>
          <p:cNvCxnSpPr/>
          <p:nvPr/>
        </p:nvCxnSpPr>
        <p:spPr>
          <a:xfrm>
            <a:off x="106362" y="0"/>
            <a:ext cx="0" cy="6858000"/>
          </a:xfrm>
          <a:prstGeom prst="straightConnector1">
            <a:avLst/>
          </a:prstGeom>
          <a:noFill/>
          <a:ln w="57150" cap="flat" cmpd="sng">
            <a:solidFill>
              <a:srgbClr val="FEC3AE">
                <a:alpha val="72549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5" name="Google Shape;15;p24"/>
          <p:cNvCxnSpPr/>
          <p:nvPr/>
        </p:nvCxnSpPr>
        <p:spPr>
          <a:xfrm>
            <a:off x="914400" y="0"/>
            <a:ext cx="0" cy="6858000"/>
          </a:xfrm>
          <a:prstGeom prst="straightConnector1">
            <a:avLst/>
          </a:prstGeom>
          <a:noFill/>
          <a:ln w="57150" cap="flat" cmpd="sng">
            <a:solidFill>
              <a:srgbClr val="FFEDE8">
                <a:alpha val="82745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6" name="Google Shape;16;p24"/>
          <p:cNvCxnSpPr/>
          <p:nvPr/>
        </p:nvCxnSpPr>
        <p:spPr>
          <a:xfrm>
            <a:off x="854075" y="0"/>
            <a:ext cx="0" cy="6858000"/>
          </a:xfrm>
          <a:prstGeom prst="straightConnector1">
            <a:avLst/>
          </a:prstGeom>
          <a:noFill/>
          <a:ln w="57150" cap="flat" cmpd="sng">
            <a:solidFill>
              <a:srgbClr val="FEC3AE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7" name="Google Shape;17;p24"/>
          <p:cNvCxnSpPr/>
          <p:nvPr/>
        </p:nvCxnSpPr>
        <p:spPr>
          <a:xfrm>
            <a:off x="1727200" y="0"/>
            <a:ext cx="0" cy="6858000"/>
          </a:xfrm>
          <a:prstGeom prst="straightConnector1">
            <a:avLst/>
          </a:prstGeom>
          <a:noFill/>
          <a:ln w="28575" cap="flat" cmpd="sng">
            <a:solidFill>
              <a:srgbClr val="FEC3AE">
                <a:alpha val="81568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8" name="Google Shape;18;p24"/>
          <p:cNvCxnSpPr/>
          <p:nvPr/>
        </p:nvCxnSpPr>
        <p:spPr>
          <a:xfrm>
            <a:off x="1066800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rgbClr val="FEC3AE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" name="Google Shape;19;p24"/>
          <p:cNvCxnSpPr/>
          <p:nvPr/>
        </p:nvCxnSpPr>
        <p:spPr>
          <a:xfrm>
            <a:off x="9113837" y="0"/>
            <a:ext cx="0" cy="6858000"/>
          </a:xfrm>
          <a:prstGeom prst="straightConnector1">
            <a:avLst/>
          </a:prstGeom>
          <a:noFill/>
          <a:ln w="57150" cap="flat" cmpd="thickThin">
            <a:solidFill>
              <a:srgbClr val="FEC3AE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0" name="Google Shape;20;p24"/>
          <p:cNvSpPr txBox="1"/>
          <p:nvPr/>
        </p:nvSpPr>
        <p:spPr>
          <a:xfrm>
            <a:off x="1219200" y="0"/>
            <a:ext cx="76200" cy="6858000"/>
          </a:xfrm>
          <a:prstGeom prst="rect">
            <a:avLst/>
          </a:prstGeom>
          <a:solidFill>
            <a:srgbClr val="FEC3AE">
              <a:alpha val="5058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4"/>
          <p:cNvSpPr/>
          <p:nvPr/>
        </p:nvSpPr>
        <p:spPr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4"/>
          <p:cNvSpPr/>
          <p:nvPr/>
        </p:nvSpPr>
        <p:spPr>
          <a:xfrm>
            <a:off x="1309687" y="4867275"/>
            <a:ext cx="641350" cy="6413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4"/>
          <p:cNvSpPr/>
          <p:nvPr/>
        </p:nvSpPr>
        <p:spPr>
          <a:xfrm>
            <a:off x="1090612" y="5500687"/>
            <a:ext cx="138112" cy="1365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4"/>
          <p:cNvSpPr/>
          <p:nvPr/>
        </p:nvSpPr>
        <p:spPr>
          <a:xfrm>
            <a:off x="1663700" y="5788025"/>
            <a:ext cx="274637" cy="27463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4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small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528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  <a:defRPr sz="2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35280" algn="l" rtl="0"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  <a:defRPr sz="21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20039" algn="l" rtl="0">
              <a:spcBef>
                <a:spcPts val="480"/>
              </a:spcBef>
              <a:spcAft>
                <a:spcPts val="0"/>
              </a:spcAft>
              <a:buClr>
                <a:srgbClr val="E0752F"/>
              </a:buClr>
              <a:buSzPts val="1440"/>
              <a:buFont typeface="Noto Sans Symbols"/>
              <a:buChar char="🞆"/>
              <a:defRPr sz="2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04800" algn="l" rtl="0">
              <a:spcBef>
                <a:spcPts val="400"/>
              </a:spcBef>
              <a:spcAft>
                <a:spcPts val="0"/>
              </a:spcAft>
              <a:buClr>
                <a:srgbClr val="FEC3AE"/>
              </a:buClr>
              <a:buSzPts val="1200"/>
              <a:buFont typeface="Noto Sans Symbols"/>
              <a:buChar char="🞆"/>
              <a:defRPr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297688" algn="l" rtl="0">
              <a:spcBef>
                <a:spcPts val="320"/>
              </a:spcBef>
              <a:spcAft>
                <a:spcPts val="0"/>
              </a:spcAft>
              <a:buClr>
                <a:srgbClr val="BDCAE9"/>
              </a:buClr>
              <a:buSzPts val="1088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entury Schoolbook"/>
              <a:buChar char="•"/>
              <a:defRPr sz="16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281939" algn="l" rtl="0">
              <a:spcBef>
                <a:spcPts val="280"/>
              </a:spcBef>
              <a:spcAft>
                <a:spcPts val="0"/>
              </a:spcAft>
              <a:buClr>
                <a:srgbClr val="FEC2AC"/>
              </a:buClr>
              <a:buSzPts val="840"/>
              <a:buFont typeface="Noto Sans Symbols"/>
              <a:buChar char="⚪"/>
              <a:defRPr sz="14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17500" algn="l" rtl="0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entury Schoolbook"/>
              <a:buChar char="•"/>
              <a:defRPr sz="1400" b="0" i="0" u="none" strike="noStrike" cap="small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rgbClr val="DE7530"/>
              </a:buClr>
              <a:buSzPts val="1400"/>
              <a:buFont typeface="Century Schoolbook"/>
              <a:buChar char="•"/>
              <a:defRPr sz="14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dt" idx="10"/>
          </p:nvPr>
        </p:nvSpPr>
        <p:spPr>
          <a:xfrm rot="5400000">
            <a:off x="7764462" y="117475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24"/>
          <p:cNvSpPr txBox="1">
            <a:spLocks noGrp="1"/>
          </p:cNvSpPr>
          <p:nvPr>
            <p:ph type="ftr" idx="11"/>
          </p:nvPr>
        </p:nvSpPr>
        <p:spPr>
          <a:xfrm rot="5400000">
            <a:off x="7077075" y="4181475"/>
            <a:ext cx="36576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sldNum" idx="12"/>
          </p:nvPr>
        </p:nvSpPr>
        <p:spPr>
          <a:xfrm>
            <a:off x="1325562" y="4929187"/>
            <a:ext cx="609600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Google Shape;38;p26"/>
          <p:cNvCxnSpPr/>
          <p:nvPr/>
        </p:nvCxnSpPr>
        <p:spPr>
          <a:xfrm>
            <a:off x="87630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FEC3AE">
                <a:alpha val="92549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9" name="Google Shape;39;p2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small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528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  <a:defRPr sz="2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35280" algn="l" rtl="0"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  <a:defRPr sz="21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20039" algn="l" rtl="0">
              <a:spcBef>
                <a:spcPts val="480"/>
              </a:spcBef>
              <a:spcAft>
                <a:spcPts val="0"/>
              </a:spcAft>
              <a:buClr>
                <a:srgbClr val="E0752F"/>
              </a:buClr>
              <a:buSzPts val="1440"/>
              <a:buFont typeface="Noto Sans Symbols"/>
              <a:buChar char="🞆"/>
              <a:defRPr sz="2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04800" algn="l" rtl="0">
              <a:spcBef>
                <a:spcPts val="400"/>
              </a:spcBef>
              <a:spcAft>
                <a:spcPts val="0"/>
              </a:spcAft>
              <a:buClr>
                <a:srgbClr val="FEC3AE"/>
              </a:buClr>
              <a:buSzPts val="1200"/>
              <a:buFont typeface="Noto Sans Symbols"/>
              <a:buChar char="🞆"/>
              <a:defRPr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297688" algn="l" rtl="0">
              <a:spcBef>
                <a:spcPts val="320"/>
              </a:spcBef>
              <a:spcAft>
                <a:spcPts val="0"/>
              </a:spcAft>
              <a:buClr>
                <a:srgbClr val="BDCAE9"/>
              </a:buClr>
              <a:buSzPts val="1088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entury Schoolbook"/>
              <a:buChar char="•"/>
              <a:defRPr sz="16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281939" algn="l" rtl="0">
              <a:spcBef>
                <a:spcPts val="280"/>
              </a:spcBef>
              <a:spcAft>
                <a:spcPts val="0"/>
              </a:spcAft>
              <a:buClr>
                <a:srgbClr val="FEC2AC"/>
              </a:buClr>
              <a:buSzPts val="840"/>
              <a:buFont typeface="Noto Sans Symbols"/>
              <a:buChar char="⚪"/>
              <a:defRPr sz="14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17500" algn="l" rtl="0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entury Schoolbook"/>
              <a:buChar char="•"/>
              <a:defRPr sz="1400" b="0" i="0" u="none" strike="noStrike" cap="small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rgbClr val="DE7530"/>
              </a:buClr>
              <a:buSzPts val="1400"/>
              <a:buFont typeface="Century Schoolbook"/>
              <a:buChar char="•"/>
              <a:defRPr sz="14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dt" idx="10"/>
          </p:nvPr>
        </p:nvSpPr>
        <p:spPr>
          <a:xfrm rot="5400000">
            <a:off x="7589043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ftr" idx="11"/>
          </p:nvPr>
        </p:nvSpPr>
        <p:spPr>
          <a:xfrm rot="5400000">
            <a:off x="6989762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43" name="Google Shape;43;p26"/>
          <p:cNvCxnSpPr/>
          <p:nvPr/>
        </p:nvCxnSpPr>
        <p:spPr>
          <a:xfrm>
            <a:off x="76200" y="0"/>
            <a:ext cx="0" cy="6858000"/>
          </a:xfrm>
          <a:prstGeom prst="straightConnector1">
            <a:avLst/>
          </a:prstGeom>
          <a:noFill/>
          <a:ln w="57150" cap="flat" cmpd="thickThin">
            <a:solidFill>
              <a:srgbClr val="FEC3AE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4" name="Google Shape;44;p26"/>
          <p:cNvCxnSpPr/>
          <p:nvPr/>
        </p:nvCxnSpPr>
        <p:spPr>
          <a:xfrm>
            <a:off x="8991600" y="0"/>
            <a:ext cx="0" cy="6858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5" name="Google Shape;45;p26"/>
          <p:cNvSpPr txBox="1"/>
          <p:nvPr/>
        </p:nvSpPr>
        <p:spPr>
          <a:xfrm>
            <a:off x="8839200" y="0"/>
            <a:ext cx="304800" cy="6858000"/>
          </a:xfrm>
          <a:prstGeom prst="rect">
            <a:avLst/>
          </a:prstGeom>
          <a:solidFill>
            <a:srgbClr val="FEC3AE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" name="Google Shape;46;p26"/>
          <p:cNvCxnSpPr/>
          <p:nvPr/>
        </p:nvCxnSpPr>
        <p:spPr>
          <a:xfrm>
            <a:off x="8915400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7" name="Google Shape;47;p26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6"/>
          <p:cNvSpPr txBox="1">
            <a:spLocks noGrp="1"/>
          </p:cNvSpPr>
          <p:nvPr>
            <p:ph type="sldNum" idx="12"/>
          </p:nvPr>
        </p:nvSpPr>
        <p:spPr>
          <a:xfrm>
            <a:off x="8129587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Google Shape;91;p28"/>
          <p:cNvCxnSpPr/>
          <p:nvPr/>
        </p:nvCxnSpPr>
        <p:spPr>
          <a:xfrm>
            <a:off x="87630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FEC3AE">
                <a:alpha val="92549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92" name="Google Shape;92;p28"/>
          <p:cNvCxnSpPr/>
          <p:nvPr/>
        </p:nvCxnSpPr>
        <p:spPr>
          <a:xfrm>
            <a:off x="76200" y="0"/>
            <a:ext cx="0" cy="6858000"/>
          </a:xfrm>
          <a:prstGeom prst="straightConnector1">
            <a:avLst/>
          </a:prstGeom>
          <a:noFill/>
          <a:ln w="57150" cap="flat" cmpd="thickThin">
            <a:solidFill>
              <a:srgbClr val="FEC3AE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93" name="Google Shape;93;p28"/>
          <p:cNvCxnSpPr/>
          <p:nvPr/>
        </p:nvCxnSpPr>
        <p:spPr>
          <a:xfrm>
            <a:off x="8991600" y="0"/>
            <a:ext cx="0" cy="6858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94" name="Google Shape;94;p28"/>
          <p:cNvSpPr txBox="1"/>
          <p:nvPr/>
        </p:nvSpPr>
        <p:spPr>
          <a:xfrm>
            <a:off x="8839200" y="0"/>
            <a:ext cx="304800" cy="6858000"/>
          </a:xfrm>
          <a:prstGeom prst="rect">
            <a:avLst/>
          </a:prstGeom>
          <a:solidFill>
            <a:srgbClr val="FEC3AE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p28"/>
          <p:cNvCxnSpPr/>
          <p:nvPr/>
        </p:nvCxnSpPr>
        <p:spPr>
          <a:xfrm>
            <a:off x="8915400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96" name="Google Shape;96;p28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small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528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  <a:defRPr sz="2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35280" algn="l" rtl="0"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  <a:defRPr sz="21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20039" algn="l" rtl="0">
              <a:spcBef>
                <a:spcPts val="480"/>
              </a:spcBef>
              <a:spcAft>
                <a:spcPts val="0"/>
              </a:spcAft>
              <a:buClr>
                <a:srgbClr val="E0752F"/>
              </a:buClr>
              <a:buSzPts val="1440"/>
              <a:buFont typeface="Noto Sans Symbols"/>
              <a:buChar char="🞆"/>
              <a:defRPr sz="2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04800" algn="l" rtl="0">
              <a:spcBef>
                <a:spcPts val="400"/>
              </a:spcBef>
              <a:spcAft>
                <a:spcPts val="0"/>
              </a:spcAft>
              <a:buClr>
                <a:srgbClr val="FEC3AE"/>
              </a:buClr>
              <a:buSzPts val="1200"/>
              <a:buFont typeface="Noto Sans Symbols"/>
              <a:buChar char="🞆"/>
              <a:defRPr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297688" algn="l" rtl="0">
              <a:spcBef>
                <a:spcPts val="320"/>
              </a:spcBef>
              <a:spcAft>
                <a:spcPts val="0"/>
              </a:spcAft>
              <a:buClr>
                <a:srgbClr val="BDCAE9"/>
              </a:buClr>
              <a:buSzPts val="1088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entury Schoolbook"/>
              <a:buChar char="•"/>
              <a:defRPr sz="16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281939" algn="l" rtl="0">
              <a:spcBef>
                <a:spcPts val="280"/>
              </a:spcBef>
              <a:spcAft>
                <a:spcPts val="0"/>
              </a:spcAft>
              <a:buClr>
                <a:srgbClr val="FEC2AC"/>
              </a:buClr>
              <a:buSzPts val="840"/>
              <a:buFont typeface="Noto Sans Symbols"/>
              <a:buChar char="⚪"/>
              <a:defRPr sz="14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17500" algn="l" rtl="0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entury Schoolbook"/>
              <a:buChar char="•"/>
              <a:defRPr sz="1400" b="0" i="0" u="none" strike="noStrike" cap="small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rgbClr val="DE7530"/>
              </a:buClr>
              <a:buSzPts val="1400"/>
              <a:buFont typeface="Century Schoolbook"/>
              <a:buChar char="•"/>
              <a:defRPr sz="14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dt" idx="10"/>
          </p:nvPr>
        </p:nvSpPr>
        <p:spPr>
          <a:xfrm rot="5400000">
            <a:off x="7589043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" name="Google Shape;100;p28"/>
          <p:cNvSpPr txBox="1">
            <a:spLocks noGrp="1"/>
          </p:cNvSpPr>
          <p:nvPr>
            <p:ph type="sldNum" idx="12"/>
          </p:nvPr>
        </p:nvSpPr>
        <p:spPr>
          <a:xfrm>
            <a:off x="8129587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</a:endParaRPr>
          </a:p>
        </p:txBody>
      </p:sp>
      <p:sp>
        <p:nvSpPr>
          <p:cNvPr id="101" name="Google Shape;101;p28"/>
          <p:cNvSpPr txBox="1">
            <a:spLocks noGrp="1"/>
          </p:cNvSpPr>
          <p:nvPr>
            <p:ph type="ftr" idx="11"/>
          </p:nvPr>
        </p:nvSpPr>
        <p:spPr>
          <a:xfrm rot="5400000">
            <a:off x="6989762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"/>
          <p:cNvSpPr txBox="1">
            <a:spLocks noGrp="1"/>
          </p:cNvSpPr>
          <p:nvPr>
            <p:ph type="ctrTitle"/>
          </p:nvPr>
        </p:nvSpPr>
        <p:spPr>
          <a:xfrm>
            <a:off x="1928812" y="2643187"/>
            <a:ext cx="6929437" cy="1090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 Black"/>
              <a:buNone/>
            </a:pPr>
            <a:r>
              <a:rPr lang="en-US" sz="3600" b="1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STRESUI ȘI </a:t>
            </a:r>
            <a:br>
              <a:rPr lang="en-US" sz="3600" b="1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sz="3600" b="1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MANAGEMENTUL STRESULUI</a:t>
            </a:r>
            <a:endParaRPr/>
          </a:p>
        </p:txBody>
      </p:sp>
      <p:sp>
        <p:nvSpPr>
          <p:cNvPr id="116" name="Google Shape;116;p1"/>
          <p:cNvSpPr txBox="1">
            <a:spLocks noGrp="1"/>
          </p:cNvSpPr>
          <p:nvPr>
            <p:ph type="subTitle" idx="1"/>
          </p:nvPr>
        </p:nvSpPr>
        <p:spPr>
          <a:xfrm>
            <a:off x="2306637" y="5013325"/>
            <a:ext cx="61722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lang="en-US" sz="1800" b="1" i="0" u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Dr. Daniela Dumulescu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endParaRPr/>
          </a:p>
        </p:txBody>
      </p:sp>
      <p:pic>
        <p:nvPicPr>
          <p:cNvPr id="117" name="Google Shape;117;p1" descr="sigla_UBB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72312" y="214312"/>
            <a:ext cx="1885950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" descr="C:\Users\gabi\Desktop\Captur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312" y="642937"/>
            <a:ext cx="8397875" cy="3335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" descr="stre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6125" y="4214812"/>
            <a:ext cx="2286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 txBox="1">
            <a:spLocks noGrp="1"/>
          </p:cNvSpPr>
          <p:nvPr>
            <p:ph type="title"/>
          </p:nvPr>
        </p:nvSpPr>
        <p:spPr>
          <a:xfrm>
            <a:off x="609600" y="214312"/>
            <a:ext cx="7848600" cy="13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Schoolbook"/>
              <a:buNone/>
            </a:pPr>
            <a:r>
              <a:rPr lang="en-US" sz="32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STRESUL ŞI MANAGEMENTUL STRESULUI</a:t>
            </a:r>
            <a:br>
              <a:rPr lang="en-US" sz="32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lang="en-US" sz="3200" b="1" i="0" u="none">
                <a:solidFill>
                  <a:srgbClr val="FEB687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CUPRINS</a:t>
            </a:r>
            <a:endParaRPr/>
          </a:p>
        </p:txBody>
      </p:sp>
      <p:sp>
        <p:nvSpPr>
          <p:cNvPr id="129" name="Google Shape;129;p3"/>
          <p:cNvSpPr txBox="1">
            <a:spLocks noGrp="1"/>
          </p:cNvSpPr>
          <p:nvPr>
            <p:ph type="body" idx="1"/>
          </p:nvPr>
        </p:nvSpPr>
        <p:spPr>
          <a:xfrm>
            <a:off x="285750" y="1857375"/>
            <a:ext cx="8572500" cy="4786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marR="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lang="en-US" sz="2400" b="0" i="1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Ce este stresul?</a:t>
            </a:r>
            <a:endParaRPr/>
          </a:p>
          <a:p>
            <a:pPr marL="273050" marR="0" lvl="0" indent="-2730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lang="en-US" sz="2400" b="0" i="1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Componentele stresului</a:t>
            </a:r>
            <a:endParaRPr/>
          </a:p>
          <a:p>
            <a:pPr marL="914400" marR="0" lvl="2" indent="-182562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E0752F"/>
              </a:buClr>
              <a:buSzPts val="1020"/>
              <a:buFont typeface="Noto Sans Symbols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1. Factorii de stres</a:t>
            </a:r>
            <a:endParaRPr/>
          </a:p>
          <a:p>
            <a:pPr marL="914400" marR="0" lvl="2" indent="-182562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E0752F"/>
              </a:buClr>
              <a:buSzPts val="1020"/>
              <a:buFont typeface="Noto Sans Symbols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2. Reacții la stres</a:t>
            </a:r>
            <a:endParaRPr/>
          </a:p>
          <a:p>
            <a:pPr marL="914400" marR="0" lvl="2" indent="-182562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E0752F"/>
              </a:buClr>
              <a:buSzPts val="1020"/>
              <a:buFont typeface="Noto Sans Symbols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3. Resurse personale de a face faţă stresului</a:t>
            </a:r>
            <a:endParaRPr sz="17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273050" marR="0" lvl="0" indent="-2730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lang="en-US" sz="2400" b="0" i="1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Managementul stresului</a:t>
            </a:r>
            <a:endParaRPr/>
          </a:p>
          <a:p>
            <a:pPr marL="914400" marR="0" lvl="2" indent="-182562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E0752F"/>
              </a:buClr>
              <a:buSzPts val="1020"/>
              <a:buFont typeface="Noto Sans Symbols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1. Identificarea stresorilor</a:t>
            </a:r>
            <a:endParaRPr/>
          </a:p>
          <a:p>
            <a:pPr marL="914400" marR="0" lvl="2" indent="-182562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E0752F"/>
              </a:buClr>
              <a:buSzPts val="1020"/>
              <a:buFont typeface="Noto Sans Symbols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2. Analiza </a:t>
            </a:r>
            <a:r>
              <a:rPr lang="en-US" sz="1700" b="0" i="1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coping</a:t>
            </a:r>
            <a:r>
              <a:rPr lang="en-US" sz="17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-ului actual nesănatos</a:t>
            </a:r>
            <a:endParaRPr/>
          </a:p>
          <a:p>
            <a:pPr marL="914400" marR="0" lvl="2" indent="-182562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E0752F"/>
              </a:buClr>
              <a:buSzPts val="1020"/>
              <a:buFont typeface="Noto Sans Symbols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3. </a:t>
            </a:r>
            <a:r>
              <a:rPr lang="en-US" sz="1700" b="0" i="1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Coping </a:t>
            </a:r>
            <a:r>
              <a:rPr lang="en-US" sz="17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sănătos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>
            <a:spLocks noGrp="1"/>
          </p:cNvSpPr>
          <p:nvPr>
            <p:ph type="title"/>
          </p:nvPr>
        </p:nvSpPr>
        <p:spPr>
          <a:xfrm>
            <a:off x="381000" y="152400"/>
            <a:ext cx="4800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None/>
            </a:pPr>
            <a:r>
              <a:rPr lang="en-US" sz="36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CE ESTE STRESUL?</a:t>
            </a:r>
            <a:endParaRPr/>
          </a:p>
        </p:txBody>
      </p:sp>
      <p:sp>
        <p:nvSpPr>
          <p:cNvPr id="138" name="Google Shape;138;p4"/>
          <p:cNvSpPr txBox="1">
            <a:spLocks noGrp="1"/>
          </p:cNvSpPr>
          <p:nvPr>
            <p:ph type="body" idx="1"/>
          </p:nvPr>
        </p:nvSpPr>
        <p:spPr>
          <a:xfrm>
            <a:off x="71437" y="1714500"/>
            <a:ext cx="8286750" cy="49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</a:pPr>
            <a:r>
              <a:rPr lang="en-US"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fenomen psihosocial complex, care decurge din confruntarea persoanei cu </a:t>
            </a:r>
            <a:r>
              <a:rPr lang="en-US" sz="2000" b="0" i="0" u="sng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cerinţe,</a:t>
            </a:r>
            <a:r>
              <a:rPr lang="en-US"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lang="en-US" sz="2000" b="0" i="0" u="sng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sarcini</a:t>
            </a:r>
            <a:r>
              <a:rPr lang="en-US"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sau </a:t>
            </a:r>
            <a:r>
              <a:rPr lang="en-US" sz="2000" b="0" i="0" u="sng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situaţii</a:t>
            </a:r>
            <a:r>
              <a:rPr lang="en-US"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lang="en-US" sz="2000" b="1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percepute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ca fiind </a:t>
            </a:r>
            <a:r>
              <a:rPr lang="en-US" sz="2000" b="0" i="0" u="sng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dificile, dureroase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și/sau </a:t>
            </a:r>
            <a:r>
              <a:rPr lang="en-US" sz="2000" b="0" i="0" u="sng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cu miză prea mare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pentru persoana în cauză. </a:t>
            </a:r>
            <a:endParaRPr sz="20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2730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Eustres-stres benefic/functional</a:t>
            </a:r>
            <a:endParaRPr sz="2000"/>
          </a:p>
          <a:p>
            <a:pPr marL="2730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Distres-stres dăunător</a:t>
            </a:r>
            <a:endParaRPr sz="2000"/>
          </a:p>
          <a:p>
            <a:pPr marL="273050" marR="0" lvl="0" indent="-273050" algn="just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</a:pPr>
            <a:r>
              <a:rPr lang="en-US"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Stresul decurge din:</a:t>
            </a:r>
            <a:endParaRPr/>
          </a:p>
          <a:p>
            <a:pPr marL="639762" marR="0" lvl="1" indent="-273049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⚫"/>
            </a:pPr>
            <a:r>
              <a:rPr lang="en-US"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lang="en-US" sz="2000" b="1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Prezenţa factorilor de stres</a:t>
            </a:r>
            <a:endParaRPr/>
          </a:p>
          <a:p>
            <a:pPr marL="639762" marR="0" lvl="1" indent="-273049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⚫"/>
            </a:pPr>
            <a:r>
              <a:rPr lang="en-US" sz="2000" b="1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Resurse personale de a confrunta stresorii</a:t>
            </a:r>
            <a:endParaRPr/>
          </a:p>
          <a:p>
            <a:pPr marL="639762" marR="0" lvl="1" indent="-273049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⚫"/>
            </a:pPr>
            <a:r>
              <a:rPr lang="en-US" sz="2000" b="1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Tipul reacţiei la stres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 txBox="1">
            <a:spLocks noGrp="1"/>
          </p:cNvSpPr>
          <p:nvPr>
            <p:ph type="title"/>
          </p:nvPr>
        </p:nvSpPr>
        <p:spPr>
          <a:xfrm>
            <a:off x="457200" y="258762"/>
            <a:ext cx="8229600" cy="141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None/>
            </a:pPr>
            <a:r>
              <a:rPr lang="en-US" sz="3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COMPONENTELE STRESULUI</a:t>
            </a:r>
            <a:br>
              <a:rPr lang="en-US" sz="3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lang="en-US" sz="36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FACTORII DE STRES (I)</a:t>
            </a:r>
            <a:endParaRPr/>
          </a:p>
        </p:txBody>
      </p:sp>
      <p:sp>
        <p:nvSpPr>
          <p:cNvPr id="147" name="Google Shape;147;p5"/>
          <p:cNvSpPr txBox="1">
            <a:spLocks noGrp="1"/>
          </p:cNvSpPr>
          <p:nvPr>
            <p:ph type="body" idx="1"/>
          </p:nvPr>
        </p:nvSpPr>
        <p:spPr>
          <a:xfrm>
            <a:off x="335416" y="1673679"/>
            <a:ext cx="8458200" cy="471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</a:pPr>
            <a:r>
              <a:rPr lang="en-US"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evenimente sau situaţii, </a:t>
            </a:r>
            <a:r>
              <a:rPr lang="en-US" sz="2000" b="1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externe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sau </a:t>
            </a:r>
            <a:r>
              <a:rPr lang="en-US" sz="2000" b="1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interne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suficient de </a:t>
            </a:r>
            <a:r>
              <a:rPr lang="en-US" sz="2000" b="0" i="0" u="sng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intense sau frecvente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pentru a solicita </a:t>
            </a:r>
            <a:r>
              <a:rPr lang="en-US" sz="2000" b="0" i="0" u="sng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reacţii de adaptare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din partea individului.</a:t>
            </a:r>
            <a:endParaRPr/>
          </a:p>
          <a:p>
            <a:pPr marL="273050" marR="0" lvl="0" indent="-273050" algn="just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273050" marR="0" lvl="0" indent="-273050" algn="just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⮚"/>
            </a:pPr>
            <a:r>
              <a:rPr lang="en-US"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Evenimentul poate fi perceput ca:</a:t>
            </a:r>
            <a:endParaRPr/>
          </a:p>
          <a:p>
            <a:pPr marL="1519237" marR="0" lvl="1" indent="-311149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⚫"/>
            </a:pPr>
            <a:r>
              <a:rPr lang="en-US" sz="2000" b="1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Relevant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sau Irelevant</a:t>
            </a:r>
            <a:endParaRPr/>
          </a:p>
          <a:p>
            <a:pPr marL="1519237" marR="0" lvl="1" indent="-311149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⚫"/>
            </a:pPr>
            <a:r>
              <a:rPr lang="en-US"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Pozitiv sau </a:t>
            </a:r>
            <a:r>
              <a:rPr lang="en-US" sz="2000" b="1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Negativ/ameninţător</a:t>
            </a:r>
            <a:endParaRPr/>
          </a:p>
          <a:p>
            <a:pPr marL="1519237" marR="0" lvl="1" indent="-209549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273050" marR="0" lvl="0" indent="-18415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None/>
            </a:pPr>
            <a:r>
              <a:rPr lang="en-US" sz="3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COMPONENTELE STRESULUI</a:t>
            </a:r>
            <a:br>
              <a:rPr lang="en-US" sz="3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lang="en-US" sz="36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FACTORII DE STRES (II)</a:t>
            </a:r>
            <a:endParaRPr/>
          </a:p>
        </p:txBody>
      </p:sp>
      <p:sp>
        <p:nvSpPr>
          <p:cNvPr id="153" name="Google Shape;153;p6"/>
          <p:cNvSpPr txBox="1">
            <a:spLocks noGrp="1"/>
          </p:cNvSpPr>
          <p:nvPr>
            <p:ph type="body" idx="1"/>
          </p:nvPr>
        </p:nvSpPr>
        <p:spPr>
          <a:xfrm>
            <a:off x="457200" y="1714500"/>
            <a:ext cx="8229600" cy="49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3050" marR="0" lvl="0" indent="-2730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Noto Sans Symbols"/>
              <a:buChar char="⮚"/>
            </a:pPr>
            <a:r>
              <a:rPr lang="en-US" sz="14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Factorii de stres pot fi: </a:t>
            </a:r>
            <a:endParaRPr/>
          </a:p>
          <a:p>
            <a:pPr marL="273050" marR="0" lvl="0" indent="-27305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Noto Sans Symbols"/>
              <a:buNone/>
            </a:pPr>
            <a:r>
              <a:rPr lang="en-US" sz="14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a) schimbaţi </a:t>
            </a:r>
            <a:r>
              <a:rPr lang="en-US" sz="1400" b="0" i="0" u="none">
                <a:solidFill>
                  <a:srgbClr val="7F7F7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(ex: sesiunea) </a:t>
            </a:r>
            <a:endParaRPr/>
          </a:p>
          <a:p>
            <a:pPr marL="273050" marR="0" lvl="0" indent="-27305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Noto Sans Symbols"/>
              <a:buNone/>
            </a:pPr>
            <a:r>
              <a:rPr lang="en-US" sz="14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b) diminuaţi </a:t>
            </a:r>
            <a:r>
              <a:rPr lang="en-US" sz="1400" b="0" i="0" u="none">
                <a:solidFill>
                  <a:srgbClr val="7F7F7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(ex: diabet) </a:t>
            </a:r>
            <a:endParaRPr/>
          </a:p>
          <a:p>
            <a:pPr marL="273050" marR="0" lvl="0" indent="-27305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Noto Sans Symbols"/>
              <a:buNone/>
            </a:pPr>
            <a:r>
              <a:rPr lang="en-US" sz="14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c) acceptaţi </a:t>
            </a:r>
            <a:r>
              <a:rPr lang="en-US" sz="1400" b="0" i="0" u="none">
                <a:solidFill>
                  <a:srgbClr val="7F7F7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(ex: deces)</a:t>
            </a:r>
            <a:endParaRPr/>
          </a:p>
          <a:p>
            <a:pPr marL="273050" marR="0" lvl="0" indent="-21082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Noto Sans Symbols"/>
              <a:buNone/>
            </a:pPr>
            <a:endParaRPr sz="1400" b="0" i="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273050" marR="0" lvl="0" indent="-2730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Noto Sans Symbols"/>
              <a:buChar char="⮚"/>
            </a:pPr>
            <a:r>
              <a:rPr lang="en-US" sz="14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Surse de stres/potenţiali stresori:</a:t>
            </a:r>
            <a:endParaRPr/>
          </a:p>
          <a:p>
            <a:pPr marL="639762" marR="0" lvl="1" indent="-273049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Boală fizică sau psihică</a:t>
            </a:r>
            <a:endParaRPr/>
          </a:p>
          <a:p>
            <a:pPr marL="639762" marR="0" lvl="1" indent="-273049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Abuz fizic, emoţional, sexual</a:t>
            </a:r>
            <a:endParaRPr/>
          </a:p>
          <a:p>
            <a:pPr marL="639762" marR="0" lvl="1" indent="-273049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Situaţie financiară precară</a:t>
            </a:r>
            <a:endParaRPr/>
          </a:p>
          <a:p>
            <a:pPr marL="639762" marR="0" lvl="1" indent="-273049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Pierderea locului de muncă</a:t>
            </a:r>
            <a:endParaRPr/>
          </a:p>
          <a:p>
            <a:pPr marL="639762" marR="0" lvl="1" indent="-273049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Şcoala</a:t>
            </a:r>
            <a:endParaRPr/>
          </a:p>
          <a:p>
            <a:pPr marL="639762" marR="0" lvl="1" indent="-273049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Familia</a:t>
            </a:r>
            <a:endParaRPr/>
          </a:p>
          <a:p>
            <a:pPr marL="639762" marR="0" lvl="1" indent="-273049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Prietenii</a:t>
            </a:r>
            <a:endParaRPr/>
          </a:p>
          <a:p>
            <a:pPr marL="639762" marR="0" lvl="1" indent="-273049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Dezastre naturale</a:t>
            </a:r>
            <a:endParaRPr/>
          </a:p>
          <a:p>
            <a:pPr marL="639762" marR="0" lvl="1" indent="-273049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●"/>
            </a:pPr>
            <a:r>
              <a:rPr lang="en-US" sz="1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Propria persoană</a:t>
            </a:r>
            <a:endParaRPr/>
          </a:p>
          <a:p>
            <a:pPr marL="639762" marR="0" lvl="1" indent="-201929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endParaRPr sz="14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273050" marR="0" lvl="0" indent="-2108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Noto Sans Symbols"/>
              <a:buNone/>
            </a:pPr>
            <a:endParaRPr sz="14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54" name="Google Shape;154;p6" descr="stress_graph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14750" y="2357437"/>
            <a:ext cx="4703762" cy="3929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 txBox="1">
            <a:spLocks noGrp="1"/>
          </p:cNvSpPr>
          <p:nvPr>
            <p:ph type="body" idx="1"/>
          </p:nvPr>
        </p:nvSpPr>
        <p:spPr>
          <a:xfrm>
            <a:off x="142875" y="1905000"/>
            <a:ext cx="4214812" cy="466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3050" marR="0" lvl="0" indent="-2730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🞆"/>
            </a:pPr>
            <a:r>
              <a:rPr lang="en-US" sz="3200" b="1" i="1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Reacţii fiziologice</a:t>
            </a:r>
            <a:endParaRPr/>
          </a:p>
          <a:p>
            <a:pPr marL="273050" marR="0" lvl="0" indent="-27305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None/>
            </a:pPr>
            <a:endParaRPr sz="2200" b="1" i="1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639762" marR="0" lvl="1" indent="-273049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❑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Dureri de inimă, palpitaţii</a:t>
            </a:r>
            <a:endParaRPr/>
          </a:p>
          <a:p>
            <a:pPr marL="639762" marR="0" lvl="1" indent="-273049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❑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Apetit alimentar scăzut sau crescut</a:t>
            </a:r>
            <a:endParaRPr/>
          </a:p>
          <a:p>
            <a:pPr marL="639762" marR="0" lvl="1" indent="-273049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❑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Indigestii frecvente</a:t>
            </a:r>
            <a:endParaRPr/>
          </a:p>
          <a:p>
            <a:pPr marL="639762" marR="0" lvl="1" indent="-273049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❑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Insomnii</a:t>
            </a:r>
            <a:endParaRPr/>
          </a:p>
          <a:p>
            <a:pPr marL="639762" marR="0" lvl="1" indent="-273049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❑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Crampe, dureri musculare</a:t>
            </a:r>
            <a:endParaRPr/>
          </a:p>
          <a:p>
            <a:pPr marL="639762" marR="0" lvl="1" indent="-273049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❑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Dureri de cap</a:t>
            </a:r>
            <a:endParaRPr/>
          </a:p>
          <a:p>
            <a:pPr marL="639762" marR="0" lvl="1" indent="-273049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❑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Transpiraţie excesivă</a:t>
            </a:r>
            <a:endParaRPr/>
          </a:p>
          <a:p>
            <a:pPr marL="639762" marR="0" lvl="1" indent="-273049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❑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Oboseală cronică</a:t>
            </a:r>
            <a:endParaRPr/>
          </a:p>
        </p:txBody>
      </p:sp>
      <p:sp>
        <p:nvSpPr>
          <p:cNvPr id="163" name="Google Shape;163;p7"/>
          <p:cNvSpPr txBox="1"/>
          <p:nvPr/>
        </p:nvSpPr>
        <p:spPr>
          <a:xfrm>
            <a:off x="457200" y="7620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Componentele stresului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entury Schoolbook"/>
              <a:buNone/>
            </a:pPr>
            <a:r>
              <a:rPr lang="en-US" sz="36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2. Reacții la stres(I)</a:t>
            </a:r>
            <a:endParaRPr sz="3600" b="0" i="0" u="none" strike="noStrike" cap="none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64" name="Google Shape;164;p7"/>
          <p:cNvSpPr txBox="1">
            <a:spLocks noGrp="1"/>
          </p:cNvSpPr>
          <p:nvPr>
            <p:ph type="body" idx="2"/>
          </p:nvPr>
        </p:nvSpPr>
        <p:spPr>
          <a:xfrm>
            <a:off x="4357687" y="1714500"/>
            <a:ext cx="4357687" cy="491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marR="0" lvl="0" indent="-27305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🞆"/>
            </a:pPr>
            <a:r>
              <a:rPr lang="en-US" sz="3200" b="1" i="1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Reacţii emoţionale</a:t>
            </a:r>
            <a:endParaRPr/>
          </a:p>
          <a:p>
            <a:pPr marL="639762" marR="0" lvl="1" indent="-273049" algn="l" rtl="0">
              <a:lnSpc>
                <a:spcPct val="150000"/>
              </a:lnSpc>
              <a:spcBef>
                <a:spcPts val="9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❑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Iritabilitate</a:t>
            </a:r>
            <a:endParaRPr/>
          </a:p>
          <a:p>
            <a:pPr marL="639762" marR="0" lvl="1" indent="-273049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❑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Scăderea interesului</a:t>
            </a:r>
            <a:endParaRPr/>
          </a:p>
          <a:p>
            <a:pPr marL="639762" marR="0" lvl="1" indent="-273049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❑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Instabilitate emoţională</a:t>
            </a:r>
            <a:endParaRPr/>
          </a:p>
          <a:p>
            <a:pPr marL="639762" marR="0" lvl="1" indent="-273049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❑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Anxietate sau depresie</a:t>
            </a:r>
            <a:endParaRPr/>
          </a:p>
          <a:p>
            <a:pPr marL="639762" marR="0" lvl="1" indent="-273049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❑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Dificultăţi în a te relaxa</a:t>
            </a:r>
            <a:endParaRPr/>
          </a:p>
          <a:p>
            <a:pPr marL="639762" marR="0" lvl="1" indent="-273049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❑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Neîncredere în ceilalţi/în viitor</a:t>
            </a:r>
            <a:endParaRPr/>
          </a:p>
          <a:p>
            <a:pPr marL="639762" marR="0" lvl="1" indent="-273049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❑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Sentimentul că eşti ratat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1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1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1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1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8E314-299A-40D5-B0A6-2F87D16E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D741D-4174-923B-D350-0B98D1C19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4B23CE-1F7D-EDF8-A02C-CA5ECC4EC89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BF3068-843B-E4AF-3D7D-20199DE70FB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BA01D2A-E091-21C2-BBBE-F48841780FA9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377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 txBox="1">
            <a:spLocks noGrp="1"/>
          </p:cNvSpPr>
          <p:nvPr>
            <p:ph type="body" idx="1"/>
          </p:nvPr>
        </p:nvSpPr>
        <p:spPr>
          <a:xfrm>
            <a:off x="-228600" y="1752600"/>
            <a:ext cx="4876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4987" marR="0" lvl="0" indent="-25558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lang="en-US" sz="2400" b="1" i="1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Reacţii cognitive</a:t>
            </a:r>
            <a:endParaRPr/>
          </a:p>
          <a:p>
            <a:pPr marL="639762" marR="0" lvl="1" indent="-273049" algn="l" rtl="0">
              <a:lnSpc>
                <a:spcPct val="160000"/>
              </a:lnSpc>
              <a:spcBef>
                <a:spcPts val="9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❑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Blocaje ale gândirii</a:t>
            </a:r>
            <a:endParaRPr/>
          </a:p>
          <a:p>
            <a:pPr marL="639762" marR="0" lvl="1" indent="-273049" algn="l" rtl="0">
              <a:lnSpc>
                <a:spcPct val="16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❑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Deficit de atenţie</a:t>
            </a:r>
            <a:endParaRPr/>
          </a:p>
          <a:p>
            <a:pPr marL="639762" marR="0" lvl="1" indent="-273049" algn="l" rtl="0">
              <a:lnSpc>
                <a:spcPct val="16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❑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Diminuarea creativităţii</a:t>
            </a:r>
            <a:endParaRPr/>
          </a:p>
          <a:p>
            <a:pPr marL="639762" marR="0" lvl="1" indent="-273049" algn="l" rtl="0">
              <a:lnSpc>
                <a:spcPct val="16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❑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Dificultăţi în luarea deciziilor</a:t>
            </a:r>
            <a:endParaRPr/>
          </a:p>
          <a:p>
            <a:pPr marL="639762" marR="0" lvl="1" indent="-273049" algn="l" rtl="0">
              <a:lnSpc>
                <a:spcPct val="16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❑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Gânduri negative despre sine, lume, viitor</a:t>
            </a:r>
            <a:endParaRPr/>
          </a:p>
          <a:p>
            <a:pPr marL="639762" marR="0" lvl="1" indent="-273049" algn="l" rtl="0">
              <a:lnSpc>
                <a:spcPct val="16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❑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Ideaţie suicidară</a:t>
            </a:r>
            <a:endParaRPr/>
          </a:p>
        </p:txBody>
      </p:sp>
      <p:sp>
        <p:nvSpPr>
          <p:cNvPr id="173" name="Google Shape;173;p8"/>
          <p:cNvSpPr txBox="1">
            <a:spLocks noGrp="1"/>
          </p:cNvSpPr>
          <p:nvPr>
            <p:ph type="body" idx="2"/>
          </p:nvPr>
        </p:nvSpPr>
        <p:spPr>
          <a:xfrm>
            <a:off x="4114800" y="1752600"/>
            <a:ext cx="5529262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marR="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lang="en-US" sz="2400" b="1" i="1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Reacţii comportamentale</a:t>
            </a:r>
            <a:endParaRPr/>
          </a:p>
          <a:p>
            <a:pPr marL="639762" marR="0" lvl="1" indent="-273048" algn="l" rtl="0">
              <a:lnSpc>
                <a:spcPct val="160000"/>
              </a:lnSpc>
              <a:spcBef>
                <a:spcPts val="94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❑"/>
            </a:pPr>
            <a:r>
              <a:rPr lang="en-US" sz="17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Performanţe scăzute</a:t>
            </a:r>
            <a:endParaRPr/>
          </a:p>
          <a:p>
            <a:pPr marL="639762" marR="0" lvl="1" indent="-273048" algn="l" rtl="0">
              <a:lnSpc>
                <a:spcPct val="16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❑"/>
            </a:pPr>
            <a:r>
              <a:rPr lang="en-US" sz="17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Fumat excesiv</a:t>
            </a:r>
            <a:endParaRPr/>
          </a:p>
          <a:p>
            <a:pPr marL="639762" marR="0" lvl="1" indent="-273048" algn="l" rtl="0">
              <a:lnSpc>
                <a:spcPct val="16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❑"/>
            </a:pPr>
            <a:r>
              <a:rPr lang="en-US" sz="17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Consum exagerat de alcool</a:t>
            </a:r>
            <a:endParaRPr/>
          </a:p>
          <a:p>
            <a:pPr marL="639762" marR="0" lvl="1" indent="-273048" algn="l" rtl="0">
              <a:lnSpc>
                <a:spcPct val="16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❑"/>
            </a:pPr>
            <a:r>
              <a:rPr lang="en-US" sz="17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Tulburări de somn</a:t>
            </a:r>
            <a:endParaRPr/>
          </a:p>
          <a:p>
            <a:pPr marL="639762" marR="0" lvl="1" indent="-273048" algn="l" rtl="0">
              <a:lnSpc>
                <a:spcPct val="16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❑"/>
            </a:pPr>
            <a:r>
              <a:rPr lang="en-US" sz="17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Management ineficient al timpului</a:t>
            </a:r>
            <a:endParaRPr/>
          </a:p>
          <a:p>
            <a:pPr marL="639762" marR="0" lvl="1" indent="-273048" algn="l" rtl="0">
              <a:lnSpc>
                <a:spcPct val="16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❑"/>
            </a:pPr>
            <a:r>
              <a:rPr lang="en-US" sz="17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Izolare de prieteni</a:t>
            </a:r>
            <a:endParaRPr/>
          </a:p>
          <a:p>
            <a:pPr marL="639762" marR="0" lvl="1" indent="-273048" algn="l" rtl="0">
              <a:lnSpc>
                <a:spcPct val="16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❑"/>
            </a:pPr>
            <a:r>
              <a:rPr lang="en-US" sz="17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Comportamente agresive</a:t>
            </a:r>
            <a:endParaRPr/>
          </a:p>
        </p:txBody>
      </p:sp>
      <p:sp>
        <p:nvSpPr>
          <p:cNvPr id="174" name="Google Shape;174;p8"/>
          <p:cNvSpPr txBox="1"/>
          <p:nvPr/>
        </p:nvSpPr>
        <p:spPr>
          <a:xfrm>
            <a:off x="457200" y="-7620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Black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Componentele stresului</a:t>
            </a:r>
            <a:br>
              <a:rPr lang="en-US" sz="40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sz="3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Reacții la stres (II)</a:t>
            </a:r>
            <a:endParaRPr sz="3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1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>
            <a:spLocks noGrp="1"/>
          </p:cNvSpPr>
          <p:nvPr>
            <p:ph type="body" idx="1"/>
          </p:nvPr>
        </p:nvSpPr>
        <p:spPr>
          <a:xfrm>
            <a:off x="152400" y="1785937"/>
            <a:ext cx="8763000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marR="0" lvl="0" indent="-2730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</a:pP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resurse individuale (</a:t>
            </a:r>
            <a:r>
              <a:rPr lang="en-US" sz="2000" b="0" i="1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coping</a:t>
            </a: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 = capacitatea </a:t>
            </a:r>
            <a:r>
              <a:rPr lang="en-US" sz="20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cognitivă, emoţională </a:t>
            </a: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şi </a:t>
            </a:r>
            <a:r>
              <a:rPr lang="en-US" sz="20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comportamentală</a:t>
            </a: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de a </a:t>
            </a:r>
            <a:r>
              <a:rPr lang="en-US" sz="2000" b="0" i="0" u="sng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reduce, stăpâni sau tolera </a:t>
            </a: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solicitările interne sau externe care depăşesc capacitatea de răspuns automată a organismului</a:t>
            </a:r>
            <a:endParaRPr/>
          </a:p>
        </p:txBody>
      </p:sp>
      <p:sp>
        <p:nvSpPr>
          <p:cNvPr id="183" name="Google Shape;183;p9"/>
          <p:cNvSpPr txBox="1"/>
          <p:nvPr/>
        </p:nvSpPr>
        <p:spPr>
          <a:xfrm>
            <a:off x="152400" y="0"/>
            <a:ext cx="89916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9"/>
          <p:cNvSpPr txBox="1"/>
          <p:nvPr/>
        </p:nvSpPr>
        <p:spPr>
          <a:xfrm>
            <a:off x="152400" y="76200"/>
            <a:ext cx="8686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 Black"/>
              <a:buNone/>
            </a:pPr>
            <a:r>
              <a:rPr lang="en-US" sz="41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Componentele stresului</a:t>
            </a:r>
            <a:br>
              <a:rPr lang="en-US" sz="41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n-US" sz="1600" b="1" i="0" u="none" strike="noStrike" cap="none">
                <a:solidFill>
                  <a:srgbClr val="DEF5FA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sz="3300" b="0" i="0" u="none" strike="noStrike" cap="none">
                <a:solidFill>
                  <a:srgbClr val="464646"/>
                </a:solidFill>
                <a:latin typeface="Arial"/>
                <a:ea typeface="Arial"/>
                <a:cs typeface="Arial"/>
                <a:sym typeface="Arial"/>
              </a:rPr>
              <a:t>3. Resurse personale de a face faţă stresului (I)</a:t>
            </a:r>
            <a:endParaRPr sz="3300" b="0" i="0" u="none" strike="noStrike" cap="none">
              <a:solidFill>
                <a:srgbClr val="DEF5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9" descr="asistenta-psihologica-stres-1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0" y="3214687"/>
            <a:ext cx="4500562" cy="2932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 txBox="1">
            <a:spLocks noGrp="1"/>
          </p:cNvSpPr>
          <p:nvPr>
            <p:ph type="body" idx="1"/>
          </p:nvPr>
        </p:nvSpPr>
        <p:spPr>
          <a:xfrm>
            <a:off x="285750" y="1643062"/>
            <a:ext cx="8229600" cy="467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3050" marR="0" lvl="0" indent="-27305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ts val="2310"/>
              <a:buFont typeface="Noto Sans Symbols"/>
              <a:buChar char="🞆"/>
            </a:pPr>
            <a:r>
              <a:rPr lang="en-US" sz="3300" b="0" i="0" u="non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Resurse</a:t>
            </a:r>
            <a:endParaRPr sz="3000" b="0" i="0" u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639762" marR="0" lvl="1" indent="-273049" algn="just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2DA2BF"/>
              </a:buClr>
              <a:buSzPts val="1920"/>
              <a:buFont typeface="Noto Sans Symbols"/>
              <a:buChar char="⚫"/>
            </a:pPr>
            <a:r>
              <a:rPr lang="en-US" sz="2400" b="1" i="0" u="none" strike="noStrike" cap="non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Reale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(intelectuale, fizice, sociale, emoţionale)</a:t>
            </a:r>
            <a:endParaRPr/>
          </a:p>
          <a:p>
            <a:pPr marL="639762" marR="0" lvl="1" indent="-273049" algn="just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2DA2BF"/>
              </a:buClr>
              <a:buSzPts val="1920"/>
              <a:buFont typeface="Noto Sans Symbols"/>
              <a:buChar char="⚫"/>
            </a:pPr>
            <a:r>
              <a:rPr lang="en-US" sz="2400" b="0" i="0" u="none" strike="noStrike" cap="non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Subevaluarea resurselor personale –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autoperceptie</a:t>
            </a:r>
            <a:endParaRPr/>
          </a:p>
          <a:p>
            <a:pPr marL="639762" marR="0" lvl="1" indent="-273049" algn="just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endParaRPr sz="2400" b="1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273050" marR="0" lvl="0" indent="-27305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2DA2BF"/>
              </a:buClr>
              <a:buSzPts val="2310"/>
              <a:buFont typeface="Noto Sans Symbols"/>
              <a:buChar char="🞆"/>
            </a:pPr>
            <a:r>
              <a:rPr lang="en-US" sz="3300" b="0" i="0" u="non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Factori de protecţie</a:t>
            </a:r>
            <a:endParaRPr sz="2600" b="0" i="0" u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639762" marR="0" lvl="1" indent="-273049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2DA2BF"/>
              </a:buClr>
              <a:buSzPts val="2080"/>
              <a:buFont typeface="Noto Sans Symbols"/>
              <a:buChar char="⚫"/>
            </a:pPr>
            <a:r>
              <a:rPr lang="en-US" sz="2600" b="1" i="0" u="none" strike="noStrike" cap="non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stima de sine</a:t>
            </a:r>
            <a:endParaRPr/>
          </a:p>
          <a:p>
            <a:pPr marL="639762" marR="0" lvl="1" indent="-273049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2DA2BF"/>
              </a:buClr>
              <a:buSzPts val="2080"/>
              <a:buFont typeface="Noto Sans Symbols"/>
              <a:buChar char="⚫"/>
            </a:pPr>
            <a:r>
              <a:rPr lang="en-US" sz="2600" b="1" i="0" u="none" strike="noStrike" cap="non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asertivitatea</a:t>
            </a:r>
            <a:endParaRPr/>
          </a:p>
          <a:p>
            <a:pPr marL="639762" marR="0" lvl="1" indent="-273049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2DA2BF"/>
              </a:buClr>
              <a:buSzPts val="2080"/>
              <a:buFont typeface="Noto Sans Symbols"/>
              <a:buChar char="⚫"/>
            </a:pPr>
            <a:r>
              <a:rPr lang="en-US" sz="2600" b="1" i="0" u="none" strike="noStrike" cap="non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optimismul</a:t>
            </a:r>
            <a:endParaRPr/>
          </a:p>
          <a:p>
            <a:pPr marL="639762" marR="0" lvl="1" indent="-273049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2DA2BF"/>
              </a:buClr>
              <a:buSzPts val="2080"/>
              <a:buFont typeface="Noto Sans Symbols"/>
              <a:buChar char="⚫"/>
            </a:pPr>
            <a:r>
              <a:rPr lang="en-US" sz="2600" b="1" i="0" u="none" strike="noStrike" cap="non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autoeficacitatea</a:t>
            </a:r>
            <a:endParaRPr/>
          </a:p>
        </p:txBody>
      </p:sp>
      <p:sp>
        <p:nvSpPr>
          <p:cNvPr id="191" name="Google Shape;191;p10"/>
          <p:cNvSpPr txBox="1"/>
          <p:nvPr/>
        </p:nvSpPr>
        <p:spPr>
          <a:xfrm>
            <a:off x="152400" y="76200"/>
            <a:ext cx="8686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 Black"/>
              <a:buNone/>
            </a:pPr>
            <a:r>
              <a:rPr lang="en-US" sz="41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Componentele stresului</a:t>
            </a:r>
            <a:br>
              <a:rPr lang="en-US" sz="41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n-US" sz="1600" b="1" i="0" u="none" strike="noStrike" cap="none">
                <a:solidFill>
                  <a:srgbClr val="DEF5FA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sz="3300" b="0" i="0" u="none" strike="noStrike" cap="none">
                <a:solidFill>
                  <a:srgbClr val="464646"/>
                </a:solidFill>
                <a:latin typeface="Arial"/>
                <a:ea typeface="Arial"/>
                <a:cs typeface="Arial"/>
                <a:sym typeface="Arial"/>
              </a:rPr>
              <a:t>3. Resurse personale de a face faţă stresului (II)</a:t>
            </a:r>
            <a:endParaRPr sz="3300" b="0" i="0" u="none" strike="noStrike" cap="none">
              <a:solidFill>
                <a:srgbClr val="DEF5F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"/>
          <p:cNvSpPr txBox="1">
            <a:spLocks noGrp="1"/>
          </p:cNvSpPr>
          <p:nvPr>
            <p:ph type="title"/>
          </p:nvPr>
        </p:nvSpPr>
        <p:spPr>
          <a:xfrm>
            <a:off x="457200" y="714375"/>
            <a:ext cx="8472487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F5FA"/>
              </a:buClr>
              <a:buSzPts val="2900"/>
              <a:buFont typeface="Arial"/>
              <a:buNone/>
            </a:pPr>
            <a:br>
              <a:rPr lang="en-US" sz="2900" b="0" i="0" u="none">
                <a:solidFill>
                  <a:srgbClr val="DEF5F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7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97" name="Google Shape;197;p11"/>
          <p:cNvSpPr txBox="1">
            <a:spLocks noGrp="1"/>
          </p:cNvSpPr>
          <p:nvPr>
            <p:ph type="body" idx="1"/>
          </p:nvPr>
        </p:nvSpPr>
        <p:spPr>
          <a:xfrm>
            <a:off x="-142875" y="1785937"/>
            <a:ext cx="3786187" cy="4929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marR="0" lvl="0" indent="-2730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</a:t>
            </a:r>
            <a:r>
              <a:rPr lang="en-US" sz="2000" b="0" i="0" u="none">
                <a:solidFill>
                  <a:srgbClr val="E75C0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Mecanisme de coping</a:t>
            </a:r>
            <a:endParaRPr/>
          </a:p>
          <a:p>
            <a:pPr marL="273050" marR="0" lvl="0" indent="-1841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639762" marR="0" lvl="1" indent="-273049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⚫"/>
            </a:pPr>
            <a:r>
              <a:rPr lang="en-US"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Căutarea suportului social</a:t>
            </a:r>
            <a:endParaRPr/>
          </a:p>
          <a:p>
            <a:pPr marL="639762" marR="0" lvl="1" indent="-273049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⚫"/>
            </a:pPr>
            <a:r>
              <a:rPr lang="en-US"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Rezolvarea de probleme</a:t>
            </a:r>
            <a:endParaRPr/>
          </a:p>
          <a:p>
            <a:pPr marL="639762" marR="0" lvl="1" indent="-273049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⚫"/>
            </a:pPr>
            <a:r>
              <a:rPr lang="en-US"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Căutarea de informaţii</a:t>
            </a:r>
            <a:endParaRPr/>
          </a:p>
          <a:p>
            <a:pPr marL="639762" marR="0" lvl="1" indent="-273049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⚫"/>
            </a:pPr>
            <a:r>
              <a:rPr lang="en-US"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Tehnicile de relaxare</a:t>
            </a:r>
            <a:endParaRPr/>
          </a:p>
          <a:p>
            <a:pPr marL="639762" marR="0" lvl="1" indent="-273049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⚫"/>
            </a:pPr>
            <a:r>
              <a:rPr lang="en-US"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Umorul</a:t>
            </a:r>
            <a:endParaRPr/>
          </a:p>
          <a:p>
            <a:pPr marL="639762" marR="0" lvl="1" indent="-273049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⚫"/>
            </a:pPr>
            <a:r>
              <a:rPr lang="en-US"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Religia</a:t>
            </a:r>
            <a:endParaRPr/>
          </a:p>
          <a:p>
            <a:pPr marL="639762" marR="0" lvl="1" indent="-273049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⚫"/>
            </a:pPr>
            <a:r>
              <a:rPr lang="en-US"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Reevaluarea pozitivă</a:t>
            </a:r>
            <a:endParaRPr/>
          </a:p>
        </p:txBody>
      </p:sp>
      <p:sp>
        <p:nvSpPr>
          <p:cNvPr id="198" name="Google Shape;198;p11"/>
          <p:cNvSpPr txBox="1"/>
          <p:nvPr/>
        </p:nvSpPr>
        <p:spPr>
          <a:xfrm>
            <a:off x="4214812" y="1857375"/>
            <a:ext cx="472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marR="0" lvl="0" indent="-27305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5C01"/>
              </a:buClr>
              <a:buSzPts val="2000"/>
              <a:buFont typeface="Century Schoolbook"/>
              <a:buNone/>
            </a:pPr>
            <a:r>
              <a:rPr lang="en-US" sz="2000" b="0" i="0" u="none">
                <a:solidFill>
                  <a:srgbClr val="E75C0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Răspunsul la evenimentele stresante</a:t>
            </a:r>
            <a:endParaRPr/>
          </a:p>
        </p:txBody>
      </p:sp>
      <p:sp>
        <p:nvSpPr>
          <p:cNvPr id="199" name="Google Shape;199;p11"/>
          <p:cNvSpPr txBox="1"/>
          <p:nvPr/>
        </p:nvSpPr>
        <p:spPr>
          <a:xfrm>
            <a:off x="3933825" y="2357437"/>
            <a:ext cx="5210175" cy="3201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20712" marR="0" lvl="1" indent="-228599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ts val="2000"/>
              <a:buFont typeface="Verdana"/>
              <a:buChar char="◦"/>
            </a:pPr>
            <a:r>
              <a:rPr lang="en-US" sz="20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Neimplicare</a:t>
            </a:r>
            <a:endParaRPr/>
          </a:p>
          <a:p>
            <a:pPr marL="620712" marR="0" lvl="1" indent="-228599" algn="l" rtl="0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2DA2BF"/>
              </a:buClr>
              <a:buSzPts val="2000"/>
              <a:buFont typeface="Verdana"/>
              <a:buChar char="◦"/>
            </a:pPr>
            <a:r>
              <a:rPr lang="en-US" sz="20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Acţiune directă asupra stresorilor</a:t>
            </a:r>
            <a:endParaRPr/>
          </a:p>
          <a:p>
            <a:pPr marL="620712" marR="0" lvl="1" indent="-228599" algn="l" rtl="0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2DA2BF"/>
              </a:buClr>
              <a:buSzPts val="2000"/>
              <a:buFont typeface="Verdana"/>
              <a:buChar char="◦"/>
            </a:pPr>
            <a:r>
              <a:rPr lang="en-US" sz="20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Căutarea de informaţii despre stresor</a:t>
            </a:r>
            <a:endParaRPr/>
          </a:p>
          <a:p>
            <a:pPr marL="620712" marR="0" lvl="1" indent="-228599" algn="l" rtl="0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2DA2BF"/>
              </a:buClr>
              <a:buSzPts val="2000"/>
              <a:buFont typeface="Verdana"/>
              <a:buChar char="◦"/>
            </a:pPr>
            <a:r>
              <a:rPr lang="en-US" sz="20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Activarea unor mecanisme de apărare </a:t>
            </a:r>
            <a:r>
              <a:rPr lang="en-US" sz="2000" b="0" i="0" u="none" strike="noStrike" cap="none">
                <a:solidFill>
                  <a:srgbClr val="7F7F7F"/>
                </a:solidFill>
                <a:latin typeface="Book Antiqua"/>
                <a:ea typeface="Book Antiqua"/>
                <a:cs typeface="Book Antiqua"/>
                <a:sym typeface="Book Antiqua"/>
              </a:rPr>
              <a:t>(ex: negarea stresorului)</a:t>
            </a:r>
            <a:endParaRPr/>
          </a:p>
        </p:txBody>
      </p:sp>
      <p:sp>
        <p:nvSpPr>
          <p:cNvPr id="200" name="Google Shape;200;p11"/>
          <p:cNvSpPr txBox="1"/>
          <p:nvPr/>
        </p:nvSpPr>
        <p:spPr>
          <a:xfrm>
            <a:off x="214312" y="0"/>
            <a:ext cx="8501062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 Black"/>
              <a:buNone/>
            </a:pPr>
            <a:r>
              <a:rPr lang="en-US" sz="3200" b="0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Componentele stresului</a:t>
            </a:r>
            <a:br>
              <a:rPr lang="en-US" sz="3000" b="1" i="0" u="none">
                <a:solidFill>
                  <a:srgbClr val="DEF5FA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sz="3000" b="0" i="0" u="none">
                <a:solidFill>
                  <a:srgbClr val="464646"/>
                </a:solidFill>
                <a:latin typeface="Arial"/>
                <a:ea typeface="Arial"/>
                <a:cs typeface="Arial"/>
                <a:sym typeface="Arial"/>
              </a:rPr>
              <a:t>3. Resurse personale de a face faţă stresului (III)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76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en-US" sz="30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MANAGEMENTUL STRESULUI</a:t>
            </a:r>
            <a:endParaRPr/>
          </a:p>
        </p:txBody>
      </p:sp>
      <p:sp>
        <p:nvSpPr>
          <p:cNvPr id="209" name="Google Shape;209;p12"/>
          <p:cNvSpPr txBox="1">
            <a:spLocks noGrp="1"/>
          </p:cNvSpPr>
          <p:nvPr>
            <p:ph type="body" idx="1"/>
          </p:nvPr>
        </p:nvSpPr>
        <p:spPr>
          <a:xfrm>
            <a:off x="714375" y="1447800"/>
            <a:ext cx="8277225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marR="0" lvl="0" indent="-2730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lang="en-US" sz="2400" b="0" i="0" u="none">
                <a:solidFill>
                  <a:srgbClr val="E75C0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Simpla realizare a faptului că </a:t>
            </a:r>
            <a:r>
              <a:rPr lang="en-US" sz="2400" b="1" i="0" u="none">
                <a:solidFill>
                  <a:srgbClr val="E75C0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tu deţii controlul asupra vieţii tale </a:t>
            </a:r>
            <a:r>
              <a:rPr lang="en-US" sz="2400" b="0" i="0" u="none">
                <a:solidFill>
                  <a:srgbClr val="E75C0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este fundamentul managementului stresului.</a:t>
            </a:r>
            <a:endParaRPr/>
          </a:p>
          <a:p>
            <a:pPr marL="273050" marR="0" lvl="0" indent="-2730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None/>
            </a:pPr>
            <a:endParaRPr sz="1800" b="0" i="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273050" marR="0" lvl="0" indent="-2730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Noto Sans Symbols"/>
              <a:buChar char="🞆"/>
            </a:pPr>
            <a:r>
              <a:rPr lang="en-US" sz="36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Controlezi</a:t>
            </a:r>
            <a:endParaRPr/>
          </a:p>
          <a:p>
            <a:pPr marL="639762" marR="0" lvl="1" indent="-273049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⚫"/>
            </a:pPr>
            <a:r>
              <a:rPr lang="en-US" sz="3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Gândurile</a:t>
            </a:r>
            <a:endParaRPr/>
          </a:p>
          <a:p>
            <a:pPr marL="639762" marR="0" lvl="1" indent="-273049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⚫"/>
            </a:pPr>
            <a:r>
              <a:rPr lang="en-US" sz="3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Emoţiile</a:t>
            </a:r>
            <a:endParaRPr/>
          </a:p>
          <a:p>
            <a:pPr marL="639762" marR="0" lvl="1" indent="-273049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⚫"/>
            </a:pPr>
            <a:r>
              <a:rPr lang="en-US" sz="3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Programul</a:t>
            </a:r>
            <a:endParaRPr/>
          </a:p>
          <a:p>
            <a:pPr marL="639762" marR="0" lvl="1" indent="-273049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⚫"/>
            </a:pPr>
            <a:r>
              <a:rPr lang="en-US" sz="3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Mediul</a:t>
            </a:r>
            <a:endParaRPr/>
          </a:p>
          <a:p>
            <a:pPr marL="639762" marR="0" lvl="1" indent="-273049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⚫"/>
            </a:pPr>
            <a:r>
              <a:rPr lang="en-US" sz="3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Felul în care abordezi problema</a:t>
            </a:r>
            <a:endParaRPr/>
          </a:p>
        </p:txBody>
      </p:sp>
      <p:pic>
        <p:nvPicPr>
          <p:cNvPr id="210" name="Google Shape;210;p12" descr="C:\Users\gabi\Desktop\image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3375" y="2428875"/>
            <a:ext cx="2786062" cy="2786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en-US" sz="2500" b="1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MANAGEMENTUL STRESULUI</a:t>
            </a:r>
            <a:br>
              <a:rPr lang="en-US" sz="2500" b="1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n-US" sz="800" b="1" i="0" u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sz="35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IDENTIFICAREA STRESORILOR (I)</a:t>
            </a:r>
            <a:endParaRPr sz="2500"/>
          </a:p>
        </p:txBody>
      </p:sp>
      <p:sp>
        <p:nvSpPr>
          <p:cNvPr id="219" name="Google Shape;219;p13"/>
          <p:cNvSpPr txBox="1">
            <a:spLocks noGrp="1"/>
          </p:cNvSpPr>
          <p:nvPr>
            <p:ph type="body" idx="1"/>
          </p:nvPr>
        </p:nvSpPr>
        <p:spPr>
          <a:xfrm>
            <a:off x="152400" y="1700212"/>
            <a:ext cx="8839200" cy="425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marR="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rPr lang="en-US" sz="28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Analizează-ţi </a:t>
            </a:r>
            <a:r>
              <a:rPr lang="en-US" sz="28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obiceiurile, atitudinile, scuzele</a:t>
            </a:r>
            <a:r>
              <a:rPr lang="en-US" sz="28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/>
          </a:p>
          <a:p>
            <a:pPr marL="639762" marR="0" lvl="1" indent="-19176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endParaRPr sz="16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639762" marR="0" lvl="1" indent="-27304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⚫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Explici stresul ca fiind </a:t>
            </a:r>
            <a:r>
              <a:rPr lang="en-US" sz="1600" b="1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temporar</a:t>
            </a: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deşi nu mai ştii când ai avut ultima oară o pauză?</a:t>
            </a:r>
            <a:endParaRPr/>
          </a:p>
          <a:p>
            <a:pPr marL="639762" marR="0" lvl="1" indent="-19176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endParaRPr sz="16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639762" marR="0" lvl="1" indent="-19176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endParaRPr sz="16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639762" marR="0" lvl="1" indent="-19176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endParaRPr sz="16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639762" marR="0" lvl="1" indent="-19176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endParaRPr sz="16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639762" marR="0" lvl="1" indent="-19176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endParaRPr sz="16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639762" marR="0" lvl="1" indent="-19176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endParaRPr sz="16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639762" marR="0" lvl="1" indent="-19176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endParaRPr sz="16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639762" marR="0" lvl="1" indent="-19176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endParaRPr sz="16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639762" marR="0" lvl="1" indent="-19176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endParaRPr sz="16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639762" marR="0" lvl="1" indent="-27304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⚫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Defineşti stresul ca fiind </a:t>
            </a:r>
            <a:r>
              <a:rPr lang="en-US" sz="1600" b="1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parte din munca </a:t>
            </a: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sau </a:t>
            </a:r>
            <a:r>
              <a:rPr lang="en-US" sz="1600" b="1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personalitatea</a:t>
            </a: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ta?</a:t>
            </a:r>
            <a:endParaRPr/>
          </a:p>
          <a:p>
            <a:pPr marL="639762" marR="0" lvl="1" indent="-27304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⚫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Dai </a:t>
            </a:r>
            <a:r>
              <a:rPr lang="en-US" sz="1600" b="1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vina pe alţii </a:t>
            </a: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pentru stres, sau îl consideri o </a:t>
            </a:r>
            <a:r>
              <a:rPr lang="en-US" sz="1600" b="1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stare normală</a:t>
            </a: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?</a:t>
            </a:r>
            <a:endParaRPr/>
          </a:p>
        </p:txBody>
      </p:sp>
      <p:pic>
        <p:nvPicPr>
          <p:cNvPr id="220" name="Google Shape;220;p13" descr="C:\Users\gabi\Desktop\fara-stres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6237" y="2852737"/>
            <a:ext cx="2643187" cy="2351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en-US" sz="2500" b="1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MANAGEMENTUL STRESULUI</a:t>
            </a:r>
            <a:br>
              <a:rPr lang="en-US" sz="2500" b="1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n-US" sz="800" b="1" i="0" u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sz="35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IDENTIFICAREA STRESORILOR (II)</a:t>
            </a:r>
            <a:endParaRPr sz="2500"/>
          </a:p>
        </p:txBody>
      </p:sp>
      <p:sp>
        <p:nvSpPr>
          <p:cNvPr id="226" name="Google Shape;226;p14"/>
          <p:cNvSpPr txBox="1">
            <a:spLocks noGrp="1"/>
          </p:cNvSpPr>
          <p:nvPr>
            <p:ph type="body" idx="1"/>
          </p:nvPr>
        </p:nvSpPr>
        <p:spPr>
          <a:xfrm>
            <a:off x="428625" y="2209800"/>
            <a:ext cx="8258175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marR="0" lvl="0" indent="-2730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lang="en-US" sz="2400" b="0" i="0" u="none">
                <a:solidFill>
                  <a:srgbClr val="E75C0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Până nu accepţi rolul pe care îl joci în </a:t>
            </a:r>
            <a:r>
              <a:rPr lang="en-US" sz="2400" b="1" i="0" u="none">
                <a:solidFill>
                  <a:srgbClr val="E75C0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crearea şi menţinerea stresului </a:t>
            </a:r>
            <a:r>
              <a:rPr lang="en-US" sz="2400" b="0" i="0" u="none">
                <a:solidFill>
                  <a:srgbClr val="E75C0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nu îţi vei putea controla stresul.</a:t>
            </a:r>
            <a:endParaRPr/>
          </a:p>
          <a:p>
            <a:pPr marL="273050" marR="0" lvl="0" indent="-2730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endParaRPr sz="2400" b="0" i="0" u="none">
              <a:solidFill>
                <a:srgbClr val="E75C0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273050" marR="0" lvl="0" indent="-2730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DA2BF"/>
              </a:buClr>
              <a:buSzPts val="1680"/>
              <a:buFont typeface="Noto Sans Symbols"/>
              <a:buChar char="🞆"/>
            </a:pPr>
            <a:r>
              <a:rPr lang="en-US" sz="2400" b="0" i="0" u="sng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Jurnal de stres</a:t>
            </a:r>
            <a:r>
              <a:rPr lang="en-US" sz="2400" b="0" i="0" u="non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ce crează stresul, cum te-ai simţit, cum ai reacţionat, ce ai făcut ca să te simţi mai bine?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"/>
          <p:cNvSpPr txBox="1">
            <a:spLocks noGrp="1"/>
          </p:cNvSpPr>
          <p:nvPr>
            <p:ph type="body" idx="1"/>
          </p:nvPr>
        </p:nvSpPr>
        <p:spPr>
          <a:xfrm>
            <a:off x="0" y="2209800"/>
            <a:ext cx="9067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09537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90"/>
              <a:buFont typeface="Noto Sans Symbols"/>
              <a:buNone/>
            </a:pPr>
            <a:r>
              <a:rPr lang="en-US" sz="2700" b="0" i="1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Modalităţi nesănătoase de management al stresului:</a:t>
            </a:r>
            <a:endParaRPr/>
          </a:p>
        </p:txBody>
      </p:sp>
      <p:sp>
        <p:nvSpPr>
          <p:cNvPr id="235" name="Google Shape;235;p15"/>
          <p:cNvSpPr txBox="1"/>
          <p:nvPr/>
        </p:nvSpPr>
        <p:spPr>
          <a:xfrm>
            <a:off x="457200" y="304800"/>
            <a:ext cx="82296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en-US" sz="41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Managementul stresului</a:t>
            </a:r>
            <a:br>
              <a:rPr lang="en-US" sz="41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n-US" sz="13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Analiza </a:t>
            </a:r>
            <a:r>
              <a:rPr lang="en-US" sz="40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coping</a:t>
            </a:r>
            <a:r>
              <a:rPr lang="en-US"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-ului actual/nesanatos</a:t>
            </a:r>
            <a:endParaRPr sz="4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5"/>
          <p:cNvSpPr txBox="1"/>
          <p:nvPr/>
        </p:nvSpPr>
        <p:spPr>
          <a:xfrm>
            <a:off x="-228600" y="3014662"/>
            <a:ext cx="510540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20712" marR="0" lvl="1" indent="-22859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ts val="2000"/>
              <a:buFont typeface="Verdana"/>
              <a:buChar char="◦"/>
            </a:pPr>
            <a:r>
              <a:rPr lang="en-US" sz="2000" b="0" i="0" u="none" strike="noStrike" cap="non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Fumat</a:t>
            </a:r>
            <a:endParaRPr/>
          </a:p>
          <a:p>
            <a:pPr marL="620712" marR="0" lvl="1" indent="-228599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2DA2BF"/>
              </a:buClr>
              <a:buSzPts val="2000"/>
              <a:buFont typeface="Verdana"/>
              <a:buChar char="◦"/>
            </a:pPr>
            <a:r>
              <a:rPr lang="en-US" sz="2000" b="0" i="0" u="none" strike="noStrike" cap="non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Consum excesiv de alcool</a:t>
            </a:r>
            <a:endParaRPr/>
          </a:p>
          <a:p>
            <a:pPr marL="620712" marR="0" lvl="1" indent="-228599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2DA2BF"/>
              </a:buClr>
              <a:buSzPts val="2000"/>
              <a:buFont typeface="Verdana"/>
              <a:buChar char="◦"/>
            </a:pPr>
            <a:r>
              <a:rPr lang="en-US" sz="2000" b="0" i="0" u="none" strike="noStrike" cap="non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Obiceiuri alimentare nesănătoase</a:t>
            </a:r>
            <a:endParaRPr/>
          </a:p>
          <a:p>
            <a:pPr marL="620712" marR="0" lvl="1" indent="-228599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2DA2BF"/>
              </a:buClr>
              <a:buSzPts val="2000"/>
              <a:buFont typeface="Verdana"/>
              <a:buChar char="◦"/>
            </a:pPr>
            <a:r>
              <a:rPr lang="en-US" sz="2000" b="0" i="0" u="none" strike="noStrike" cap="non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Izolare socială prin TV/PC</a:t>
            </a:r>
            <a:endParaRPr/>
          </a:p>
          <a:p>
            <a:pPr marL="620712" marR="0" lvl="1" indent="-228599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2DA2BF"/>
              </a:buClr>
              <a:buSzPts val="2000"/>
              <a:buFont typeface="Verdana"/>
              <a:buChar char="◦"/>
            </a:pPr>
            <a:r>
              <a:rPr lang="en-US" sz="2000" b="0" i="0" u="none" strike="noStrike" cap="non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Pastile sau droguri</a:t>
            </a:r>
            <a:endParaRPr/>
          </a:p>
        </p:txBody>
      </p:sp>
      <p:sp>
        <p:nvSpPr>
          <p:cNvPr id="237" name="Google Shape;237;p15"/>
          <p:cNvSpPr txBox="1"/>
          <p:nvPr/>
        </p:nvSpPr>
        <p:spPr>
          <a:xfrm>
            <a:off x="4572000" y="3200400"/>
            <a:ext cx="4459287" cy="21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20712" marR="0" lvl="1" indent="-22859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ts val="1800"/>
              <a:buFont typeface="Verdana"/>
              <a:buChar char="◦"/>
            </a:pPr>
            <a:r>
              <a:rPr lang="en-US" sz="1800" b="0" i="0" u="none" strike="noStrike" cap="non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Somn îndelungat</a:t>
            </a:r>
            <a:endParaRPr/>
          </a:p>
          <a:p>
            <a:pPr marL="620712" marR="0" lvl="1" indent="-228599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2DA2BF"/>
              </a:buClr>
              <a:buSzPts val="1800"/>
              <a:buFont typeface="Verdana"/>
              <a:buChar char="◦"/>
            </a:pPr>
            <a:r>
              <a:rPr lang="en-US" sz="1800" b="0" i="0" u="none" strike="noStrike" cap="non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Procrastinare</a:t>
            </a:r>
            <a:endParaRPr/>
          </a:p>
          <a:p>
            <a:pPr marL="620712" marR="0" lvl="1" indent="-228599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2DA2BF"/>
              </a:buClr>
              <a:buSzPts val="1800"/>
              <a:buFont typeface="Verdana"/>
              <a:buChar char="◦"/>
            </a:pPr>
            <a:r>
              <a:rPr lang="en-US" sz="1800" b="0" i="0" u="none" strike="noStrike" cap="non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Supraîncărcarea programului zilnic</a:t>
            </a:r>
            <a:endParaRPr/>
          </a:p>
          <a:p>
            <a:pPr marL="620712" marR="0" lvl="1" indent="-228599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2DA2BF"/>
              </a:buClr>
              <a:buSzPts val="1800"/>
              <a:buFont typeface="Verdana"/>
              <a:buChar char="◦"/>
            </a:pPr>
            <a:r>
              <a:rPr lang="en-US" sz="1800" b="0" i="0" u="none" strike="noStrike" cap="non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Comportament agresiv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>
            <a:spLocks noGrp="1"/>
          </p:cNvSpPr>
          <p:nvPr>
            <p:ph type="title"/>
          </p:nvPr>
        </p:nvSpPr>
        <p:spPr>
          <a:xfrm>
            <a:off x="355225" y="31755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Black"/>
              <a:buNone/>
            </a:pPr>
            <a:r>
              <a:rPr lang="en-US" sz="3600" b="1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MANAGEMENTUL STRESULUI</a:t>
            </a:r>
            <a:br>
              <a:rPr lang="en-US" sz="36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n-US" sz="1200" b="0" i="0" u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sz="36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US" sz="3600" b="0" i="1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COPING </a:t>
            </a:r>
            <a:r>
              <a:rPr lang="en-US" sz="36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SĂNĂTOS</a:t>
            </a:r>
            <a:endParaRPr sz="2600"/>
          </a:p>
        </p:txBody>
      </p:sp>
      <p:sp>
        <p:nvSpPr>
          <p:cNvPr id="246" name="Google Shape;246;p16"/>
          <p:cNvSpPr txBox="1">
            <a:spLocks noGrp="1"/>
          </p:cNvSpPr>
          <p:nvPr>
            <p:ph type="body" idx="1"/>
          </p:nvPr>
        </p:nvSpPr>
        <p:spPr>
          <a:xfrm>
            <a:off x="76200" y="1857375"/>
            <a:ext cx="9067800" cy="484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marR="0" lvl="0" indent="-609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rPr lang="en-US" sz="2800" b="0" i="1" u="none">
                <a:solidFill>
                  <a:srgbClr val="E75C0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A. Evită stresul inutil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Noto Sans Symbols"/>
              <a:buNone/>
            </a:pPr>
            <a:endParaRPr sz="1400" b="0" i="1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609600" marR="0" lvl="0" indent="-609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lang="en-US" sz="24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Învaţă </a:t>
            </a:r>
            <a:r>
              <a:rPr lang="en-US" sz="24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să spui “Nu” </a:t>
            </a:r>
            <a:r>
              <a:rPr lang="en-US" sz="24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– nu te supraîncărca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lang="en-US" sz="24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Evită </a:t>
            </a:r>
            <a:r>
              <a:rPr lang="en-US" sz="24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persoanele</a:t>
            </a:r>
            <a:r>
              <a:rPr lang="en-US" sz="24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care te stresează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lang="en-US" sz="24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Controlează-ţi </a:t>
            </a:r>
            <a:r>
              <a:rPr lang="en-US" sz="24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mediul</a:t>
            </a: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lang="en-US" sz="2000" b="0" i="0" u="none">
                <a:solidFill>
                  <a:srgbClr val="7F7F7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(ex: evită emisiuni TV stresante, aglomeraţia în magazine, etc.)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lang="en-US" sz="24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Evită </a:t>
            </a:r>
            <a:r>
              <a:rPr lang="en-US" sz="24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subiecte de discuţie </a:t>
            </a:r>
            <a:r>
              <a:rPr lang="en-US" sz="24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aprinse </a:t>
            </a:r>
            <a:r>
              <a:rPr lang="en-US" sz="2000" b="0" i="0" u="none">
                <a:solidFill>
                  <a:srgbClr val="7F7F7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(ex: politică, religie)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lang="en-US" sz="24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Redu lista de activităţi</a:t>
            </a: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ce trebuie </a:t>
            </a:r>
            <a:r>
              <a:rPr lang="en-US" sz="2000" b="0" i="1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vs. </a:t>
            </a: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ce ai vrea să faci.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Black"/>
              <a:buNone/>
            </a:pPr>
            <a:r>
              <a:rPr lang="en-US" sz="3600" b="1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MANAGEMENTUL STRESULUI</a:t>
            </a:r>
            <a:br>
              <a:rPr lang="en-US" sz="36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n-US" sz="1200" b="0" i="0" u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sz="36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US" sz="3600" b="0" i="1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COPING </a:t>
            </a:r>
            <a:r>
              <a:rPr lang="en-US" sz="36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SĂNĂTOS</a:t>
            </a:r>
            <a:endParaRPr sz="2600"/>
          </a:p>
        </p:txBody>
      </p:sp>
      <p:sp>
        <p:nvSpPr>
          <p:cNvPr id="255" name="Google Shape;255;p17"/>
          <p:cNvSpPr txBox="1">
            <a:spLocks noGrp="1"/>
          </p:cNvSpPr>
          <p:nvPr>
            <p:ph type="body" idx="1"/>
          </p:nvPr>
        </p:nvSpPr>
        <p:spPr>
          <a:xfrm>
            <a:off x="0" y="2057400"/>
            <a:ext cx="9144000" cy="451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09600" marR="0" lvl="0" indent="-6096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lang="en-US" sz="2400" b="0" i="1" u="none">
                <a:solidFill>
                  <a:srgbClr val="E75C0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B. Modifică situaţia</a:t>
            </a:r>
            <a:endParaRPr/>
          </a:p>
          <a:p>
            <a:pPr marL="609600" marR="0" lvl="0" indent="-6096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None/>
            </a:pPr>
            <a:endParaRPr sz="1800" b="1" i="1" u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609600" marR="0" lvl="0" indent="-6096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Char char="🞆"/>
            </a:pPr>
            <a:r>
              <a:rPr lang="en-US" sz="18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Exprimă-ţi sentimentele</a:t>
            </a:r>
            <a:endParaRPr/>
          </a:p>
          <a:p>
            <a:pPr marL="609600" marR="0" lvl="0" indent="-6096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None/>
            </a:pPr>
            <a:r>
              <a:rPr lang="en-US" sz="1800" b="0" i="0" u="none">
                <a:solidFill>
                  <a:srgbClr val="7F7F7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(ex: dacă cineva te deranjează, spune-i ce simţi)</a:t>
            </a:r>
            <a:endParaRPr/>
          </a:p>
          <a:p>
            <a:pPr marL="609600" marR="0" lvl="0" indent="-6096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Char char="🞆"/>
            </a:pPr>
            <a:r>
              <a:rPr lang="en-US" sz="18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Fă compromisuri – îmbunătăţeşti interacţiunea cu ceilalţi</a:t>
            </a:r>
            <a:endParaRPr/>
          </a:p>
          <a:p>
            <a:pPr marL="609600" marR="0" lvl="0" indent="-6096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Char char="🞆"/>
            </a:pPr>
            <a:r>
              <a:rPr lang="en-US" sz="18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Fii mai asertiv</a:t>
            </a:r>
            <a:endParaRPr/>
          </a:p>
          <a:p>
            <a:pPr marL="609600" marR="0" lvl="0" indent="-6096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None/>
            </a:pPr>
            <a:r>
              <a:rPr lang="en-US" sz="1800" b="0" i="0" u="none">
                <a:solidFill>
                  <a:srgbClr val="7F7F7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(ex:dacă ai o sarcină de făcut şi colegul de cameră 	 are 	      chef de vorbă, limitează discuţiile)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8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Black"/>
              <a:buNone/>
            </a:pPr>
            <a:r>
              <a:rPr lang="en-US" sz="3600" b="1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MANAGEMENTUL STRESULUI</a:t>
            </a:r>
            <a:br>
              <a:rPr lang="en-US" sz="36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n-US" sz="1200" b="0" i="0" u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sz="36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US" sz="3600" b="0" i="1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COPING </a:t>
            </a:r>
            <a:r>
              <a:rPr lang="en-US" sz="36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SĂNĂTOS</a:t>
            </a:r>
            <a:endParaRPr sz="2600"/>
          </a:p>
        </p:txBody>
      </p:sp>
      <p:sp>
        <p:nvSpPr>
          <p:cNvPr id="264" name="Google Shape;264;p18"/>
          <p:cNvSpPr txBox="1">
            <a:spLocks noGrp="1"/>
          </p:cNvSpPr>
          <p:nvPr>
            <p:ph type="body" idx="1"/>
          </p:nvPr>
        </p:nvSpPr>
        <p:spPr>
          <a:xfrm>
            <a:off x="-323850" y="1646237"/>
            <a:ext cx="960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marR="0" lvl="0" indent="-6096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lang="en-US" sz="2400" b="0" i="1" u="none">
                <a:solidFill>
                  <a:srgbClr val="E75C0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C. Modifică situaţia </a:t>
            </a:r>
            <a:r>
              <a:rPr lang="en-US" sz="2800" b="0" i="1" u="none">
                <a:solidFill>
                  <a:srgbClr val="E75C0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- </a:t>
            </a:r>
            <a:r>
              <a:rPr lang="en-US" sz="1800" b="0" i="0" u="none">
                <a:solidFill>
                  <a:srgbClr val="E75C0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Managementul eficient al timpului</a:t>
            </a:r>
            <a:endParaRPr/>
          </a:p>
          <a:p>
            <a:pPr marL="609600" marR="0" lvl="0" indent="-609600" algn="ctr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None/>
            </a:pPr>
            <a:endParaRPr sz="1800" b="0" i="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990600" marR="0" lvl="1" indent="-53340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⚫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Revizuieşte-ţi SCOPURILE</a:t>
            </a:r>
            <a:endParaRPr/>
          </a:p>
          <a:p>
            <a:pPr marL="990600" marR="0" lvl="1" indent="-53340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⚫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Fă o LISTĂ cu ce ar trebui să faci/ce ai vrea să faci şi timpul alocat lor</a:t>
            </a:r>
            <a:endParaRPr/>
          </a:p>
          <a:p>
            <a:pPr marL="990600" marR="0" lvl="1" indent="-53340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⚫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Analizează CONSECINŢELE amânării unor activităţi.</a:t>
            </a:r>
            <a:endParaRPr/>
          </a:p>
          <a:p>
            <a:pPr marL="990600" marR="0" lvl="1" indent="-53340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⚫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Selectează PRIORITĂŢILE.</a:t>
            </a:r>
            <a:endParaRPr/>
          </a:p>
          <a:p>
            <a:pPr marL="990600" marR="0" lvl="1" indent="-53340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⚫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Selecţionează activităţile în ORDINEA realizării lor.</a:t>
            </a:r>
            <a:endParaRPr/>
          </a:p>
          <a:p>
            <a:pPr marL="990600" marR="0" lvl="1" indent="-53340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⚫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Fă câte o ACTIVITATE odată, până la finalizarea ei.</a:t>
            </a:r>
            <a:endParaRPr/>
          </a:p>
          <a:p>
            <a:pPr marL="990600" marR="0" lvl="1" indent="-53340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⚫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Fă PAUZE între activităţi.</a:t>
            </a:r>
            <a:endParaRPr/>
          </a:p>
          <a:p>
            <a:pPr marL="990600" marR="0" lvl="1" indent="-53340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⚫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Analizează-ţi STANDARDELE.</a:t>
            </a:r>
            <a:endParaRPr/>
          </a:p>
          <a:p>
            <a:pPr marL="990600" marR="0" lvl="1" indent="-53340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⚫"/>
            </a:pPr>
            <a:r>
              <a:rPr lang="en-US"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După fiecare activitate îţi dai câte o RECOMPENSĂ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Black"/>
              <a:buNone/>
            </a:pPr>
            <a:r>
              <a:rPr lang="en-US" sz="3300" b="1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MANAGEMENTUL STRESULUI</a:t>
            </a:r>
            <a:br>
              <a:rPr lang="en-US" sz="33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n-US" sz="900" b="0" i="0" u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sz="33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US" sz="3300" b="0" i="1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COPING </a:t>
            </a:r>
            <a:r>
              <a:rPr lang="en-US" sz="33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SĂNĂTOS</a:t>
            </a:r>
            <a:endParaRPr sz="2300"/>
          </a:p>
        </p:txBody>
      </p:sp>
      <p:sp>
        <p:nvSpPr>
          <p:cNvPr id="273" name="Google Shape;273;p19"/>
          <p:cNvSpPr txBox="1">
            <a:spLocks noGrp="1"/>
          </p:cNvSpPr>
          <p:nvPr>
            <p:ph type="body" idx="1"/>
          </p:nvPr>
        </p:nvSpPr>
        <p:spPr>
          <a:xfrm>
            <a:off x="500062" y="1571625"/>
            <a:ext cx="5643562" cy="4929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marR="0" lvl="0" indent="-609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lang="en-US" sz="3200" b="0" i="1" u="none">
                <a:solidFill>
                  <a:srgbClr val="E75C0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D. Adaptarea la stresori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50"/>
              <a:buFont typeface="Noto Sans Symbols"/>
              <a:buNone/>
            </a:pPr>
            <a:endParaRPr sz="500" b="1" i="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609600" marR="0" lvl="0" indent="-609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lang="en-US" sz="24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Reinterpretează problemele 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lang="en-US" sz="2000" b="0" i="0" u="none">
                <a:solidFill>
                  <a:srgbClr val="7F7F7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(ex:prins în trafic – ocazie să îţi refaci planurile, asculţi muzică, etc)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lang="en-US" sz="24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Pune lucrurile în perspectivă; recanalizează-ţi energia în altă direcţie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lang="en-US" sz="24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Ajustează-ţi standardele 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lang="en-US" sz="2400" b="0" i="0" u="none">
                <a:solidFill>
                  <a:srgbClr val="7F7F7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(ex:scade perfecţionismul)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lang="en-US" sz="24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Concentrează-te pe partea pozitivă</a:t>
            </a:r>
            <a:endParaRPr/>
          </a:p>
        </p:txBody>
      </p:sp>
      <p:pic>
        <p:nvPicPr>
          <p:cNvPr id="274" name="Google Shape;274;p19" descr="C:\Users\gabi\Desktop\stres (1)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57875" y="2214562"/>
            <a:ext cx="2633662" cy="32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Black"/>
              <a:buNone/>
            </a:pPr>
            <a:r>
              <a:rPr lang="en-US" sz="3600" b="1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MANAGEMENTUL STRESULUI</a:t>
            </a:r>
            <a:br>
              <a:rPr lang="en-US" sz="36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n-US" sz="1200" b="0" i="0" u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sz="36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US" sz="3600" b="0" i="1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COPING </a:t>
            </a:r>
            <a:r>
              <a:rPr lang="en-US" sz="36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SĂNĂTOS</a:t>
            </a:r>
            <a:endParaRPr sz="2600"/>
          </a:p>
        </p:txBody>
      </p:sp>
      <p:sp>
        <p:nvSpPr>
          <p:cNvPr id="283" name="Google Shape;283;p20"/>
          <p:cNvSpPr txBox="1">
            <a:spLocks noGrp="1"/>
          </p:cNvSpPr>
          <p:nvPr>
            <p:ph type="body" idx="1"/>
          </p:nvPr>
        </p:nvSpPr>
        <p:spPr>
          <a:xfrm>
            <a:off x="142875" y="1905000"/>
            <a:ext cx="9077325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marR="0" lvl="0" indent="-609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lang="en-US" sz="3200" b="0" i="1" u="none">
                <a:solidFill>
                  <a:srgbClr val="E75C0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E. Acceptă lucrurile ce nu pot fi schimbate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None/>
            </a:pPr>
            <a:endParaRPr sz="1200" b="0" i="1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609600" marR="0" lvl="0" indent="-609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</a:pP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Nu încerca să controlezi ceva ce nu poate fi controlat 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lang="en-US" sz="2000" b="0" i="0" u="none">
                <a:solidFill>
                  <a:srgbClr val="A6A6A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(ex: comportamentul altora, moartea)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</a:pP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Caută partea bună a lucrurilor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</a:pP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Accepta-ți și exprimă-ţi emoţiile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</a:pP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Învaţă să îi ierţi, eliberează-te de furie şi alte emoţii negative.</a:t>
            </a:r>
            <a:endParaRPr/>
          </a:p>
          <a:p>
            <a:pPr marL="609600" marR="0" lvl="0" indent="-6096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2000" b="1" i="0" u="none">
              <a:solidFill>
                <a:srgbClr val="E75C0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609600" marR="0" lvl="0" indent="-6096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lang="en-US" sz="2000" b="0" i="1" u="none">
                <a:solidFill>
                  <a:srgbClr val="E75C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“Să avem seninătatea de </a:t>
            </a:r>
            <a:r>
              <a:rPr lang="en-US" sz="2000" b="1" i="1" u="none">
                <a:solidFill>
                  <a:srgbClr val="E75C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accepta </a:t>
            </a:r>
            <a:r>
              <a:rPr lang="en-US" sz="2000" b="0" i="1" u="none">
                <a:solidFill>
                  <a:srgbClr val="E75C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ceea </a:t>
            </a:r>
            <a:r>
              <a:rPr lang="en-US" sz="2000" b="1" i="1" u="none">
                <a:solidFill>
                  <a:srgbClr val="E75C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 nu poate fi schimbat</a:t>
            </a:r>
            <a:r>
              <a:rPr lang="en-US" sz="2000" b="0" i="1" u="none">
                <a:solidFill>
                  <a:srgbClr val="E75C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curajul de </a:t>
            </a:r>
            <a:r>
              <a:rPr lang="en-US" sz="2000" b="1" i="1" u="none">
                <a:solidFill>
                  <a:srgbClr val="E75C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000" b="1" i="1" u="none">
                <a:solidFill>
                  <a:srgbClr val="E75C0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lang="en-US" sz="2000" b="1" i="1" u="none">
                <a:solidFill>
                  <a:srgbClr val="E75C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schimba </a:t>
            </a:r>
            <a:r>
              <a:rPr lang="en-US" sz="2000" b="0" i="1" u="none">
                <a:solidFill>
                  <a:srgbClr val="E75C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ceea </a:t>
            </a:r>
            <a:r>
              <a:rPr lang="en-US" sz="2000" b="1" i="1" u="none">
                <a:solidFill>
                  <a:srgbClr val="E75C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 poate fi schimbat </a:t>
            </a:r>
            <a:r>
              <a:rPr lang="en-US" sz="2000" b="0" i="1" u="none">
                <a:solidFill>
                  <a:srgbClr val="E75C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şi mai ales înţelepciunea pentru </a:t>
            </a:r>
            <a:r>
              <a:rPr lang="en-US" sz="2000" b="1" i="1" u="none">
                <a:solidFill>
                  <a:srgbClr val="E75C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face deosebirea între cele două </a:t>
            </a:r>
            <a:r>
              <a:rPr lang="en-US" sz="2000" b="0" i="1" u="none">
                <a:solidFill>
                  <a:srgbClr val="E75C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posibilităţi” </a:t>
            </a:r>
            <a:r>
              <a:rPr lang="en-US" sz="2000" b="0" i="0" u="none">
                <a:solidFill>
                  <a:srgbClr val="E75C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Marc Aureliu</a:t>
            </a:r>
            <a:endParaRPr/>
          </a:p>
          <a:p>
            <a:pPr marL="273050" marR="0" lvl="0" indent="-18415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2000" b="0" i="0" u="none">
              <a:solidFill>
                <a:srgbClr val="E75C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1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Black"/>
              <a:buNone/>
            </a:pPr>
            <a:r>
              <a:rPr lang="en-US" sz="3600" b="1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MANAGEMENTUL STRESULUI</a:t>
            </a:r>
            <a:br>
              <a:rPr lang="en-US" sz="36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n-US" sz="1600" b="0" i="0" u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US" sz="4000" b="0" i="1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COPING </a:t>
            </a: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SĂNĂTOS</a:t>
            </a:r>
            <a:endParaRPr/>
          </a:p>
        </p:txBody>
      </p:sp>
      <p:sp>
        <p:nvSpPr>
          <p:cNvPr id="292" name="Google Shape;292;p21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8610600" cy="481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09600" marR="0" lvl="0" indent="-609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lang="en-US" sz="3200" b="0" i="1" u="none">
                <a:solidFill>
                  <a:srgbClr val="E75C0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F. Timp pentru relaxare şi distracţie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None/>
            </a:pPr>
            <a:endParaRPr sz="1200" b="0" i="1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609600" marR="0" lvl="0" indent="-6096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🞆"/>
            </a:pPr>
            <a:r>
              <a:rPr lang="en-US" sz="28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Stabileşte zilnic o </a:t>
            </a:r>
            <a:r>
              <a:rPr lang="en-US" sz="28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perioadă de relaxare</a:t>
            </a:r>
            <a:endParaRPr/>
          </a:p>
          <a:p>
            <a:pPr marL="609600" marR="0" lvl="0" indent="-6096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🞆"/>
            </a:pPr>
            <a:r>
              <a:rPr lang="en-US" sz="28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Suport social</a:t>
            </a:r>
            <a:r>
              <a:rPr lang="en-US" sz="28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petrece timp cu prietenii</a:t>
            </a:r>
            <a:endParaRPr/>
          </a:p>
          <a:p>
            <a:pPr marL="609600" marR="0" lvl="0" indent="-6096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🞆"/>
            </a:pPr>
            <a:r>
              <a:rPr lang="en-US" sz="28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Fă </a:t>
            </a:r>
            <a:r>
              <a:rPr lang="en-US" sz="28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ceva care îţi place</a:t>
            </a:r>
            <a:r>
              <a:rPr lang="en-US" sz="28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în fiecare zi</a:t>
            </a:r>
            <a:endParaRPr/>
          </a:p>
          <a:p>
            <a:pPr marL="609600" marR="0" lvl="0" indent="-6096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🞆"/>
            </a:pPr>
            <a:r>
              <a:rPr lang="en-US" sz="28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Menţine-ţi </a:t>
            </a:r>
            <a:r>
              <a:rPr lang="en-US" sz="28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simţul umorului și autoironia</a:t>
            </a:r>
            <a:endParaRPr/>
          </a:p>
          <a:p>
            <a:pPr marL="609600" marR="0" lvl="0" indent="-6096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🞆"/>
            </a:pPr>
            <a:r>
              <a:rPr lang="en-US" sz="2800" b="1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Relaxează-te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2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Black"/>
              <a:buNone/>
            </a:pPr>
            <a:r>
              <a:rPr lang="en-US" sz="3500" b="1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MANAGEMENTUL STRESULUI</a:t>
            </a:r>
            <a:br>
              <a:rPr lang="en-US" sz="35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n-US" sz="1100" b="0" i="0" u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sz="35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US" sz="3500" b="0" i="1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COPING </a:t>
            </a:r>
            <a:r>
              <a:rPr lang="en-US" sz="35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SĂNĂTOS</a:t>
            </a:r>
            <a:endParaRPr sz="2500"/>
          </a:p>
        </p:txBody>
      </p:sp>
      <p:sp>
        <p:nvSpPr>
          <p:cNvPr id="301" name="Google Shape;301;p22"/>
          <p:cNvSpPr txBox="1">
            <a:spLocks noGrp="1"/>
          </p:cNvSpPr>
          <p:nvPr>
            <p:ph type="body" idx="1"/>
          </p:nvPr>
        </p:nvSpPr>
        <p:spPr>
          <a:xfrm>
            <a:off x="304800" y="1752600"/>
            <a:ext cx="86106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marR="0" lvl="0" indent="-6096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lang="en-US" sz="3200" b="0" i="1" u="none">
                <a:solidFill>
                  <a:srgbClr val="E75C0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G. Adoptă un stil de viaţă sănătos</a:t>
            </a:r>
            <a:endParaRPr/>
          </a:p>
          <a:p>
            <a:pPr marL="609600" marR="0" lvl="0" indent="-5207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609600" marR="0" lvl="0" indent="-6096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</a:pP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Activitate fizică regulată</a:t>
            </a:r>
            <a:endParaRPr/>
          </a:p>
          <a:p>
            <a:pPr marL="609600" marR="0" lvl="0" indent="-6096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</a:pP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Dietă sănătoasă</a:t>
            </a:r>
            <a:endParaRPr/>
          </a:p>
          <a:p>
            <a:pPr marL="609600" marR="0" lvl="0" indent="-6096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</a:pP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Redu consumul de cofeină sau zahăr =&gt; somn mai odihnitor</a:t>
            </a:r>
            <a:endParaRPr/>
          </a:p>
          <a:p>
            <a:pPr marL="609600" marR="0" lvl="0" indent="-6096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</a:pP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Evită alcoolul, ţigările, drogurile</a:t>
            </a:r>
            <a:endParaRPr/>
          </a:p>
          <a:p>
            <a:pPr marL="609600" marR="0" lvl="0" indent="-6096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</a:pPr>
            <a:r>
              <a:rPr lang="en-US" sz="2000" b="0" i="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Menţine un orar de somn suficient (pe fond de oboseală stresorii par mai mari)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riel">
  <a:themeElements>
    <a:clrScheme name="Oriel">
      <a:dk1>
        <a:srgbClr val="000000"/>
      </a:dk1>
      <a:lt1>
        <a:srgbClr val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riel">
  <a:themeElements>
    <a:clrScheme name="Oriel">
      <a:dk1>
        <a:srgbClr val="000000"/>
      </a:dk1>
      <a:lt1>
        <a:srgbClr val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riel">
  <a:themeElements>
    <a:clrScheme name="Oriel">
      <a:dk1>
        <a:srgbClr val="000000"/>
      </a:dk1>
      <a:lt1>
        <a:srgbClr val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imbusAndrei_x002d_Bogdan xmlns="cc7b070d-d394-493d-9a09-cc1e593267d1" xsi:nil="true"/>
    <lcf76f155ced4ddcb4097134ff3c332f xmlns="cc7b070d-d394-493d-9a09-cc1e593267d1">
      <Terms xmlns="http://schemas.microsoft.com/office/infopath/2007/PartnerControls"/>
    </lcf76f155ced4ddcb4097134ff3c332f>
    <TaxCatchAll xmlns="3ac242fb-080d-4f49-9e43-19f045e388a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93E1627552344DB5F4D5746A4581E2" ma:contentTypeVersion="13" ma:contentTypeDescription="Create a new document." ma:contentTypeScope="" ma:versionID="527a37ac96f789b86bd371b634579a6e">
  <xsd:schema xmlns:xsd="http://www.w3.org/2001/XMLSchema" xmlns:xs="http://www.w3.org/2001/XMLSchema" xmlns:p="http://schemas.microsoft.com/office/2006/metadata/properties" xmlns:ns2="cc7b070d-d394-493d-9a09-cc1e593267d1" xmlns:ns3="3ac242fb-080d-4f49-9e43-19f045e388a1" targetNamespace="http://schemas.microsoft.com/office/2006/metadata/properties" ma:root="true" ma:fieldsID="eef09661765c92ce95e096880f388901" ns2:_="" ns3:_="">
    <xsd:import namespace="cc7b070d-d394-493d-9a09-cc1e593267d1"/>
    <xsd:import namespace="3ac242fb-080d-4f49-9e43-19f045e388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TimbusAndrei_x002d_Bogda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b070d-d394-493d-9a09-cc1e593267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TimbusAndrei_x002d_Bogdan" ma:index="16" nillable="true" ma:displayName="-" ma:format="Dropdown" ma:internalName="TimbusAndrei_x002d_Bogdan">
      <xsd:simpleType>
        <xsd:restriction base="dms:Text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c242fb-080d-4f49-9e43-19f045e388a1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25858c29-326c-4888-8557-21e2b2ff6939}" ma:internalName="TaxCatchAll" ma:showField="CatchAllData" ma:web="3ac242fb-080d-4f49-9e43-19f045e388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0BD8CC0-4455-4A86-A95C-C927449CC8B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66E6BCA-1647-4A6B-8DC3-8E41F8DB0587}"/>
</file>

<file path=customXml/itemProps3.xml><?xml version="1.0" encoding="utf-8"?>
<ds:datastoreItem xmlns:ds="http://schemas.openxmlformats.org/officeDocument/2006/customXml" ds:itemID="{65096FB4-2163-471B-B432-F5A931781A5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23</Slides>
  <Notes>22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1_Oriel</vt:lpstr>
      <vt:lpstr>Oriel</vt:lpstr>
      <vt:lpstr>2_Oriel</vt:lpstr>
      <vt:lpstr>STRESUI ȘI  MANAGEMENTUL STRESULUI</vt:lpstr>
      <vt:lpstr>PowerPoint Presentation</vt:lpstr>
      <vt:lpstr>STRESUL ŞI MANAGEMENTUL STRESULUI CUPRINS</vt:lpstr>
      <vt:lpstr>CE ESTE STRESUL?</vt:lpstr>
      <vt:lpstr>COMPONENTELE STRESULUI 1. FACTORII DE STRES (I)</vt:lpstr>
      <vt:lpstr>COMPONENTELE STRESULUI 1. FACTORII DE STRES (II)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</vt:lpstr>
      <vt:lpstr>MANAGEMENTUL STRESULUI</vt:lpstr>
      <vt:lpstr>MANAGEMENTUL STRESULUI  1. IDENTIFICAREA STRESORILOR (I)</vt:lpstr>
      <vt:lpstr>MANAGEMENTUL STRESULUI  1. IDENTIFICAREA STRESORILOR (II)</vt:lpstr>
      <vt:lpstr>PowerPoint Presentation</vt:lpstr>
      <vt:lpstr>MANAGEMENTUL STRESULUI  3. COPING SĂNĂTOS</vt:lpstr>
      <vt:lpstr>MANAGEMENTUL STRESULUI  3. COPING SĂNĂTOS</vt:lpstr>
      <vt:lpstr>MANAGEMENTUL STRESULUI  3. COPING SĂNĂTOS</vt:lpstr>
      <vt:lpstr>MANAGEMENTUL STRESULUI  3. COPING SĂNĂTOS</vt:lpstr>
      <vt:lpstr>MANAGEMENTUL STRESULUI  3. COPING SĂNĂTOS</vt:lpstr>
      <vt:lpstr>MANAGEMENTUL STRESULUI  3. COPING SĂNĂTOS</vt:lpstr>
      <vt:lpstr>MANAGEMENTUL STRESULUI  3. COPING SĂNĂTOS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revision>2</cp:revision>
  <dcterms:created xsi:type="dcterms:W3CDTF">2010-10-13T08:45:52Z</dcterms:created>
  <dcterms:modified xsi:type="dcterms:W3CDTF">2025-01-17T18:27:44Z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0x010100A993E1627552344DB5F4D5746A4581E2</vt:lpwstr>
  </property>
</Properties>
</file>