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9144000" cy="6858000" type="screen4x3"/>
  <p:notesSz cx="6858000" cy="9144000"/>
  <p:embeddedFontLst>
    <p:embeddedFont>
      <p:font typeface="Arial Black" panose="020B0A04020102020204" pitchFamily="34" charset="0"/>
      <p:regular r:id="rId32"/>
      <p:bold r:id="rId33"/>
    </p:embeddedFont>
    <p:embeddedFont>
      <p:font typeface="Rockwell" panose="02060603020205020403" pitchFamily="18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ix/7n94z91XkulAKJNvCM3XE7Y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F49431-EB99-4B6A-B674-E68F64875DAF}">
  <a:tblStyle styleId="{3AF49431-EB99-4B6A-B674-E68F64875D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GDAN-DUMITRU RUSU" userId="S::bogdan.dumitru.rusu@stud.ubbcluj.ro::139251fb-b1e7-4c86-bf1e-7a4d60d7a7c4" providerId="AD" clId="Web-{A52C04D5-D23D-F1E3-23D5-D61976D4ED0F}"/>
    <pc:docChg chg="modSld">
      <pc:chgData name="BOGDAN-DUMITRU RUSU" userId="S::bogdan.dumitru.rusu@stud.ubbcluj.ro::139251fb-b1e7-4c86-bf1e-7a4d60d7a7c4" providerId="AD" clId="Web-{A52C04D5-D23D-F1E3-23D5-D61976D4ED0F}" dt="2025-01-17T10:45:23.051" v="4" actId="1076"/>
      <pc:docMkLst>
        <pc:docMk/>
      </pc:docMkLst>
      <pc:sldChg chg="modSp">
        <pc:chgData name="BOGDAN-DUMITRU RUSU" userId="S::bogdan.dumitru.rusu@stud.ubbcluj.ro::139251fb-b1e7-4c86-bf1e-7a4d60d7a7c4" providerId="AD" clId="Web-{A52C04D5-D23D-F1E3-23D5-D61976D4ED0F}" dt="2025-01-17T10:35:59.670" v="3" actId="1076"/>
        <pc:sldMkLst>
          <pc:docMk/>
          <pc:sldMk cId="0" sldId="260"/>
        </pc:sldMkLst>
        <pc:spChg chg="mod">
          <ac:chgData name="BOGDAN-DUMITRU RUSU" userId="S::bogdan.dumitru.rusu@stud.ubbcluj.ro::139251fb-b1e7-4c86-bf1e-7a4d60d7a7c4" providerId="AD" clId="Web-{A52C04D5-D23D-F1E3-23D5-D61976D4ED0F}" dt="2025-01-17T10:35:59.670" v="3" actId="1076"/>
          <ac:spMkLst>
            <pc:docMk/>
            <pc:sldMk cId="0" sldId="260"/>
            <ac:spMk id="141" creationId="{00000000-0000-0000-0000-000000000000}"/>
          </ac:spMkLst>
        </pc:spChg>
        <pc:spChg chg="mod">
          <ac:chgData name="BOGDAN-DUMITRU RUSU" userId="S::bogdan.dumitru.rusu@stud.ubbcluj.ro::139251fb-b1e7-4c86-bf1e-7a4d60d7a7c4" providerId="AD" clId="Web-{A52C04D5-D23D-F1E3-23D5-D61976D4ED0F}" dt="2025-01-17T10:35:54.076" v="2" actId="1076"/>
          <ac:spMkLst>
            <pc:docMk/>
            <pc:sldMk cId="0" sldId="260"/>
            <ac:spMk id="143" creationId="{00000000-0000-0000-0000-000000000000}"/>
          </ac:spMkLst>
        </pc:spChg>
      </pc:sldChg>
      <pc:sldChg chg="modSp">
        <pc:chgData name="BOGDAN-DUMITRU RUSU" userId="S::bogdan.dumitru.rusu@stud.ubbcluj.ro::139251fb-b1e7-4c86-bf1e-7a4d60d7a7c4" providerId="AD" clId="Web-{A52C04D5-D23D-F1E3-23D5-D61976D4ED0F}" dt="2025-01-17T10:45:23.051" v="4" actId="1076"/>
        <pc:sldMkLst>
          <pc:docMk/>
          <pc:sldMk cId="0" sldId="274"/>
        </pc:sldMkLst>
        <pc:picChg chg="mod">
          <ac:chgData name="BOGDAN-DUMITRU RUSU" userId="S::bogdan.dumitru.rusu@stud.ubbcluj.ro::139251fb-b1e7-4c86-bf1e-7a4d60d7a7c4" providerId="AD" clId="Web-{A52C04D5-D23D-F1E3-23D5-D61976D4ED0F}" dt="2025-01-17T10:45:23.051" v="4" actId="1076"/>
          <ac:picMkLst>
            <pc:docMk/>
            <pc:sldMk cId="0" sldId="274"/>
            <ac:picMk id="240" creationId="{00000000-0000-0000-0000-000000000000}"/>
          </ac:picMkLst>
        </pc:picChg>
      </pc:sldChg>
    </pc:docChg>
  </pc:docChgLst>
  <pc:docChgLst>
    <pc:chgData name="OVIDIU BACHIȘ" userId="S::ovidiu.bachis@stud.ubbcluj.ro::e29353f4-d352-4ed4-abc3-9746804716f2" providerId="AD" clId="Web-{92963F6A-ABD4-74CC-C479-0AA6F6C3398D}"/>
    <pc:docChg chg="addSld delSld">
      <pc:chgData name="OVIDIU BACHIȘ" userId="S::ovidiu.bachis@stud.ubbcluj.ro::e29353f4-d352-4ed4-abc3-9746804716f2" providerId="AD" clId="Web-{92963F6A-ABD4-74CC-C479-0AA6F6C3398D}" dt="2025-01-17T09:02:16.699" v="1"/>
      <pc:docMkLst>
        <pc:docMk/>
      </pc:docMkLst>
      <pc:sldChg chg="add del">
        <pc:chgData name="OVIDIU BACHIȘ" userId="S::ovidiu.bachis@stud.ubbcluj.ro::e29353f4-d352-4ed4-abc3-9746804716f2" providerId="AD" clId="Web-{92963F6A-ABD4-74CC-C479-0AA6F6C3398D}" dt="2025-01-17T09:02:16.699" v="1"/>
        <pc:sldMkLst>
          <pc:docMk/>
          <pc:sldMk cId="0" sldId="264"/>
        </pc:sldMkLst>
      </pc:sldChg>
    </pc:docChg>
  </pc:docChgLst>
  <pc:docChgLst>
    <pc:chgData name="ANDREI-HOREA ARDELEAN" userId="S::andrei.horea.ardelean@stud.ubbcluj.ro::bf44b87b-110f-4f6f-9e70-cef9ba415602" providerId="AD" clId="Web-{B89445C3-9213-6D6B-D23D-C3D31A5FF53F}"/>
    <pc:docChg chg="modSld">
      <pc:chgData name="ANDREI-HOREA ARDELEAN" userId="S::andrei.horea.ardelean@stud.ubbcluj.ro::bf44b87b-110f-4f6f-9e70-cef9ba415602" providerId="AD" clId="Web-{B89445C3-9213-6D6B-D23D-C3D31A5FF53F}" dt="2025-01-17T12:51:07.693" v="1"/>
      <pc:docMkLst>
        <pc:docMk/>
      </pc:docMkLst>
      <pc:sldChg chg="modSp">
        <pc:chgData name="ANDREI-HOREA ARDELEAN" userId="S::andrei.horea.ardelean@stud.ubbcluj.ro::bf44b87b-110f-4f6f-9e70-cef9ba415602" providerId="AD" clId="Web-{B89445C3-9213-6D6B-D23D-C3D31A5FF53F}" dt="2025-01-17T12:51:07.693" v="1"/>
        <pc:sldMkLst>
          <pc:docMk/>
          <pc:sldMk cId="0" sldId="266"/>
        </pc:sldMkLst>
        <pc:graphicFrameChg chg="mod modGraphic">
          <ac:chgData name="ANDREI-HOREA ARDELEAN" userId="S::andrei.horea.ardelean@stud.ubbcluj.ro::bf44b87b-110f-4f6f-9e70-cef9ba415602" providerId="AD" clId="Web-{B89445C3-9213-6D6B-D23D-C3D31A5FF53F}" dt="2025-01-17T12:51:07.693" v="1"/>
          <ac:graphicFrameMkLst>
            <pc:docMk/>
            <pc:sldMk cId="0" sldId="266"/>
            <ac:graphicFrameMk id="184" creationId="{00000000-0000-0000-0000-000000000000}"/>
          </ac:graphicFrameMkLst>
        </pc:graphicFrameChg>
      </pc:sldChg>
    </pc:docChg>
  </pc:docChgLst>
  <pc:docChgLst>
    <pc:chgData name="ȘTEFAN-PAUL FLUTURE-CĂPRIAN" userId="S::stefan.fluture@stud.ubbcluj.ro::e3a311c3-d6f5-4961-b8a0-09d23cedd64c" providerId="AD" clId="Web-{DE130AA1-B053-FE25-409A-7A3092C15B92}"/>
    <pc:docChg chg="modSld">
      <pc:chgData name="ȘTEFAN-PAUL FLUTURE-CĂPRIAN" userId="S::stefan.fluture@stud.ubbcluj.ro::e3a311c3-d6f5-4961-b8a0-09d23cedd64c" providerId="AD" clId="Web-{DE130AA1-B053-FE25-409A-7A3092C15B92}" dt="2024-12-05T12:53:42.674" v="12" actId="20577"/>
      <pc:docMkLst>
        <pc:docMk/>
      </pc:docMkLst>
      <pc:sldChg chg="modSp">
        <pc:chgData name="ȘTEFAN-PAUL FLUTURE-CĂPRIAN" userId="S::stefan.fluture@stud.ubbcluj.ro::e3a311c3-d6f5-4961-b8a0-09d23cedd64c" providerId="AD" clId="Web-{DE130AA1-B053-FE25-409A-7A3092C15B92}" dt="2024-12-05T12:53:42.674" v="12" actId="20577"/>
        <pc:sldMkLst>
          <pc:docMk/>
          <pc:sldMk cId="0" sldId="264"/>
        </pc:sldMkLst>
        <pc:spChg chg="mod">
          <ac:chgData name="ȘTEFAN-PAUL FLUTURE-CĂPRIAN" userId="S::stefan.fluture@stud.ubbcluj.ro::e3a311c3-d6f5-4961-b8a0-09d23cedd64c" providerId="AD" clId="Web-{DE130AA1-B053-FE25-409A-7A3092C15B92}" dt="2024-12-05T12:53:42.674" v="12" actId="20577"/>
          <ac:spMkLst>
            <pc:docMk/>
            <pc:sldMk cId="0" sldId="264"/>
            <ac:spMk id="170" creationId="{00000000-0000-0000-0000-000000000000}"/>
          </ac:spMkLst>
        </pc:spChg>
      </pc:sldChg>
    </pc:docChg>
  </pc:docChgLst>
  <pc:docChgLst>
    <pc:chgData name="CARMEN-ELENA OPRINESCU-ȘERBAN" userId="60fd4e80-e0df-4888-9998-1255d3a832d5" providerId="ADAL" clId="{03BCFCFB-F377-4D4B-8563-5E2C2380ED5F}"/>
    <pc:docChg chg="custSel modSld">
      <pc:chgData name="CARMEN-ELENA OPRINESCU-ȘERBAN" userId="60fd4e80-e0df-4888-9998-1255d3a832d5" providerId="ADAL" clId="{03BCFCFB-F377-4D4B-8563-5E2C2380ED5F}" dt="2025-01-16T22:35:18.948" v="3" actId="27636"/>
      <pc:docMkLst>
        <pc:docMk/>
      </pc:docMkLst>
      <pc:sldChg chg="modSp mod">
        <pc:chgData name="CARMEN-ELENA OPRINESCU-ȘERBAN" userId="60fd4e80-e0df-4888-9998-1255d3a832d5" providerId="ADAL" clId="{03BCFCFB-F377-4D4B-8563-5E2C2380ED5F}" dt="2025-01-16T22:35:18.855" v="1" actId="27636"/>
        <pc:sldMkLst>
          <pc:docMk/>
          <pc:sldMk cId="0" sldId="275"/>
        </pc:sldMkLst>
        <pc:spChg chg="mod">
          <ac:chgData name="CARMEN-ELENA OPRINESCU-ȘERBAN" userId="60fd4e80-e0df-4888-9998-1255d3a832d5" providerId="ADAL" clId="{03BCFCFB-F377-4D4B-8563-5E2C2380ED5F}" dt="2025-01-16T22:35:18.855" v="1" actId="27636"/>
          <ac:spMkLst>
            <pc:docMk/>
            <pc:sldMk cId="0" sldId="275"/>
            <ac:spMk id="246" creationId="{00000000-0000-0000-0000-000000000000}"/>
          </ac:spMkLst>
        </pc:spChg>
      </pc:sldChg>
      <pc:sldChg chg="modSp mod">
        <pc:chgData name="CARMEN-ELENA OPRINESCU-ȘERBAN" userId="60fd4e80-e0df-4888-9998-1255d3a832d5" providerId="ADAL" clId="{03BCFCFB-F377-4D4B-8563-5E2C2380ED5F}" dt="2025-01-16T22:35:18.885" v="2" actId="27636"/>
        <pc:sldMkLst>
          <pc:docMk/>
          <pc:sldMk cId="0" sldId="276"/>
        </pc:sldMkLst>
        <pc:spChg chg="mod">
          <ac:chgData name="CARMEN-ELENA OPRINESCU-ȘERBAN" userId="60fd4e80-e0df-4888-9998-1255d3a832d5" providerId="ADAL" clId="{03BCFCFB-F377-4D4B-8563-5E2C2380ED5F}" dt="2025-01-16T22:35:18.885" v="2" actId="27636"/>
          <ac:spMkLst>
            <pc:docMk/>
            <pc:sldMk cId="0" sldId="276"/>
            <ac:spMk id="253" creationId="{00000000-0000-0000-0000-000000000000}"/>
          </ac:spMkLst>
        </pc:spChg>
      </pc:sldChg>
      <pc:sldChg chg="modSp mod">
        <pc:chgData name="CARMEN-ELENA OPRINESCU-ȘERBAN" userId="60fd4e80-e0df-4888-9998-1255d3a832d5" providerId="ADAL" clId="{03BCFCFB-F377-4D4B-8563-5E2C2380ED5F}" dt="2025-01-16T22:35:18.948" v="3" actId="27636"/>
        <pc:sldMkLst>
          <pc:docMk/>
          <pc:sldMk cId="0" sldId="280"/>
        </pc:sldMkLst>
        <pc:spChg chg="mod">
          <ac:chgData name="CARMEN-ELENA OPRINESCU-ȘERBAN" userId="60fd4e80-e0df-4888-9998-1255d3a832d5" providerId="ADAL" clId="{03BCFCFB-F377-4D4B-8563-5E2C2380ED5F}" dt="2025-01-16T22:35:18.948" v="3" actId="27636"/>
          <ac:spMkLst>
            <pc:docMk/>
            <pc:sldMk cId="0" sldId="280"/>
            <ac:spMk id="281" creationId="{00000000-0000-0000-0000-000000000000}"/>
          </ac:spMkLst>
        </pc:spChg>
      </pc:sldChg>
      <pc:sldChg chg="modSp mod">
        <pc:chgData name="CARMEN-ELENA OPRINESCU-ȘERBAN" userId="60fd4e80-e0df-4888-9998-1255d3a832d5" providerId="ADAL" clId="{03BCFCFB-F377-4D4B-8563-5E2C2380ED5F}" dt="2025-01-16T22:35:18.683" v="0" actId="27636"/>
        <pc:sldMkLst>
          <pc:docMk/>
          <pc:sldMk cId="0" sldId="281"/>
        </pc:sldMkLst>
        <pc:spChg chg="mod">
          <ac:chgData name="CARMEN-ELENA OPRINESCU-ȘERBAN" userId="60fd4e80-e0df-4888-9998-1255d3a832d5" providerId="ADAL" clId="{03BCFCFB-F377-4D4B-8563-5E2C2380ED5F}" dt="2025-01-16T22:35:18.683" v="0" actId="27636"/>
          <ac:spMkLst>
            <pc:docMk/>
            <pc:sldMk cId="0" sldId="281"/>
            <ac:spMk id="288" creationId="{00000000-0000-0000-0000-000000000000}"/>
          </ac:spMkLst>
        </pc:spChg>
      </pc:sldChg>
    </pc:docChg>
  </pc:docChgLst>
  <pc:docChgLst>
    <pc:chgData name="TUDOR-ALEXANDRU LASLO" userId="S::tudor.laslo@stud.ubbcluj.ro::27da2ee9-eb37-4ec8-9428-967e9659ba49" providerId="AD" clId="Web-{CAE1A1E8-2F83-8A30-EBA3-541BE01C5DD3}"/>
    <pc:docChg chg="modSld">
      <pc:chgData name="TUDOR-ALEXANDRU LASLO" userId="S::tudor.laslo@stud.ubbcluj.ro::27da2ee9-eb37-4ec8-9428-967e9659ba49" providerId="AD" clId="Web-{CAE1A1E8-2F83-8A30-EBA3-541BE01C5DD3}" dt="2025-01-17T09:16:36.166" v="1" actId="1076"/>
      <pc:docMkLst>
        <pc:docMk/>
      </pc:docMkLst>
      <pc:sldChg chg="modSp">
        <pc:chgData name="TUDOR-ALEXANDRU LASLO" userId="S::tudor.laslo@stud.ubbcluj.ro::27da2ee9-eb37-4ec8-9428-967e9659ba49" providerId="AD" clId="Web-{CAE1A1E8-2F83-8A30-EBA3-541BE01C5DD3}" dt="2025-01-17T09:16:36.166" v="1" actId="1076"/>
        <pc:sldMkLst>
          <pc:docMk/>
          <pc:sldMk cId="0" sldId="262"/>
        </pc:sldMkLst>
        <pc:picChg chg="mod">
          <ac:chgData name="TUDOR-ALEXANDRU LASLO" userId="S::tudor.laslo@stud.ubbcluj.ro::27da2ee9-eb37-4ec8-9428-967e9659ba49" providerId="AD" clId="Web-{CAE1A1E8-2F83-8A30-EBA3-541BE01C5DD3}" dt="2025-01-17T09:16:36.166" v="1" actId="1076"/>
          <ac:picMkLst>
            <pc:docMk/>
            <pc:sldMk cId="0" sldId="262"/>
            <ac:picMk id="157" creationId="{00000000-0000-0000-0000-000000000000}"/>
          </ac:picMkLst>
        </pc:picChg>
      </pc:sldChg>
    </pc:docChg>
  </pc:docChgLst>
  <pc:docChgLst>
    <pc:chgData name="KRISZTIAN KISS" userId="S::krisztian.kiss1@stud.ubbcluj.ro::cc7df63c-00b5-4f68-8aa6-0a0710acc967" providerId="AD" clId="Web-{C821A752-9350-EED5-5199-21836298F4B8}"/>
    <pc:docChg chg="modSld">
      <pc:chgData name="KRISZTIAN KISS" userId="S::krisztian.kiss1@stud.ubbcluj.ro::cc7df63c-00b5-4f68-8aa6-0a0710acc967" providerId="AD" clId="Web-{C821A752-9350-EED5-5199-21836298F4B8}" dt="2025-01-16T17:59:35.409" v="79" actId="20577"/>
      <pc:docMkLst>
        <pc:docMk/>
      </pc:docMkLst>
      <pc:sldChg chg="modSp">
        <pc:chgData name="KRISZTIAN KISS" userId="S::krisztian.kiss1@stud.ubbcluj.ro::cc7df63c-00b5-4f68-8aa6-0a0710acc967" providerId="AD" clId="Web-{C821A752-9350-EED5-5199-21836298F4B8}" dt="2025-01-16T17:59:35.409" v="79" actId="20577"/>
        <pc:sldMkLst>
          <pc:docMk/>
          <pc:sldMk cId="0" sldId="264"/>
        </pc:sldMkLst>
        <pc:spChg chg="mod">
          <ac:chgData name="KRISZTIAN KISS" userId="S::krisztian.kiss1@stud.ubbcluj.ro::cc7df63c-00b5-4f68-8aa6-0a0710acc967" providerId="AD" clId="Web-{C821A752-9350-EED5-5199-21836298F4B8}" dt="2025-01-16T17:59:35.409" v="79" actId="20577"/>
          <ac:spMkLst>
            <pc:docMk/>
            <pc:sldMk cId="0" sldId="264"/>
            <ac:spMk id="170" creationId="{00000000-0000-0000-0000-000000000000}"/>
          </ac:spMkLst>
        </pc:spChg>
      </pc:sldChg>
    </pc:docChg>
  </pc:docChgLst>
  <pc:docChgLst>
    <pc:chgData name="ALEXANDRU-VIOREL BINDIU" userId="S::alexandru.bindiu@stud.ubbcluj.ro::008f0e62-8150-4fc0-8e77-b753af00ee51" providerId="AD" clId="Web-{938F617B-0EF0-423A-925B-B8B0B23F5AFF}"/>
    <pc:docChg chg="modSld">
      <pc:chgData name="ALEXANDRU-VIOREL BINDIU" userId="S::alexandru.bindiu@stud.ubbcluj.ro::008f0e62-8150-4fc0-8e77-b753af00ee51" providerId="AD" clId="Web-{938F617B-0EF0-423A-925B-B8B0B23F5AFF}" dt="2025-01-17T11:21:54.470" v="17" actId="20577"/>
      <pc:docMkLst>
        <pc:docMk/>
      </pc:docMkLst>
      <pc:sldChg chg="modSp">
        <pc:chgData name="ALEXANDRU-VIOREL BINDIU" userId="S::alexandru.bindiu@stud.ubbcluj.ro::008f0e62-8150-4fc0-8e77-b753af00ee51" providerId="AD" clId="Web-{938F617B-0EF0-423A-925B-B8B0B23F5AFF}" dt="2025-01-17T11:21:54.470" v="17" actId="20577"/>
        <pc:sldMkLst>
          <pc:docMk/>
          <pc:sldMk cId="0" sldId="276"/>
        </pc:sldMkLst>
        <pc:spChg chg="mod">
          <ac:chgData name="ALEXANDRU-VIOREL BINDIU" userId="S::alexandru.bindiu@stud.ubbcluj.ro::008f0e62-8150-4fc0-8e77-b753af00ee51" providerId="AD" clId="Web-{938F617B-0EF0-423A-925B-B8B0B23F5AFF}" dt="2025-01-17T11:21:54.470" v="17" actId="20577"/>
          <ac:spMkLst>
            <pc:docMk/>
            <pc:sldMk cId="0" sldId="276"/>
            <ac:spMk id="253" creationId="{00000000-0000-0000-0000-000000000000}"/>
          </ac:spMkLst>
        </pc:spChg>
      </pc:sldChg>
    </pc:docChg>
  </pc:docChgLst>
  <pc:docChgLst>
    <pc:chgData name="TUDOR-SORIN HOROTAN" userId="S::tudor.horotan@stud.ubbcluj.ro::0cb8f848-78d0-4f8c-8f3c-5b31b72803e2" providerId="AD" clId="Web-{5D751394-425F-B625-DCBA-E15E6870255C}"/>
    <pc:docChg chg="addSld delSld">
      <pc:chgData name="TUDOR-SORIN HOROTAN" userId="S::tudor.horotan@stud.ubbcluj.ro::0cb8f848-78d0-4f8c-8f3c-5b31b72803e2" providerId="AD" clId="Web-{5D751394-425F-B625-DCBA-E15E6870255C}" dt="2025-01-10T17:11:47.402" v="7"/>
      <pc:docMkLst>
        <pc:docMk/>
      </pc:docMkLst>
      <pc:sldChg chg="add del">
        <pc:chgData name="TUDOR-SORIN HOROTAN" userId="S::tudor.horotan@stud.ubbcluj.ro::0cb8f848-78d0-4f8c-8f3c-5b31b72803e2" providerId="AD" clId="Web-{5D751394-425F-B625-DCBA-E15E6870255C}" dt="2025-01-10T17:11:44.730" v="4"/>
        <pc:sldMkLst>
          <pc:docMk/>
          <pc:sldMk cId="0" sldId="264"/>
        </pc:sldMkLst>
      </pc:sldChg>
      <pc:sldChg chg="new del">
        <pc:chgData name="TUDOR-SORIN HOROTAN" userId="S::tudor.horotan@stud.ubbcluj.ro::0cb8f848-78d0-4f8c-8f3c-5b31b72803e2" providerId="AD" clId="Web-{5D751394-425F-B625-DCBA-E15E6870255C}" dt="2025-01-10T17:11:47.402" v="7"/>
        <pc:sldMkLst>
          <pc:docMk/>
          <pc:sldMk cId="2666668646" sldId="282"/>
        </pc:sldMkLst>
      </pc:sldChg>
      <pc:sldChg chg="new add del">
        <pc:chgData name="TUDOR-SORIN HOROTAN" userId="S::tudor.horotan@stud.ubbcluj.ro::0cb8f848-78d0-4f8c-8f3c-5b31b72803e2" providerId="AD" clId="Web-{5D751394-425F-B625-DCBA-E15E6870255C}" dt="2025-01-10T17:11:46.652" v="6"/>
        <pc:sldMkLst>
          <pc:docMk/>
          <pc:sldMk cId="972029045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a46756b08d_0_1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g2a46756b08d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2a46756b08d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46756b08d_0_2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g2a46756b08d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g2a46756b08d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a46756b08d_0_2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g2a46756b08d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g2a46756b08d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a46756b08d_0_2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g2a46756b08d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g2a46756b08d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46756b08d_0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g2a46756b08d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2a46756b08d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a46756b08d_0_2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g2a46756b08d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g2a46756b08d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a46756b08d_0_2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g2a46756b08d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g2a46756b08d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a46756b08d_0_2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g2a46756b08d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g2a46756b08d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2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22"/>
          <p:cNvCxnSpPr/>
          <p:nvPr/>
        </p:nvCxnSpPr>
        <p:spPr>
          <a:xfrm>
            <a:off x="906463" y="4343400"/>
            <a:ext cx="7405687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22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dt" idx="10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ft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1"/>
          </p:nvPr>
        </p:nvSpPr>
        <p:spPr>
          <a:xfrm>
            <a:off x="822325" y="1846263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dt" idx="10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ft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5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dt" idx="10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ft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6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26"/>
          <p:cNvCxnSpPr/>
          <p:nvPr/>
        </p:nvCxnSpPr>
        <p:spPr>
          <a:xfrm>
            <a:off x="906463" y="4343400"/>
            <a:ext cx="7405687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2"/>
          </p:nvPr>
        </p:nvSpPr>
        <p:spPr>
          <a:xfrm>
            <a:off x="4663440" y="1845735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dt" idx="10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ft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sldNum" idx="12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dt" idx="10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ft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sldNum" idx="12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/>
          <p:nvPr/>
        </p:nvSpPr>
        <p:spPr>
          <a:xfrm>
            <a:off x="0" y="0"/>
            <a:ext cx="30384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9"/>
          <p:cNvSpPr/>
          <p:nvPr/>
        </p:nvSpPr>
        <p:spPr>
          <a:xfrm>
            <a:off x="3030538" y="0"/>
            <a:ext cx="476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body" idx="1"/>
          </p:nvPr>
        </p:nvSpPr>
        <p:spPr>
          <a:xfrm>
            <a:off x="3600450" y="731520"/>
            <a:ext cx="486918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349250" y="6459538"/>
            <a:ext cx="19637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3600450" y="6459538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/>
          <p:nvPr/>
        </p:nvSpPr>
        <p:spPr>
          <a:xfrm>
            <a:off x="0" y="4953000"/>
            <a:ext cx="9142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0"/>
          <p:cNvSpPr/>
          <p:nvPr/>
        </p:nvSpPr>
        <p:spPr>
          <a:xfrm>
            <a:off x="0" y="4914900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>
            <a:spLocks noGrp="1"/>
          </p:cNvSpPr>
          <p:nvPr>
            <p:ph type="pic" idx="2"/>
          </p:nvPr>
        </p:nvSpPr>
        <p:spPr>
          <a:xfrm>
            <a:off x="12" y="0"/>
            <a:ext cx="9143989" cy="4915076"/>
          </a:xfrm>
          <a:prstGeom prst="rect">
            <a:avLst/>
          </a:prstGeom>
          <a:solidFill>
            <a:srgbClr val="D2CDB0"/>
          </a:solidFill>
          <a:ln>
            <a:noFill/>
          </a:ln>
        </p:spPr>
      </p:sp>
      <p:sp>
        <p:nvSpPr>
          <p:cNvPr id="83" name="Google Shape;83;p30"/>
          <p:cNvSpPr txBox="1">
            <a:spLocks noGrp="1"/>
          </p:cNvSpPr>
          <p:nvPr>
            <p:ph type="body" idx="1"/>
          </p:nvPr>
        </p:nvSpPr>
        <p:spPr>
          <a:xfrm>
            <a:off x="822960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dt" idx="10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ft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sldNum" idx="12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1"/>
          <p:cNvSpPr txBox="1"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1"/>
          <p:cNvSpPr txBox="1">
            <a:spLocks noGrp="1"/>
          </p:cNvSpPr>
          <p:nvPr>
            <p:ph type="body" idx="1"/>
          </p:nvPr>
        </p:nvSpPr>
        <p:spPr>
          <a:xfrm rot="5400000">
            <a:off x="2582863" y="85726"/>
            <a:ext cx="4022725" cy="75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31"/>
          <p:cNvSpPr txBox="1">
            <a:spLocks noGrp="1"/>
          </p:cNvSpPr>
          <p:nvPr>
            <p:ph type="dt" idx="10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1"/>
          <p:cNvSpPr txBox="1">
            <a:spLocks noGrp="1"/>
          </p:cNvSpPr>
          <p:nvPr>
            <p:ph type="ft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1"/>
          <p:cNvSpPr txBox="1">
            <a:spLocks noGrp="1"/>
          </p:cNvSpPr>
          <p:nvPr>
            <p:ph type="sldNum" idx="12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2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2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2"/>
          <p:cNvSpPr txBox="1">
            <a:spLocks noGrp="1"/>
          </p:cNvSpPr>
          <p:nvPr>
            <p:ph type="title"/>
          </p:nvPr>
        </p:nvSpPr>
        <p:spPr>
          <a:xfrm rot="5400000">
            <a:off x="4649564" y="2306414"/>
            <a:ext cx="575989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2"/>
          <p:cNvSpPr txBox="1">
            <a:spLocks noGrp="1"/>
          </p:cNvSpPr>
          <p:nvPr>
            <p:ph type="body" idx="1"/>
          </p:nvPr>
        </p:nvSpPr>
        <p:spPr>
          <a:xfrm rot="5400000">
            <a:off x="649064" y="391889"/>
            <a:ext cx="575989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32"/>
          <p:cNvSpPr txBox="1">
            <a:spLocks noGrp="1"/>
          </p:cNvSpPr>
          <p:nvPr>
            <p:ph type="dt" idx="10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2"/>
          <p:cNvSpPr txBox="1">
            <a:spLocks noGrp="1"/>
          </p:cNvSpPr>
          <p:nvPr>
            <p:ph type="ft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2"/>
          <p:cNvSpPr txBox="1">
            <a:spLocks noGrp="1"/>
          </p:cNvSpPr>
          <p:nvPr>
            <p:ph type="sldNum" idx="12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46756b08d_0_106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2a46756b08d_0_106"/>
          <p:cNvSpPr txBox="1">
            <a:spLocks noGrp="1"/>
          </p:cNvSpPr>
          <p:nvPr>
            <p:ph type="ftr" idx="11"/>
          </p:nvPr>
        </p:nvSpPr>
        <p:spPr>
          <a:xfrm>
            <a:off x="685800" y="6272785"/>
            <a:ext cx="4745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2a46756b08d_0_106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g2a46756b08d_0_106"/>
          <p:cNvSpPr txBox="1">
            <a:spLocks noGrp="1"/>
          </p:cNvSpPr>
          <p:nvPr>
            <p:ph type="title"/>
          </p:nvPr>
        </p:nvSpPr>
        <p:spPr>
          <a:xfrm>
            <a:off x="685800" y="484632"/>
            <a:ext cx="7772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1"/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body" idx="1"/>
          </p:nvPr>
        </p:nvSpPr>
        <p:spPr>
          <a:xfrm>
            <a:off x="822325" y="1846263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dt" idx="10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ftr" idx="11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21"/>
          <p:cNvCxnSpPr/>
          <p:nvPr/>
        </p:nvCxnSpPr>
        <p:spPr>
          <a:xfrm>
            <a:off x="895350" y="1738313"/>
            <a:ext cx="7475538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ctrTitle"/>
          </p:nvPr>
        </p:nvSpPr>
        <p:spPr>
          <a:xfrm>
            <a:off x="1436688" y="2895600"/>
            <a:ext cx="5943600" cy="114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40" b="1">
                <a:solidFill>
                  <a:srgbClr val="4C661A"/>
                </a:solidFill>
                <a:latin typeface="Arial"/>
                <a:ea typeface="Arial"/>
                <a:cs typeface="Arial"/>
                <a:sym typeface="Arial"/>
              </a:rPr>
              <a:t>Comunicare și conflict</a:t>
            </a:r>
            <a:endParaRPr sz="5740" b="1">
              <a:solidFill>
                <a:srgbClr val="4C66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685800" y="5029200"/>
            <a:ext cx="259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"/>
          <p:cNvSpPr txBox="1"/>
          <p:nvPr/>
        </p:nvSpPr>
        <p:spPr>
          <a:xfrm>
            <a:off x="1656650" y="4860300"/>
            <a:ext cx="38250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Lector dr. Daniela Dumulescu</a:t>
            </a:r>
            <a:endParaRPr sz="20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/>
          <p:nvPr/>
        </p:nvSpPr>
        <p:spPr>
          <a:xfrm>
            <a:off x="822325" y="1981200"/>
            <a:ext cx="7467600" cy="3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ce ne ajută?</a:t>
            </a:r>
            <a:endParaRPr/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ce vă duce cu gândul?</a:t>
            </a:r>
            <a:endParaRPr/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ce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importantă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 tipuri de comunicare cunoașteți</a:t>
            </a:r>
            <a:endParaRPr/>
          </a:p>
        </p:txBody>
      </p:sp>
      <p:sp>
        <p:nvSpPr>
          <p:cNvPr id="120" name="Google Shape;120;p2"/>
          <p:cNvSpPr txBox="1"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Comunicarea</a:t>
            </a:r>
            <a:endParaRPr b="1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/>
        </p:nvSpPr>
        <p:spPr>
          <a:xfrm>
            <a:off x="822325" y="1981200"/>
            <a:ext cx="7467600" cy="3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Exprimăm nevoile;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Rezolvăm conflicte;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Socializăm cu ceilalți;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Înțelegem lumea din jurul nostru;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Limbajul = organizarea gândurilor (intern).</a:t>
            </a: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Comunicarea</a:t>
            </a:r>
            <a:endParaRPr b="1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/>
        </p:nvSpPr>
        <p:spPr>
          <a:xfrm>
            <a:off x="822325" y="1981200"/>
            <a:ext cx="7467600" cy="212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trei feluri:</a:t>
            </a:r>
            <a:endParaRPr/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verbală;</a:t>
            </a:r>
            <a:endParaRPr/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non-verbală;</a:t>
            </a:r>
            <a:endParaRPr/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paraverbală.</a:t>
            </a:r>
            <a:endParaRPr/>
          </a:p>
        </p:txBody>
      </p:sp>
      <p:sp>
        <p:nvSpPr>
          <p:cNvPr id="134" name="Google Shape;134;p4"/>
          <p:cNvSpPr txBox="1"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Comunicarea</a:t>
            </a:r>
            <a:endParaRPr b="1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4125" y="1736725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/>
        </p:nvSpPr>
        <p:spPr>
          <a:xfrm>
            <a:off x="806223" y="1298802"/>
            <a:ext cx="7696200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Mesaje</a:t>
            </a:r>
            <a:r>
              <a:rPr lang="en-US"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transmise</a:t>
            </a:r>
            <a:r>
              <a:rPr lang="en-US"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de la o </a:t>
            </a:r>
            <a:r>
              <a:rPr lang="en-US" sz="24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persoană</a:t>
            </a:r>
            <a:r>
              <a:rPr lang="en-US"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4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r>
              <a:rPr lang="en-US"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alte</a:t>
            </a:r>
            <a:r>
              <a:rPr lang="en-US"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căi</a:t>
            </a:r>
            <a:r>
              <a:rPr lang="en-US"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decât</a:t>
            </a:r>
            <a:r>
              <a:rPr lang="en-US"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cele</a:t>
            </a:r>
            <a:r>
              <a:rPr lang="en-US"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lingvistice</a:t>
            </a:r>
            <a:r>
              <a:rPr lang="en-US" sz="2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555625" y="2090738"/>
            <a:ext cx="8077200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mesaje corporale;</a:t>
            </a:r>
            <a:endParaRPr/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comunicare spaţială;</a:t>
            </a:r>
            <a:endParaRPr/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paralimbajul (i.e. ton, ritm, volum al vocii).</a:t>
            </a:r>
            <a:endParaRPr/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Comunicarea prin limbaj nonverbal permite:</a:t>
            </a:r>
            <a:endParaRPr/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transmiterea unui mesaj de sine stătător;</a:t>
            </a:r>
            <a:endParaRPr/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accentuarea unui mesaj verbal pe care vrem să îl   transmitem.</a:t>
            </a:r>
            <a:endParaRPr/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>
            <a:spLocks noGrp="1"/>
          </p:cNvSpPr>
          <p:nvPr>
            <p:ph type="title"/>
          </p:nvPr>
        </p:nvSpPr>
        <p:spPr>
          <a:xfrm>
            <a:off x="801914" y="-182108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Comunicarea nonverbală</a:t>
            </a:r>
            <a:endParaRPr b="1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Procesul comunicării</a:t>
            </a:r>
            <a:endParaRPr b="1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4720"/>
          <a:stretch/>
        </p:blipFill>
        <p:spPr>
          <a:xfrm>
            <a:off x="1179513" y="1828800"/>
            <a:ext cx="6784975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Procesul comunicării</a:t>
            </a:r>
            <a:endParaRPr b="1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7" descr="CommunicationsProcess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998650"/>
            <a:ext cx="7426325" cy="316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Comunicarea</a:t>
            </a:r>
            <a:endParaRPr b="1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>
            <a:spLocks noGrp="1"/>
          </p:cNvSpPr>
          <p:nvPr>
            <p:ph type="body" idx="1"/>
          </p:nvPr>
        </p:nvSpPr>
        <p:spPr>
          <a:xfrm>
            <a:off x="381000" y="1981200"/>
            <a:ext cx="8564563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0488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b="1"/>
              <a:t>Abilităţi necesare comunicării</a:t>
            </a:r>
            <a:r>
              <a:rPr lang="en-US"/>
              <a:t>:</a:t>
            </a:r>
            <a:endParaRPr/>
          </a:p>
          <a:p>
            <a:pPr marL="382588" lvl="1" indent="-182563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ascultarea activă;</a:t>
            </a:r>
            <a:endParaRPr/>
          </a:p>
          <a:p>
            <a:pPr marL="382588" lvl="1" indent="-182563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transmiterea asertivă* a mesajului;</a:t>
            </a:r>
            <a:endParaRPr/>
          </a:p>
          <a:p>
            <a:pPr marL="382588" lvl="1" indent="-182563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identificarea surselor de conflict şi utilizarea strategiilor pentru soluţionarea conflictului;</a:t>
            </a:r>
            <a:endParaRPr/>
          </a:p>
          <a:p>
            <a:pPr marL="382588" lvl="1" indent="-182563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utilizarea acestor abilităţi în diferite contexte de comunicare (dialog, comunicare de grup, comunicare directă sau mediată).</a:t>
            </a:r>
            <a:endParaRPr/>
          </a:p>
          <a:p>
            <a:pPr marL="382588" lvl="1" indent="-182563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Asertiv = ? 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/>
        </p:nvSpPr>
        <p:spPr>
          <a:xfrm>
            <a:off x="457200" y="381000"/>
            <a:ext cx="8229600" cy="578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i="0" u="none" strike="noStrike" cap="none" err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Pasivitatea</a:t>
            </a:r>
            <a:endParaRPr lang="en-US" sz="2000" b="1" err="1">
              <a:solidFill>
                <a:srgbClr val="4C661A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Răspunsul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persoane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care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încearcă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să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evite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confruntările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conflictele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îşi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doreşte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toată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lumea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să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fie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mulţumită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fără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ţine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dorinţele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sau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drepturile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 i="0" u="none" strike="noStrike" cap="none" err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Agresivitatea</a:t>
            </a:r>
            <a:endParaRPr err="1"/>
          </a:p>
          <a:p>
            <a:pPr marL="0" marR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Reacţie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comportamentală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care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îl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blamezi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şi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îl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acuzi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celălalt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1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încalci</a:t>
            </a: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regulile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impuse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autorităţi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părinţi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profesori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poliţie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</a:t>
            </a:r>
            <a:r>
              <a:rPr lang="en-US" sz="2000" b="1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eşti</a:t>
            </a: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insensibil</a:t>
            </a: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sentimentele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celorlalţi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nu-</a:t>
            </a:r>
            <a:r>
              <a:rPr lang="en-US" sz="2000" b="1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ţi</a:t>
            </a: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respecţi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colegii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că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mereu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dreptate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rezolvi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problemele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violenţă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că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drepturile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tale sunt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decât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ale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altora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</a:t>
            </a:r>
            <a:endParaRPr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 i="0" u="none" strike="noStrike" cap="none" err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Pasiv-agresiv</a:t>
            </a:r>
            <a:r>
              <a:rPr lang="en-US" sz="2000" b="1" i="0" u="none" strike="noStrike" cap="none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000" b="1" i="0" u="none" strike="noStrike" cap="none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/>
        </p:nvSpPr>
        <p:spPr>
          <a:xfrm>
            <a:off x="228600" y="349250"/>
            <a:ext cx="8382000" cy="95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1" u="none" strike="noStrike" cap="none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Consecinţe sociale </a:t>
            </a:r>
            <a:r>
              <a:rPr lang="en-US" sz="2800" b="1" i="0" u="none" strike="noStrike" cap="none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ale comportamentelor asertive, pasive, agresive</a:t>
            </a:r>
            <a:endParaRPr sz="2800" b="1" i="0" u="none" strike="noStrike" cap="none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10"/>
          <p:cNvGraphicFramePr/>
          <p:nvPr/>
        </p:nvGraphicFramePr>
        <p:xfrm>
          <a:off x="304800" y="1397000"/>
          <a:ext cx="8534400" cy="4816450"/>
        </p:xfrm>
        <a:graphic>
          <a:graphicData uri="http://schemas.openxmlformats.org/drawingml/2006/table">
            <a:tbl>
              <a:tblPr>
                <a:noFill/>
                <a:tableStyleId>{3AF49431-EB99-4B6A-B674-E68F64875DAF}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2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100"/>
                        <a:buFont typeface="Noto Sans Symbols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Asertiv</a:t>
                      </a:r>
                      <a:endParaRPr sz="2800" b="1" i="0" u="none" strike="noStrike" cap="none">
                        <a:solidFill>
                          <a:srgbClr val="739A2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100"/>
                        <a:buFont typeface="Noto Sans Symbols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Agresiv</a:t>
                      </a:r>
                      <a:endParaRPr sz="28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100"/>
                        <a:buFont typeface="Noto Sans Symbols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Pasiv</a:t>
                      </a:r>
                      <a:endParaRPr sz="28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Ceilalți sunt încântați că le iau in considerare dorintele.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Ceilalți nu sunt încântați că nu le iau în considerare dorințele.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Ceilalți sunt încântați că le iau în considerare dorințele.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Ceilalți mă privesc cu respect.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Ceilalți mă privesc cu teamă.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Ceilalți nu mă respectă.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Ceilalți sunt motivați să mă trateze în mod similar.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Ceilalți sunt motivați să mă trateze în mod similar.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Ceilalți nu au încredere în sinceritatea mea.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Ceilalți îmi caută  compania.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Ceilalți îmi evită compania.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Ceilalți mă tratează „ca pe un preș”.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/>
        </p:nvSpPr>
        <p:spPr>
          <a:xfrm>
            <a:off x="228600" y="273050"/>
            <a:ext cx="8610600" cy="95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1" u="none" strike="noStrike" cap="none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Consecinţe de rationament </a:t>
            </a:r>
            <a:r>
              <a:rPr lang="en-US" sz="2800" b="1" i="0" u="none" strike="noStrike" cap="none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ale comportamentelor asertive, pasive, agresive</a:t>
            </a:r>
            <a:endParaRPr sz="2800" b="1" i="0" u="none" strike="noStrike" cap="none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11"/>
          <p:cNvGraphicFramePr/>
          <p:nvPr>
            <p:extLst>
              <p:ext uri="{D42A27DB-BD31-4B8C-83A1-F6EECF244321}">
                <p14:modId xmlns:p14="http://schemas.microsoft.com/office/powerpoint/2010/main" val="257069139"/>
              </p:ext>
            </p:extLst>
          </p:nvPr>
        </p:nvGraphicFramePr>
        <p:xfrm>
          <a:off x="152400" y="1208088"/>
          <a:ext cx="8763000" cy="5672150"/>
        </p:xfrm>
        <a:graphic>
          <a:graphicData uri="http://schemas.openxmlformats.org/drawingml/2006/table">
            <a:tbl>
              <a:tblPr>
                <a:noFill/>
                <a:tableStyleId>{3AF49431-EB99-4B6A-B674-E68F64875DAF}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1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Asertiv</a:t>
                      </a:r>
                      <a:endParaRPr sz="2400" b="1" i="0" u="none" strike="noStrike" cap="none" err="1">
                        <a:solidFill>
                          <a:srgbClr val="739A2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1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Agresiv</a:t>
                      </a:r>
                      <a:endParaRPr sz="2400" b="1" i="0" u="none" strike="noStrike" cap="none" err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1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Pasiv</a:t>
                      </a:r>
                      <a:endParaRPr err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Mă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aștept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lumea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fie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prietenoasa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aștept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lumea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fie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ostilă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și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dezinteresată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aștept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lumea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fie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ostilă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și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dezinteresată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Mă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aștept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altii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fie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atenti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la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nevoile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mele.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aștept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alții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profite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mine.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aștept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alții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nu fie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atenți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la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nevoile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mele.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Mă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aștept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nevoile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mele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să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îndeplinească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aștept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nevoile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mele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îndeplinească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aștept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nevoile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mele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îndeplinească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5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Consider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că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am control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asupra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mediului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meu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înconjurator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Consider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trebuie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controlez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mediul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meu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înconjurător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Consider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alții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controlează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mediul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meu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înconjurător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Mă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aștept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să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îmi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îndeplinesc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scopurile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și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idealurile</a:t>
                      </a: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aștept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îmi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îndeplinesc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scopurile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și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idealurile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aștept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să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îmi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îndeplinesc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scopurile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și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i="0" u="none" strike="noStrike" cap="none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idealurile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/>
        </p:nvSpPr>
        <p:spPr>
          <a:xfrm>
            <a:off x="228600" y="273050"/>
            <a:ext cx="8610600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u="none" strike="noStrike" cap="none">
                <a:solidFill>
                  <a:srgbClr val="455F51"/>
                </a:solidFill>
                <a:latin typeface="Calibri"/>
                <a:ea typeface="Calibri"/>
                <a:cs typeface="Calibri"/>
                <a:sym typeface="Calibri"/>
              </a:rPr>
              <a:t>Consecinţe emotionale si comportamentale </a:t>
            </a:r>
            <a:r>
              <a:rPr lang="en-US" sz="2400" b="1" i="0" u="none" strike="noStrike" cap="none">
                <a:solidFill>
                  <a:srgbClr val="455F51"/>
                </a:solidFill>
                <a:latin typeface="Calibri"/>
                <a:ea typeface="Calibri"/>
                <a:cs typeface="Calibri"/>
                <a:sym typeface="Calibri"/>
              </a:rPr>
              <a:t>ale comportamentelor asertive, pasive, agresive</a:t>
            </a:r>
            <a:endParaRPr sz="2400" b="1" i="0" u="none" strike="noStrike" cap="none">
              <a:solidFill>
                <a:srgbClr val="455F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12"/>
          <p:cNvGraphicFramePr/>
          <p:nvPr/>
        </p:nvGraphicFramePr>
        <p:xfrm>
          <a:off x="304800" y="1447800"/>
          <a:ext cx="8534400" cy="4826000"/>
        </p:xfrm>
        <a:graphic>
          <a:graphicData uri="http://schemas.openxmlformats.org/drawingml/2006/table">
            <a:tbl>
              <a:tblPr>
                <a:noFill/>
                <a:tableStyleId>{3AF49431-EB99-4B6A-B674-E68F64875DAF}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28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1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Consecinte emotionale</a:t>
                      </a:r>
                      <a:endParaRPr sz="28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Asertiv</a:t>
                      </a:r>
                      <a:endParaRPr sz="2000" b="1" i="0" u="none" strike="noStrike" cap="none">
                        <a:solidFill>
                          <a:srgbClr val="739A2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Agresiv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Pasiv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Bucurie</a:t>
                      </a:r>
                      <a:endParaRPr sz="2000" b="0" i="0" u="none" strike="noStrike" cap="none">
                        <a:solidFill>
                          <a:srgbClr val="739A2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Furie; teamă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Teamă, tristețe, furie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1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Consecinte comportamentale</a:t>
                      </a:r>
                      <a:endParaRPr sz="2800" b="0" i="0" u="none" strike="noStrike" cap="none">
                        <a:solidFill>
                          <a:srgbClr val="739A2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Asertiv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Agresiv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Pasiv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739A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Abordare pozitivă</a:t>
                      </a:r>
                      <a:endParaRPr sz="2000" b="0" i="0" u="none" strike="noStrike" cap="none">
                        <a:solidFill>
                          <a:srgbClr val="739A2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Abordare negativă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Evitare; episoade de abordare negativă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Comunicarea pasiv-agresivă</a:t>
            </a:r>
            <a:endParaRPr b="1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 txBox="1">
            <a:spLocks noGrp="1"/>
          </p:cNvSpPr>
          <p:nvPr>
            <p:ph type="body" idx="1"/>
          </p:nvPr>
        </p:nvSpPr>
        <p:spPr>
          <a:xfrm>
            <a:off x="381000" y="1981200"/>
            <a:ext cx="8564563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0488" lvl="0" indent="-114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/>
              <a:t>= agresiune non-verbală, care se manifestă în comportament negativ (Harm, 2011);</a:t>
            </a:r>
            <a:endParaRPr/>
          </a:p>
          <a:p>
            <a:pPr marL="90488" lvl="0" indent="-11430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/>
              <a:t>- lipsă de autenticitate, sinceritate și respect față de celălalt;</a:t>
            </a:r>
            <a:endParaRPr/>
          </a:p>
          <a:p>
            <a:pPr marL="90488" lvl="0" indent="-11430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/>
              <a:t>Poate fi de două feluri:</a:t>
            </a:r>
            <a:endParaRPr/>
          </a:p>
          <a:p>
            <a:pPr marL="382588" lvl="1" indent="-182563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</a:pPr>
            <a:r>
              <a:rPr lang="en-US" sz="1600"/>
              <a:t>A. engl. </a:t>
            </a:r>
            <a:r>
              <a:rPr lang="en-US" sz="1600" i="1"/>
              <a:t>covert</a:t>
            </a:r>
            <a:r>
              <a:rPr lang="en-US" sz="1600"/>
              <a:t> (mascată, ascunsă) </a:t>
            </a:r>
            <a:endParaRPr/>
          </a:p>
          <a:p>
            <a:pPr marL="382588" lvl="1" indent="-182563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 sz="1600"/>
              <a:t>B. engl. </a:t>
            </a:r>
            <a:r>
              <a:rPr lang="en-US" sz="1600" i="1"/>
              <a:t>overt</a:t>
            </a:r>
            <a:r>
              <a:rPr lang="en-US" sz="1600"/>
              <a:t> (evidentă, ¸pe față¨)</a:t>
            </a:r>
            <a:endParaRPr/>
          </a:p>
          <a:p>
            <a:pPr marL="90488" lvl="0" indent="-114300" algn="just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 "/>
            </a:pPr>
            <a:r>
              <a:rPr lang="en-US" sz="1800"/>
              <a:t>Distructivă în relații, poate lua forma abuzului emoțional și are un impact semnificativ asupra încrederii în relații.</a:t>
            </a:r>
            <a:endParaRPr/>
          </a:p>
          <a:p>
            <a:pPr marL="90488" lvl="0" indent="-11430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/>
              <a:t>Motivația?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Comunicarea pasiv-agresivă</a:t>
            </a:r>
            <a:endParaRPr b="1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 txBox="1">
            <a:spLocks noGrp="1"/>
          </p:cNvSpPr>
          <p:nvPr>
            <p:ph type="body" idx="1"/>
          </p:nvPr>
        </p:nvSpPr>
        <p:spPr>
          <a:xfrm>
            <a:off x="288925" y="1752600"/>
            <a:ext cx="8564563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0488" lvl="0" indent="-114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/>
              <a:t>În copilărie:</a:t>
            </a:r>
            <a:endParaRPr/>
          </a:p>
          <a:p>
            <a:pPr marL="90488" lvl="0" indent="-11430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/>
              <a:t> – modele familiale de rezolvare a conflictului și exprimare personală;</a:t>
            </a:r>
            <a:endParaRPr/>
          </a:p>
          <a:p>
            <a:pPr marL="90488" lvl="0" indent="-11430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/>
              <a:t>- pedepsirea sau ridiculizarea emoțiilor și nevoilor copilului (</a:t>
            </a:r>
            <a:r>
              <a:rPr lang="en-US" sz="1800" i="1"/>
              <a:t>Dapoi ce, nu-mi zice că-ți place ceaiul? Cine bea ceai?; Nu mă supăra!; Nu mă face de rușine!; Să îți fie rușine, vezi ce m-ai făcut să fac?</a:t>
            </a:r>
            <a:r>
              <a:rPr lang="en-US" sz="1800"/>
              <a:t>)</a:t>
            </a:r>
            <a:endParaRPr/>
          </a:p>
          <a:p>
            <a:pPr marL="90488" lvl="0" indent="-11430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/>
              <a:t>- Receptorul: se simte confuz, rănit, vinovat, supărat și frustrat;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1800"/>
              <a:t> - Emițătorul blochează calea spre soluționarea conflictului, îl menține și amplifică, fără să și-l asume;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1800"/>
              <a:t>Consecințe: Se creează</a:t>
            </a:r>
            <a:r>
              <a:rPr lang="en-US" sz="1800" b="1"/>
              <a:t> resentimente </a:t>
            </a:r>
            <a:r>
              <a:rPr lang="en-US" sz="1800"/>
              <a:t>care se adâncesc în timp.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 txBox="1"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661A"/>
                </a:solidFill>
              </a:rPr>
              <a:t>Comunicare eficientă – responsabilitatea mutuală</a:t>
            </a:r>
            <a:endParaRPr b="1">
              <a:solidFill>
                <a:srgbClr val="4C661A"/>
              </a:solidFill>
            </a:endParaRPr>
          </a:p>
        </p:txBody>
      </p:sp>
      <p:pic>
        <p:nvPicPr>
          <p:cNvPr id="211" name="Google Shape;211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19338" y="2209800"/>
            <a:ext cx="4549775" cy="371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/>
        </p:nvSpPr>
        <p:spPr>
          <a:xfrm>
            <a:off x="304800" y="889000"/>
            <a:ext cx="8305800" cy="507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Abilitatea de a ne exprima emoţiile şi convingerile fără a afecta şi ataca drepturile celorlalţi.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Principii de dezvoltare a comunicării asertive:</a:t>
            </a:r>
            <a:endParaRPr/>
          </a:p>
          <a:p>
            <a:pPr marL="0" marR="0" lvl="0" indent="-1524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spune NU atunci când este încălcat un drept sau o valoare personală;</a:t>
            </a:r>
            <a:endParaRPr/>
          </a:p>
          <a:p>
            <a:pPr marL="0" marR="0" lvl="0" indent="-1524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exprimă-ţi opiniile personale specific şi clar – evită formulările generale.</a:t>
            </a:r>
            <a:endParaRPr/>
          </a:p>
          <a:p>
            <a:pPr marL="0" marR="0" lvl="0" indent="-1524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schimbă discuţia sau evită persoana atunci când nu poţi comunica asertiv.</a:t>
            </a:r>
            <a:endParaRPr/>
          </a:p>
          <a:p>
            <a:pPr marL="0" marR="0" lvl="0" indent="-1524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scoate în evidenţă consecinţele negative ale  comportamentului altei persoane asupra ta.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457200" y="304800"/>
            <a:ext cx="62484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Comunicarea asertivă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Comunicarea</a:t>
            </a:r>
            <a:endParaRPr b="1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>
            <a:spLocks noGrp="1"/>
          </p:cNvSpPr>
          <p:nvPr>
            <p:ph type="body" idx="1"/>
          </p:nvPr>
        </p:nvSpPr>
        <p:spPr>
          <a:xfrm>
            <a:off x="381000" y="1981200"/>
            <a:ext cx="8564563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0488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b="1"/>
              <a:t>Asertivitate:</a:t>
            </a:r>
            <a:endParaRPr/>
          </a:p>
          <a:p>
            <a:pPr marL="90488" lvl="0" indent="-12700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Exprimarea ideilor și a sentimentelor pozitive și negative într-o manieră deschisă;</a:t>
            </a:r>
            <a:endParaRPr/>
          </a:p>
          <a:p>
            <a:pPr marL="90488" lvl="0" indent="-12700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Directă;</a:t>
            </a:r>
            <a:endParaRPr/>
          </a:p>
          <a:p>
            <a:pPr marL="90488" lvl="0" indent="-12700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Recunoașterea și afirmarea drepturilor </a:t>
            </a:r>
            <a:r>
              <a:rPr lang="en-US" b="1"/>
              <a:t>personale</a:t>
            </a:r>
            <a:r>
              <a:rPr lang="en-US"/>
              <a:t> și </a:t>
            </a:r>
            <a:r>
              <a:rPr lang="en-US" b="1"/>
              <a:t>ale celuilalt</a:t>
            </a:r>
            <a:r>
              <a:rPr lang="en-US"/>
              <a:t>;</a:t>
            </a:r>
            <a:endParaRPr/>
          </a:p>
          <a:p>
            <a:pPr marL="90488" lvl="0" indent="-12700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Asumarea responsabilității acțiunilor personale </a:t>
            </a:r>
            <a:r>
              <a:rPr lang="en-US" b="1"/>
              <a:t>fără</a:t>
            </a:r>
            <a:r>
              <a:rPr lang="en-US"/>
              <a:t> judecată și blamare.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 txBox="1">
            <a:spLocks noGrp="1"/>
          </p:cNvSpPr>
          <p:nvPr>
            <p:ph type="ctrTitle"/>
          </p:nvPr>
        </p:nvSpPr>
        <p:spPr>
          <a:xfrm>
            <a:off x="381000" y="152400"/>
            <a:ext cx="80772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4C661A"/>
                </a:solidFill>
                <a:latin typeface="Calibri"/>
                <a:ea typeface="Calibri"/>
                <a:cs typeface="Calibri"/>
                <a:sym typeface="Calibri"/>
              </a:rPr>
              <a:t>Abilităţile de comunicare</a:t>
            </a:r>
            <a:endParaRPr sz="4400" b="1">
              <a:solidFill>
                <a:srgbClr val="4C66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371600"/>
            <a:ext cx="86868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46756b08d_0_111"/>
          <p:cNvSpPr txBox="1">
            <a:spLocks noGrp="1"/>
          </p:cNvSpPr>
          <p:nvPr>
            <p:ph type="title"/>
          </p:nvPr>
        </p:nvSpPr>
        <p:spPr>
          <a:xfrm>
            <a:off x="533400" y="2286000"/>
            <a:ext cx="4876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ckwell"/>
              <a:buNone/>
            </a:pPr>
            <a:r>
              <a:rPr lang="en-US" sz="6000">
                <a:solidFill>
                  <a:schemeClr val="lt1"/>
                </a:solidFill>
              </a:rPr>
              <a:t>CONFLICTUL</a:t>
            </a:r>
            <a:br>
              <a:rPr lang="en-US" sz="6000">
                <a:solidFill>
                  <a:schemeClr val="lt1"/>
                </a:solidFill>
              </a:rPr>
            </a:br>
            <a:endParaRPr sz="6000">
              <a:solidFill>
                <a:schemeClr val="lt1"/>
              </a:solidFill>
            </a:endParaRPr>
          </a:p>
        </p:txBody>
      </p:sp>
      <p:pic>
        <p:nvPicPr>
          <p:cNvPr id="239" name="Google Shape;239;g2a46756b08d_0_111" descr="Conflic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4114800"/>
            <a:ext cx="8229599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2a46756b08d_0_111" descr="Managing Conflict - two business people argui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551543"/>
            <a:ext cx="3505200" cy="3421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46756b08d_0_218"/>
          <p:cNvSpPr txBox="1">
            <a:spLocks noGrp="1"/>
          </p:cNvSpPr>
          <p:nvPr>
            <p:ph type="body" idx="1"/>
          </p:nvPr>
        </p:nvSpPr>
        <p:spPr>
          <a:xfrm>
            <a:off x="457200" y="822325"/>
            <a:ext cx="8229600" cy="52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82880" lvl="0" indent="-1699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Char char=" 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Parte </a:t>
            </a: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firească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 a procesului de comunicare.</a:t>
            </a:r>
            <a:endParaRPr/>
          </a:p>
          <a:p>
            <a:pPr marL="182880" lvl="0" indent="-169925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85000"/>
              <a:buChar char=" "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Situaţii conflictuale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457200" lvl="1" indent="-169925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85000"/>
              <a:buChar char="◦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 Două sau mai multe persoane au interese diferite într-o situaţie.</a:t>
            </a:r>
            <a:endParaRPr/>
          </a:p>
          <a:p>
            <a:pPr marL="457200" lvl="1" indent="-169925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85000"/>
              <a:buChar char="◦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 Aceste interese sunt contradictorii şi împiedică procesul de comunicare adecvată între acele persoane.</a:t>
            </a:r>
            <a:endParaRPr/>
          </a:p>
          <a:p>
            <a:pPr marL="182880" lvl="0" indent="-18288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Noto Sans Symbols"/>
              <a:buNone/>
            </a:pP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a46756b08d_0_223"/>
          <p:cNvSpPr txBox="1">
            <a:spLocks noGrp="1"/>
          </p:cNvSpPr>
          <p:nvPr>
            <p:ph type="title"/>
          </p:nvPr>
        </p:nvSpPr>
        <p:spPr>
          <a:xfrm>
            <a:off x="822325" y="287338"/>
            <a:ext cx="7543800" cy="14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 Black"/>
              <a:buNone/>
            </a:pPr>
            <a:r>
              <a:rPr lang="en-US" sz="4000">
                <a:latin typeface="Arial Black"/>
                <a:ea typeface="Arial Black"/>
                <a:cs typeface="Arial Black"/>
                <a:sym typeface="Arial Black"/>
              </a:rPr>
              <a:t>EFECTE POZITIVE ALE CONFLICTULUI:</a:t>
            </a:r>
            <a:endParaRPr sz="40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3" name="Google Shape;253;g2a46756b08d_0_223"/>
          <p:cNvSpPr txBox="1">
            <a:spLocks noGrp="1"/>
          </p:cNvSpPr>
          <p:nvPr>
            <p:ph type="body" idx="1"/>
          </p:nvPr>
        </p:nvSpPr>
        <p:spPr>
          <a:xfrm>
            <a:off x="822325" y="1846263"/>
            <a:ext cx="7543800" cy="40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82880" lvl="0" indent="-18288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 "/>
            </a:pPr>
            <a:r>
              <a:rPr lang="en-US" err="1">
                <a:latin typeface="Arial"/>
                <a:ea typeface="Arial"/>
                <a:cs typeface="Arial"/>
                <a:sym typeface="Arial"/>
              </a:rPr>
              <a:t>creşte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motivaţia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schimbare</a:t>
            </a:r>
            <a:endParaRPr err="1"/>
          </a:p>
          <a:p>
            <a:pPr marL="182880" lvl="0" indent="-18288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 "/>
            </a:pPr>
            <a:r>
              <a:rPr lang="en-US" err="1">
                <a:latin typeface="Arial"/>
                <a:ea typeface="Arial"/>
                <a:cs typeface="Arial"/>
                <a:sym typeface="Arial"/>
              </a:rPr>
              <a:t>îmbunătăţeşte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identificarea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problemei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şi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soluţiilor</a:t>
            </a:r>
            <a:endParaRPr err="1"/>
          </a:p>
          <a:p>
            <a:pPr marL="182880" indent="-182880" algn="just">
              <a:lnSpc>
                <a:spcPct val="150000"/>
              </a:lnSpc>
              <a:buSzPts val="1700"/>
            </a:pPr>
            <a:r>
              <a:rPr lang="en-US" err="1">
                <a:latin typeface="Arial"/>
                <a:ea typeface="Arial"/>
                <a:cs typeface="Arial"/>
                <a:sym typeface="Arial"/>
              </a:rPr>
              <a:t>creşte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coeziunea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unui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grup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după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soluţionarea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comună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conflictului</a:t>
            </a:r>
            <a:endParaRPr err="1"/>
          </a:p>
          <a:p>
            <a:pPr marL="182880" lvl="0" indent="-18288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 "/>
            </a:pPr>
            <a:r>
              <a:rPr lang="en-US" err="1">
                <a:latin typeface="Arial"/>
                <a:ea typeface="Arial"/>
                <a:cs typeface="Arial"/>
                <a:sym typeface="Arial"/>
              </a:rPr>
              <a:t>creşte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capacitatea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adaptare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realitate</a:t>
            </a:r>
            <a:endParaRPr err="1"/>
          </a:p>
          <a:p>
            <a:pPr marL="182880" lvl="0" indent="-18288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 "/>
            </a:pPr>
            <a:r>
              <a:rPr lang="en-US" err="1">
                <a:latin typeface="Arial"/>
                <a:ea typeface="Arial"/>
                <a:cs typeface="Arial"/>
                <a:sym typeface="Arial"/>
              </a:rPr>
              <a:t>oportunitate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dezvoltarea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deprinderilor</a:t>
            </a:r>
            <a:endParaRPr err="1"/>
          </a:p>
          <a:p>
            <a:pPr marL="182880" lvl="0" indent="-182880" algn="just" rtl="0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ts val="1700"/>
              <a:buChar char=" "/>
            </a:pPr>
            <a:r>
              <a:rPr lang="en-US" err="1">
                <a:latin typeface="Arial"/>
                <a:ea typeface="Arial"/>
                <a:cs typeface="Arial"/>
                <a:sym typeface="Arial"/>
              </a:rPr>
              <a:t>dezvoltă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latin typeface="Arial"/>
                <a:ea typeface="Arial"/>
                <a:cs typeface="Arial"/>
                <a:sym typeface="Arial"/>
              </a:rPr>
              <a:t>creativitatea</a:t>
            </a:r>
            <a:endParaRPr err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a46756b08d_0_229"/>
          <p:cNvSpPr txBox="1">
            <a:spLocks noGrp="1"/>
          </p:cNvSpPr>
          <p:nvPr>
            <p:ph type="title"/>
          </p:nvPr>
        </p:nvSpPr>
        <p:spPr>
          <a:xfrm>
            <a:off x="822325" y="287338"/>
            <a:ext cx="7543800" cy="14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 Black"/>
              <a:buNone/>
            </a:pPr>
            <a:r>
              <a:rPr lang="en-US" sz="4000">
                <a:latin typeface="Arial Black"/>
                <a:ea typeface="Arial Black"/>
                <a:cs typeface="Arial Black"/>
                <a:sym typeface="Arial Black"/>
              </a:rPr>
              <a:t>EFECTE NEGATIVE ALE CONFLICTULUI:</a:t>
            </a:r>
            <a:endParaRPr sz="40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0" name="Google Shape;260;g2a46756b08d_0_229"/>
          <p:cNvSpPr txBox="1">
            <a:spLocks noGrp="1"/>
          </p:cNvSpPr>
          <p:nvPr>
            <p:ph type="body" idx="1"/>
          </p:nvPr>
        </p:nvSpPr>
        <p:spPr>
          <a:xfrm>
            <a:off x="457200" y="1646238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 "/>
            </a:pPr>
            <a:r>
              <a:rPr lang="en-US" sz="2000"/>
              <a:t>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reduce implicarea în activitate</a:t>
            </a:r>
            <a:endParaRPr/>
          </a:p>
          <a:p>
            <a:pPr marL="182880" lvl="0" indent="-18288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380"/>
              <a:buChar char=" 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 reduce sentimentul încrederii în sine</a:t>
            </a:r>
            <a:endParaRPr/>
          </a:p>
          <a:p>
            <a:pPr marL="182880" lvl="0" indent="-18288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380"/>
              <a:buChar char=" 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 polarizează poziţiile şi se formează coaliţii</a:t>
            </a:r>
            <a:endParaRPr/>
          </a:p>
          <a:p>
            <a:pPr marL="182880" lvl="0" indent="-18288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380"/>
              <a:buChar char=" 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 dileme morale</a:t>
            </a:r>
            <a:endParaRPr/>
          </a:p>
          <a:p>
            <a:pPr marL="182880" lvl="0" indent="-182880" algn="l" rtl="0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ts val="2380"/>
              <a:buChar char=" 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 dificultăţi în luarea deciziilor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a46756b08d_0_235"/>
          <p:cNvSpPr txBox="1">
            <a:spLocks noGrp="1"/>
          </p:cNvSpPr>
          <p:nvPr>
            <p:ph type="title"/>
          </p:nvPr>
        </p:nvSpPr>
        <p:spPr>
          <a:xfrm>
            <a:off x="381000" y="457200"/>
            <a:ext cx="85344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 Black"/>
              <a:buNone/>
            </a:pPr>
            <a:br>
              <a:rPr lang="en-US" sz="40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555">
                <a:latin typeface="Arial"/>
                <a:ea typeface="Arial"/>
                <a:cs typeface="Arial"/>
                <a:sym typeface="Arial"/>
              </a:rPr>
              <a:t>OBSTACOLE ÎN PROCESUL REZOLVĂRII CONFLICTULUI</a:t>
            </a:r>
            <a:endParaRPr sz="355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2a46756b08d_0_235"/>
          <p:cNvSpPr txBox="1">
            <a:spLocks noGrp="1"/>
          </p:cNvSpPr>
          <p:nvPr>
            <p:ph type="body" idx="1"/>
          </p:nvPr>
        </p:nvSpPr>
        <p:spPr>
          <a:xfrm>
            <a:off x="533400" y="1981200"/>
            <a:ext cx="8229600" cy="42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 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Tendinţa naturală de a explica mai întâi punctul nostru de vedere</a:t>
            </a:r>
            <a:endParaRPr/>
          </a:p>
          <a:p>
            <a:pPr marL="182880" lvl="0" indent="-18288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40"/>
              <a:buChar char=" 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Ineficienţa noastră ca şi ascultători</a:t>
            </a:r>
            <a:endParaRPr/>
          </a:p>
          <a:p>
            <a:pPr marL="182880" lvl="0" indent="-18288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40"/>
              <a:buChar char=" 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Teama că lucrurile nu vor ieşi aşa cum ne dorim</a:t>
            </a:r>
            <a:endParaRPr/>
          </a:p>
          <a:p>
            <a:pPr marL="182880" lvl="0" indent="-182880" algn="l" rtl="0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ts val="2040"/>
              <a:buChar char=" 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Presupoziţia că noi vom pierde iar celălalt va câştiga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a46756b08d_0_241"/>
          <p:cNvSpPr txBox="1">
            <a:spLocks noGrp="1"/>
          </p:cNvSpPr>
          <p:nvPr>
            <p:ph type="title"/>
          </p:nvPr>
        </p:nvSpPr>
        <p:spPr>
          <a:xfrm>
            <a:off x="822325" y="287338"/>
            <a:ext cx="7543800" cy="1449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200"/>
              <a:buFont typeface="Arial Black"/>
              <a:buNone/>
            </a:pPr>
            <a:r>
              <a:rPr lang="en-US" sz="3300">
                <a:solidFill>
                  <a:schemeClr val="dk1"/>
                </a:solidFill>
              </a:rPr>
              <a:t>METODE DE ABORDARE A CONFLICTELOR</a:t>
            </a:r>
            <a:endParaRPr sz="3300">
              <a:solidFill>
                <a:schemeClr val="dk1"/>
              </a:solidFill>
            </a:endParaRPr>
          </a:p>
        </p:txBody>
      </p:sp>
      <p:sp>
        <p:nvSpPr>
          <p:cNvPr id="274" name="Google Shape;274;g2a46756b08d_0_241"/>
          <p:cNvSpPr txBox="1">
            <a:spLocks noGrp="1"/>
          </p:cNvSpPr>
          <p:nvPr>
            <p:ph type="body" idx="1"/>
          </p:nvPr>
        </p:nvSpPr>
        <p:spPr>
          <a:xfrm>
            <a:off x="457200" y="2438400"/>
            <a:ext cx="8229600" cy="3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09600" lvl="0" indent="-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 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Metoda câştig – pierdere: una din părţi primeşte ceea ce a cerut a fi rezolvat, iar partea cealaltă pierde (ex. competiţii)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Noto Sans Symbols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 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Metoda pierdere – pierdere (ex. compromis, războaie)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Noto Sans Symbols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ts val="1700"/>
              <a:buChar char=" 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Metoda câştig – câştig: cererile tuturor părţilor sunt satisfăcute (ex. negociere)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a46756b08d_0_247"/>
          <p:cNvSpPr txBox="1">
            <a:spLocks noGrp="1"/>
          </p:cNvSpPr>
          <p:nvPr>
            <p:ph type="title"/>
          </p:nvPr>
        </p:nvSpPr>
        <p:spPr>
          <a:xfrm>
            <a:off x="381000" y="533400"/>
            <a:ext cx="85344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 Black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STRATEGIILE CELE MAI FRECVENTE PENTRU A OBŢINE SOLUŢIA OPTIMĂ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2a46756b08d_0_247"/>
          <p:cNvSpPr txBox="1">
            <a:spLocks noGrp="1"/>
          </p:cNvSpPr>
          <p:nvPr>
            <p:ph type="body" idx="1"/>
          </p:nvPr>
        </p:nvSpPr>
        <p:spPr>
          <a:xfrm>
            <a:off x="457200" y="1874838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10000"/>
          </a:bodyPr>
          <a:lstStyle/>
          <a:p>
            <a:pPr marL="609600" lvl="0" indent="-609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 typeface="Arial"/>
              <a:buAutoNum type="arabicPeriod"/>
            </a:pPr>
            <a:r>
              <a:rPr lang="en-US" sz="2000" b="1" i="1">
                <a:latin typeface="Arial"/>
                <a:ea typeface="Arial"/>
                <a:cs typeface="Arial"/>
                <a:sym typeface="Arial"/>
              </a:rPr>
              <a:t>Renunţarea</a:t>
            </a:r>
            <a:endParaRPr/>
          </a:p>
          <a:p>
            <a:pPr marL="990600" lvl="1" indent="-533399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Oboseală, ameninţare fizică, situaţii lipsite de importanţă</a:t>
            </a:r>
            <a:endParaRPr/>
          </a:p>
          <a:p>
            <a:pPr marL="990600" lvl="1" indent="-533399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Soluţie permanentă, discuţia nu este reluată</a:t>
            </a:r>
            <a:endParaRPr/>
          </a:p>
          <a:p>
            <a:pPr marL="609600" lvl="0" indent="-6096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Arial"/>
              <a:buAutoNum type="arabicPeriod"/>
            </a:pPr>
            <a:r>
              <a:rPr lang="en-US" sz="2000" b="1" i="1">
                <a:latin typeface="Arial"/>
                <a:ea typeface="Arial"/>
                <a:cs typeface="Arial"/>
                <a:sym typeface="Arial"/>
              </a:rPr>
              <a:t>Evitarea</a:t>
            </a:r>
            <a:endParaRPr/>
          </a:p>
          <a:p>
            <a:pPr marL="990600" lvl="1" indent="-533399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Timp pentru calmare sau pregătire, nu avem nimic de câştigat din situaţia respectivă</a:t>
            </a:r>
            <a:endParaRPr/>
          </a:p>
          <a:p>
            <a:pPr marL="990600" lvl="1" indent="-533399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!Folosirea frecventă denotă dezinteres</a:t>
            </a:r>
            <a:endParaRPr/>
          </a:p>
          <a:p>
            <a:pPr marL="609600" lvl="0" indent="-6096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Arial"/>
              <a:buAutoNum type="arabicPeriod"/>
            </a:pPr>
            <a:r>
              <a:rPr lang="en-US" sz="2000" b="1" i="1">
                <a:latin typeface="Arial"/>
                <a:ea typeface="Arial"/>
                <a:cs typeface="Arial"/>
                <a:sym typeface="Arial"/>
              </a:rPr>
              <a:t>Dominarea</a:t>
            </a:r>
            <a:endParaRPr/>
          </a:p>
          <a:p>
            <a:pPr marL="990600" lvl="1" indent="-533399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Acţiunea unei persoane care are putere, control sau expertiză</a:t>
            </a:r>
            <a:endParaRPr/>
          </a:p>
          <a:p>
            <a:pPr marL="990600" lvl="1" indent="-533399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Necesară o soluţie rapidă şi nu există alternativă</a:t>
            </a:r>
            <a:endParaRPr/>
          </a:p>
          <a:p>
            <a:pPr marL="609600" lvl="0" indent="-6096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Arial"/>
              <a:buAutoNum type="arabicPeriod"/>
            </a:pPr>
            <a:r>
              <a:rPr lang="en-US" sz="2000" b="1" i="1">
                <a:latin typeface="Arial"/>
                <a:ea typeface="Arial"/>
                <a:cs typeface="Arial"/>
                <a:sym typeface="Arial"/>
              </a:rPr>
              <a:t>Delegarea responsabilităţii</a:t>
            </a:r>
            <a:endParaRPr/>
          </a:p>
          <a:p>
            <a:pPr marL="990600" lvl="1" indent="-533399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Împuternicirea celeilalte persoane, cu rolul de a creşte încrederea între parteneri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a46756b08d_0_25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3820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 Black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STRATEGIILE CELE MAI FRECVENTE PENTRU A OBŢINE SOLUŢIA OPTIMĂ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2a46756b08d_0_253"/>
          <p:cNvSpPr txBox="1">
            <a:spLocks noGrp="1"/>
          </p:cNvSpPr>
          <p:nvPr>
            <p:ph type="body" idx="1"/>
          </p:nvPr>
        </p:nvSpPr>
        <p:spPr>
          <a:xfrm>
            <a:off x="533400" y="14478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609600" lvl="0" indent="-60960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85000"/>
              <a:buFont typeface="Arial"/>
              <a:buAutoNum type="arabicPeriod" startAt="5"/>
            </a:pPr>
            <a:r>
              <a:rPr lang="en-US" b="1" i="1">
                <a:latin typeface="Arial"/>
                <a:ea typeface="Arial"/>
                <a:cs typeface="Arial"/>
                <a:sym typeface="Arial"/>
              </a:rPr>
              <a:t>Apelul la un mediator</a:t>
            </a:r>
            <a:endParaRPr/>
          </a:p>
          <a:p>
            <a:pPr marL="990600" lvl="1" indent="-533400" algn="just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Situaţii încărcate emoţional, unul dintre parteneri nu cooperează, unul dintre parteneri ameninţă cu răzbunarea   </a:t>
            </a:r>
            <a:endParaRPr/>
          </a:p>
          <a:p>
            <a:pPr marL="609600" lvl="0" indent="-609600" algn="just" rtl="0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Arial"/>
              <a:buAutoNum type="arabicPeriod" startAt="5"/>
            </a:pPr>
            <a:r>
              <a:rPr lang="en-US" b="1" i="1">
                <a:latin typeface="Arial"/>
                <a:ea typeface="Arial"/>
                <a:cs typeface="Arial"/>
                <a:sym typeface="Arial"/>
              </a:rPr>
              <a:t>Folosirea umorului</a:t>
            </a:r>
            <a:endParaRPr/>
          </a:p>
          <a:p>
            <a:pPr marL="990600" lvl="1" indent="-533400" algn="just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Persoanele implicate sunt pe poziţie de egalitate, conflictul este minor.</a:t>
            </a:r>
            <a:endParaRPr/>
          </a:p>
          <a:p>
            <a:pPr marL="990600" lvl="1" indent="-533400" algn="just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! Folosirea frecventă denotă evitare, distragerea atenţiei de la o problemă serioasă</a:t>
            </a:r>
            <a:endParaRPr/>
          </a:p>
          <a:p>
            <a:pPr marL="609600" lvl="0" indent="-609600" algn="just" rtl="0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Arial"/>
              <a:buAutoNum type="arabicPeriod" startAt="5"/>
            </a:pPr>
            <a:r>
              <a:rPr lang="en-US" b="1" i="1">
                <a:latin typeface="Arial"/>
                <a:ea typeface="Arial"/>
                <a:cs typeface="Arial"/>
                <a:sym typeface="Arial"/>
              </a:rPr>
              <a:t>Compromisul</a:t>
            </a:r>
            <a:endParaRPr/>
          </a:p>
          <a:p>
            <a:pPr marL="990600" lvl="1" indent="-533400" algn="just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Problemă complexă, alte metode au eşuat, raportul de putere între parteneri este egal, ambii parteneri au dreptate dar văd lucrurile diferit. </a:t>
            </a:r>
            <a:endParaRPr/>
          </a:p>
          <a:p>
            <a:pPr marL="609600" lvl="0" indent="-609600" algn="just" rtl="0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Arial"/>
              <a:buAutoNum type="arabicPeriod" startAt="5"/>
            </a:pPr>
            <a:r>
              <a:rPr lang="en-US" b="1" i="1">
                <a:latin typeface="Arial"/>
                <a:ea typeface="Arial"/>
                <a:cs typeface="Arial"/>
                <a:sym typeface="Arial"/>
              </a:rPr>
              <a:t>Integrarea şi colaborarea</a:t>
            </a:r>
            <a:endParaRPr/>
          </a:p>
          <a:p>
            <a:pPr marL="990600" lvl="1" indent="-533400" algn="just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Nici unul nu deţine suficiente informaţii despre problemă, pot reorienta situaţia sub forma unei colaborări.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imbusAndrei_x002d_Bogdan xmlns="cc7b070d-d394-493d-9a09-cc1e593267d1" xsi:nil="true"/>
    <lcf76f155ced4ddcb4097134ff3c332f xmlns="cc7b070d-d394-493d-9a09-cc1e593267d1">
      <Terms xmlns="http://schemas.microsoft.com/office/infopath/2007/PartnerControls"/>
    </lcf76f155ced4ddcb4097134ff3c332f>
    <TaxCatchAll xmlns="3ac242fb-080d-4f49-9e43-19f045e388a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93E1627552344DB5F4D5746A4581E2" ma:contentTypeVersion="13" ma:contentTypeDescription="Create a new document." ma:contentTypeScope="" ma:versionID="527a37ac96f789b86bd371b634579a6e">
  <xsd:schema xmlns:xsd="http://www.w3.org/2001/XMLSchema" xmlns:xs="http://www.w3.org/2001/XMLSchema" xmlns:p="http://schemas.microsoft.com/office/2006/metadata/properties" xmlns:ns2="cc7b070d-d394-493d-9a09-cc1e593267d1" xmlns:ns3="3ac242fb-080d-4f49-9e43-19f045e388a1" targetNamespace="http://schemas.microsoft.com/office/2006/metadata/properties" ma:root="true" ma:fieldsID="eef09661765c92ce95e096880f388901" ns2:_="" ns3:_="">
    <xsd:import namespace="cc7b070d-d394-493d-9a09-cc1e593267d1"/>
    <xsd:import namespace="3ac242fb-080d-4f49-9e43-19f045e388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TimbusAndrei_x002d_Bogda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b070d-d394-493d-9a09-cc1e593267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TimbusAndrei_x002d_Bogdan" ma:index="16" nillable="true" ma:displayName="-" ma:format="Dropdown" ma:internalName="TimbusAndrei_x002d_Bogdan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c242fb-080d-4f49-9e43-19f045e388a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5858c29-326c-4888-8557-21e2b2ff6939}" ma:internalName="TaxCatchAll" ma:showField="CatchAllData" ma:web="3ac242fb-080d-4f49-9e43-19f045e388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ED449E-DEB7-4DA2-94A3-3E898E38928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519BADC-E9BA-4027-A99E-9A7498B763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423CAE-B5B6-431C-BCDA-6B5F49BC4EA4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Expunere pe ecran (4:3)</PresentationFormat>
  <Slides>26</Slides>
  <Notes>26</Notes>
  <HiddenSlides>0</HiddenSlide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26</vt:i4>
      </vt:variant>
    </vt:vector>
  </HeadingPairs>
  <TitlesOfParts>
    <vt:vector size="27" baseType="lpstr">
      <vt:lpstr>Retrospect</vt:lpstr>
      <vt:lpstr>Comunicare și conflict</vt:lpstr>
      <vt:lpstr>Comunicarea</vt:lpstr>
      <vt:lpstr>Comunicarea</vt:lpstr>
      <vt:lpstr>Comunicarea</vt:lpstr>
      <vt:lpstr>Comunicarea nonverbală</vt:lpstr>
      <vt:lpstr>Procesul comunicării</vt:lpstr>
      <vt:lpstr>Procesul comunicării</vt:lpstr>
      <vt:lpstr>Comunicarea</vt:lpstr>
      <vt:lpstr>Prezentare PowerPoint</vt:lpstr>
      <vt:lpstr>Prezentare PowerPoint</vt:lpstr>
      <vt:lpstr>Prezentare PowerPoint</vt:lpstr>
      <vt:lpstr>Prezentare PowerPoint</vt:lpstr>
      <vt:lpstr>Comunicarea pasiv-agresivă</vt:lpstr>
      <vt:lpstr>Comunicarea pasiv-agresivă</vt:lpstr>
      <vt:lpstr>Comunicare eficientă – responsabilitatea mutuală</vt:lpstr>
      <vt:lpstr>Prezentare PowerPoint</vt:lpstr>
      <vt:lpstr>Comunicarea</vt:lpstr>
      <vt:lpstr>Abilităţile de comunicare</vt:lpstr>
      <vt:lpstr>CONFLICTUL </vt:lpstr>
      <vt:lpstr>Prezentare PowerPoint</vt:lpstr>
      <vt:lpstr>EFECTE POZITIVE ALE CONFLICTULUI:</vt:lpstr>
      <vt:lpstr>EFECTE NEGATIVE ALE CONFLICTULUI:</vt:lpstr>
      <vt:lpstr> OBSTACOLE ÎN PROCESUL REZOLVĂRII CONFLICTULUI</vt:lpstr>
      <vt:lpstr>METODE DE ABORDARE A CONFLICTELOR</vt:lpstr>
      <vt:lpstr>STRATEGIILE CELE MAI FRECVENTE PENTRU A OBŢINE SOLUŢIA OPTIMĂ</vt:lpstr>
      <vt:lpstr>STRATEGIILE CELE MAI FRECVENTE PENTRU A OBŢINE SOLUŢIA OPTIMĂ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andrei</dc:creator>
  <cp:revision>2</cp:revision>
  <dcterms:created xsi:type="dcterms:W3CDTF">2008-11-13T11:36:27Z</dcterms:created>
  <dcterms:modified xsi:type="dcterms:W3CDTF">2025-01-31T20:37:19Z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0x010100A993E1627552344DB5F4D5746A4581E2</vt:lpwstr>
  </property>
</Properties>
</file>